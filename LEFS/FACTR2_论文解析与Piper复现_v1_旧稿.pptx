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18288000" cy="10287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e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152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"/>
          <p:cNvSpPr/>
          <p:nvPr/>
        </p:nvSpPr>
        <p:spPr>
          <a:xfrm>
            <a:off x="11811000" y="0"/>
            <a:ext cx="9525" cy="10287000"/>
          </a:xfrm>
          <a:prstGeom prst="rect">
            <a:avLst/>
          </a:prstGeom>
          <a:solidFill>
            <a:srgbClr val="1E3A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"/>
          <p:cNvSpPr/>
          <p:nvPr/>
        </p:nvSpPr>
        <p:spPr>
          <a:xfrm>
            <a:off x="14478000" y="0"/>
            <a:ext cx="9525" cy="10287000"/>
          </a:xfrm>
          <a:prstGeom prst="rect">
            <a:avLst/>
          </a:prstGeom>
          <a:solidFill>
            <a:srgbClr val="1E3A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"/>
          <p:cNvSpPr/>
          <p:nvPr/>
        </p:nvSpPr>
        <p:spPr>
          <a:xfrm>
            <a:off x="17145000" y="0"/>
            <a:ext cx="9525" cy="10287000"/>
          </a:xfrm>
          <a:prstGeom prst="rect">
            <a:avLst/>
          </a:prstGeom>
          <a:solidFill>
            <a:srgbClr val="1E3A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"/>
          <p:cNvSpPr/>
          <p:nvPr/>
        </p:nvSpPr>
        <p:spPr>
          <a:xfrm>
            <a:off x="11811000" y="2857500"/>
            <a:ext cx="6477000" cy="9525"/>
          </a:xfrm>
          <a:prstGeom prst="rect">
            <a:avLst/>
          </a:prstGeom>
          <a:solidFill>
            <a:srgbClr val="1E3A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"/>
          <p:cNvSpPr/>
          <p:nvPr/>
        </p:nvSpPr>
        <p:spPr>
          <a:xfrm>
            <a:off x="11811000" y="6667500"/>
            <a:ext cx="6477000" cy="9525"/>
          </a:xfrm>
          <a:prstGeom prst="rect">
            <a:avLst/>
          </a:prstGeom>
          <a:solidFill>
            <a:srgbClr val="1E3A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Path"/>
          <p:cNvSpPr/>
          <p:nvPr/>
        </p:nvSpPr>
        <p:spPr>
          <a:xfrm>
            <a:off x="11224849" y="4448340"/>
            <a:ext cx="6887338" cy="2424348"/>
          </a:xfrm>
          <a:custGeom>
            <a:avLst/>
            <a:gdLst/>
            <a:ahLst/>
            <a:cxnLst/>
            <a:rect l="0" t="0" r="r" b="b"/>
            <a:pathLst>
              <a:path w="6887338" h="2424348">
                <a:moveTo>
                  <a:pt x="585675" y="2376331"/>
                </a:moveTo>
                <a:lnTo>
                  <a:pt x="14175" y="2395381"/>
                </a:lnTo>
                <a:quadBezTo>
                  <a:pt x="8184" y="2395408"/>
                  <a:pt x="4218" y="2399900"/>
                </a:quadBezTo>
                <a:quadBezTo>
                  <a:pt x="0" y="2404156"/>
                  <a:pt x="372" y="2410136"/>
                </a:quadBezTo>
                <a:quadBezTo>
                  <a:pt x="399" y="2416128"/>
                  <a:pt x="4891" y="2420094"/>
                </a:quadBezTo>
                <a:quadBezTo>
                  <a:pt x="9147" y="2424312"/>
                  <a:pt x="15127" y="2423940"/>
                </a:quadBezTo>
                <a:lnTo>
                  <a:pt x="586627" y="2404890"/>
                </a:lnTo>
                <a:lnTo>
                  <a:pt x="1062972" y="2385836"/>
                </a:lnTo>
                <a:lnTo>
                  <a:pt x="1063540" y="2385814"/>
                </a:lnTo>
                <a:lnTo>
                  <a:pt x="1540354" y="2328596"/>
                </a:lnTo>
                <a:lnTo>
                  <a:pt x="1543385" y="2328232"/>
                </a:lnTo>
                <a:lnTo>
                  <a:pt x="2022252" y="2040912"/>
                </a:lnTo>
                <a:lnTo>
                  <a:pt x="2022884" y="2040533"/>
                </a:lnTo>
                <a:lnTo>
                  <a:pt x="2404474" y="1754340"/>
                </a:lnTo>
                <a:lnTo>
                  <a:pt x="2407813" y="1751836"/>
                </a:lnTo>
                <a:lnTo>
                  <a:pt x="2694912" y="986239"/>
                </a:lnTo>
                <a:lnTo>
                  <a:pt x="2980017" y="320994"/>
                </a:lnTo>
                <a:lnTo>
                  <a:pt x="3156133" y="56821"/>
                </a:lnTo>
                <a:lnTo>
                  <a:pt x="3334921" y="414398"/>
                </a:lnTo>
                <a:lnTo>
                  <a:pt x="3525041" y="1174876"/>
                </a:lnTo>
                <a:lnTo>
                  <a:pt x="3715541" y="1936876"/>
                </a:lnTo>
                <a:lnTo>
                  <a:pt x="3716880" y="1942234"/>
                </a:lnTo>
                <a:lnTo>
                  <a:pt x="4007226" y="2135798"/>
                </a:lnTo>
                <a:lnTo>
                  <a:pt x="4013040" y="2139674"/>
                </a:lnTo>
                <a:lnTo>
                  <a:pt x="4305419" y="2042215"/>
                </a:lnTo>
                <a:lnTo>
                  <a:pt x="4310434" y="2040543"/>
                </a:lnTo>
                <a:lnTo>
                  <a:pt x="4584083" y="1584460"/>
                </a:lnTo>
                <a:lnTo>
                  <a:pt x="4763886" y="2033967"/>
                </a:lnTo>
                <a:lnTo>
                  <a:pt x="4764975" y="2036689"/>
                </a:lnTo>
                <a:lnTo>
                  <a:pt x="4957549" y="2229263"/>
                </a:lnTo>
                <a:lnTo>
                  <a:pt x="4960347" y="2232061"/>
                </a:lnTo>
                <a:lnTo>
                  <a:pt x="5345186" y="2328271"/>
                </a:lnTo>
                <a:lnTo>
                  <a:pt x="5346195" y="2328523"/>
                </a:lnTo>
                <a:lnTo>
                  <a:pt x="5919154" y="2385819"/>
                </a:lnTo>
                <a:lnTo>
                  <a:pt x="6872081" y="2423936"/>
                </a:lnTo>
                <a:quadBezTo>
                  <a:pt x="6878058" y="2424348"/>
                  <a:pt x="6882342" y="2420159"/>
                </a:quadBezTo>
                <a:quadBezTo>
                  <a:pt x="6886860" y="2416223"/>
                  <a:pt x="6886927" y="2410231"/>
                </a:quadBezTo>
                <a:quadBezTo>
                  <a:pt x="6887338" y="2404254"/>
                  <a:pt x="6883150" y="2399969"/>
                </a:quadBezTo>
                <a:quadBezTo>
                  <a:pt x="6879214" y="2395451"/>
                  <a:pt x="6873222" y="2395384"/>
                </a:quadBezTo>
                <a:lnTo>
                  <a:pt x="5921149" y="2357301"/>
                </a:lnTo>
                <a:lnTo>
                  <a:pt x="5351109" y="2300297"/>
                </a:lnTo>
                <a:lnTo>
                  <a:pt x="4974956" y="2206259"/>
                </a:lnTo>
                <a:lnTo>
                  <a:pt x="4789328" y="2020631"/>
                </a:lnTo>
                <a:lnTo>
                  <a:pt x="4589220" y="1520360"/>
                </a:lnTo>
                <a:lnTo>
                  <a:pt x="4574400" y="1545059"/>
                </a:lnTo>
                <a:lnTo>
                  <a:pt x="4291369" y="2016777"/>
                </a:lnTo>
                <a:lnTo>
                  <a:pt x="4017263" y="2108146"/>
                </a:lnTo>
                <a:lnTo>
                  <a:pt x="3741922" y="1924586"/>
                </a:lnTo>
                <a:lnTo>
                  <a:pt x="3552762" y="1167945"/>
                </a:lnTo>
                <a:lnTo>
                  <a:pt x="3361882" y="404424"/>
                </a:lnTo>
                <a:lnTo>
                  <a:pt x="3361181" y="403021"/>
                </a:lnTo>
                <a:lnTo>
                  <a:pt x="3159670" y="0"/>
                </a:lnTo>
                <a:lnTo>
                  <a:pt x="3146013" y="20485"/>
                </a:lnTo>
                <a:lnTo>
                  <a:pt x="2954786" y="307326"/>
                </a:lnTo>
                <a:lnTo>
                  <a:pt x="2954269" y="308532"/>
                </a:lnTo>
                <a:lnTo>
                  <a:pt x="2668389" y="975585"/>
                </a:lnTo>
                <a:lnTo>
                  <a:pt x="2668274" y="975894"/>
                </a:lnTo>
                <a:lnTo>
                  <a:pt x="2383989" y="1733985"/>
                </a:lnTo>
                <a:lnTo>
                  <a:pt x="2006919" y="2016788"/>
                </a:lnTo>
                <a:lnTo>
                  <a:pt x="1533918" y="2300588"/>
                </a:lnTo>
                <a:lnTo>
                  <a:pt x="1061262" y="2357307"/>
                </a:lnTo>
                <a:lnTo>
                  <a:pt x="585675" y="2376331"/>
                </a:lnTo>
                <a:close/>
              </a:path>
            </a:pathLst>
          </a:custGeom>
          <a:solidFill>
            <a:srgbClr val="00C2A8">
              <a:alpha val="7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Path"/>
          <p:cNvSpPr/>
          <p:nvPr/>
        </p:nvSpPr>
        <p:spPr>
          <a:xfrm>
            <a:off x="11239500" y="6472238"/>
            <a:ext cx="6781800" cy="9525"/>
          </a:xfrm>
          <a:custGeom>
            <a:avLst/>
            <a:gdLst/>
            <a:ahLst/>
            <a:cxnLst/>
            <a:rect l="0" t="0" r="r" b="b"/>
            <a:pathLst>
              <a:path w="6781800" h="9525">
                <a:moveTo>
                  <a:pt x="38100" y="0"/>
                </a:moveTo>
                <a:lnTo>
                  <a:pt x="0" y="0"/>
                </a:lnTo>
                <a:lnTo>
                  <a:pt x="0" y="9525"/>
                </a:lnTo>
                <a:lnTo>
                  <a:pt x="38100" y="9525"/>
                </a:lnTo>
                <a:lnTo>
                  <a:pt x="38100" y="0"/>
                </a:lnTo>
                <a:close/>
                <a:moveTo>
                  <a:pt x="152400" y="0"/>
                </a:moveTo>
                <a:lnTo>
                  <a:pt x="114300" y="0"/>
                </a:lnTo>
                <a:lnTo>
                  <a:pt x="114300" y="9525"/>
                </a:lnTo>
                <a:lnTo>
                  <a:pt x="152400" y="9525"/>
                </a:lnTo>
                <a:lnTo>
                  <a:pt x="152400" y="0"/>
                </a:lnTo>
                <a:close/>
                <a:moveTo>
                  <a:pt x="266700" y="0"/>
                </a:moveTo>
                <a:lnTo>
                  <a:pt x="228600" y="0"/>
                </a:lnTo>
                <a:lnTo>
                  <a:pt x="228600" y="9525"/>
                </a:lnTo>
                <a:lnTo>
                  <a:pt x="266700" y="9525"/>
                </a:lnTo>
                <a:lnTo>
                  <a:pt x="266700" y="0"/>
                </a:lnTo>
                <a:close/>
                <a:moveTo>
                  <a:pt x="381000" y="0"/>
                </a:moveTo>
                <a:lnTo>
                  <a:pt x="342900" y="0"/>
                </a:lnTo>
                <a:lnTo>
                  <a:pt x="342900" y="9525"/>
                </a:lnTo>
                <a:lnTo>
                  <a:pt x="381000" y="9525"/>
                </a:lnTo>
                <a:lnTo>
                  <a:pt x="381000" y="0"/>
                </a:lnTo>
                <a:close/>
                <a:moveTo>
                  <a:pt x="495300" y="0"/>
                </a:moveTo>
                <a:lnTo>
                  <a:pt x="457200" y="0"/>
                </a:lnTo>
                <a:lnTo>
                  <a:pt x="457200" y="9525"/>
                </a:lnTo>
                <a:lnTo>
                  <a:pt x="495300" y="9525"/>
                </a:lnTo>
                <a:lnTo>
                  <a:pt x="495300" y="0"/>
                </a:lnTo>
                <a:close/>
                <a:moveTo>
                  <a:pt x="609600" y="0"/>
                </a:moveTo>
                <a:lnTo>
                  <a:pt x="571500" y="0"/>
                </a:lnTo>
                <a:lnTo>
                  <a:pt x="571500" y="9525"/>
                </a:lnTo>
                <a:lnTo>
                  <a:pt x="609600" y="9525"/>
                </a:lnTo>
                <a:lnTo>
                  <a:pt x="609600" y="0"/>
                </a:lnTo>
                <a:close/>
                <a:moveTo>
                  <a:pt x="723900" y="0"/>
                </a:moveTo>
                <a:lnTo>
                  <a:pt x="685800" y="0"/>
                </a:lnTo>
                <a:lnTo>
                  <a:pt x="685800" y="9525"/>
                </a:lnTo>
                <a:lnTo>
                  <a:pt x="723900" y="9525"/>
                </a:lnTo>
                <a:lnTo>
                  <a:pt x="723900" y="0"/>
                </a:lnTo>
                <a:close/>
                <a:moveTo>
                  <a:pt x="838200" y="0"/>
                </a:moveTo>
                <a:lnTo>
                  <a:pt x="800100" y="0"/>
                </a:lnTo>
                <a:lnTo>
                  <a:pt x="800100" y="9525"/>
                </a:lnTo>
                <a:lnTo>
                  <a:pt x="838200" y="9525"/>
                </a:lnTo>
                <a:lnTo>
                  <a:pt x="838200" y="0"/>
                </a:lnTo>
                <a:close/>
                <a:moveTo>
                  <a:pt x="952500" y="0"/>
                </a:moveTo>
                <a:lnTo>
                  <a:pt x="914400" y="0"/>
                </a:lnTo>
                <a:lnTo>
                  <a:pt x="914400" y="9525"/>
                </a:lnTo>
                <a:lnTo>
                  <a:pt x="952500" y="9525"/>
                </a:lnTo>
                <a:lnTo>
                  <a:pt x="952500" y="0"/>
                </a:lnTo>
                <a:close/>
                <a:moveTo>
                  <a:pt x="1066800" y="0"/>
                </a:moveTo>
                <a:lnTo>
                  <a:pt x="1028700" y="0"/>
                </a:lnTo>
                <a:lnTo>
                  <a:pt x="1028700" y="9525"/>
                </a:lnTo>
                <a:lnTo>
                  <a:pt x="1066800" y="9525"/>
                </a:lnTo>
                <a:lnTo>
                  <a:pt x="1066800" y="0"/>
                </a:lnTo>
                <a:close/>
                <a:moveTo>
                  <a:pt x="1181100" y="0"/>
                </a:moveTo>
                <a:lnTo>
                  <a:pt x="1143000" y="0"/>
                </a:lnTo>
                <a:lnTo>
                  <a:pt x="1143000" y="9525"/>
                </a:lnTo>
                <a:lnTo>
                  <a:pt x="1181100" y="9525"/>
                </a:lnTo>
                <a:lnTo>
                  <a:pt x="1181100" y="0"/>
                </a:lnTo>
                <a:close/>
                <a:moveTo>
                  <a:pt x="1295400" y="0"/>
                </a:moveTo>
                <a:lnTo>
                  <a:pt x="1257300" y="0"/>
                </a:lnTo>
                <a:lnTo>
                  <a:pt x="1257300" y="9525"/>
                </a:lnTo>
                <a:lnTo>
                  <a:pt x="1295400" y="9525"/>
                </a:lnTo>
                <a:lnTo>
                  <a:pt x="1295400" y="0"/>
                </a:lnTo>
                <a:close/>
                <a:moveTo>
                  <a:pt x="1409700" y="0"/>
                </a:moveTo>
                <a:lnTo>
                  <a:pt x="1371600" y="0"/>
                </a:lnTo>
                <a:lnTo>
                  <a:pt x="1371600" y="9525"/>
                </a:lnTo>
                <a:lnTo>
                  <a:pt x="1409700" y="9525"/>
                </a:lnTo>
                <a:lnTo>
                  <a:pt x="1409700" y="0"/>
                </a:lnTo>
                <a:close/>
                <a:moveTo>
                  <a:pt x="1524000" y="0"/>
                </a:moveTo>
                <a:lnTo>
                  <a:pt x="1485900" y="0"/>
                </a:lnTo>
                <a:lnTo>
                  <a:pt x="1485900" y="9525"/>
                </a:lnTo>
                <a:lnTo>
                  <a:pt x="1524000" y="9525"/>
                </a:lnTo>
                <a:lnTo>
                  <a:pt x="1524000" y="0"/>
                </a:lnTo>
                <a:close/>
                <a:moveTo>
                  <a:pt x="1638300" y="0"/>
                </a:moveTo>
                <a:lnTo>
                  <a:pt x="1600200" y="0"/>
                </a:lnTo>
                <a:lnTo>
                  <a:pt x="1600200" y="9525"/>
                </a:lnTo>
                <a:lnTo>
                  <a:pt x="1638300" y="9525"/>
                </a:lnTo>
                <a:lnTo>
                  <a:pt x="1638300" y="0"/>
                </a:lnTo>
                <a:close/>
                <a:moveTo>
                  <a:pt x="1752600" y="0"/>
                </a:moveTo>
                <a:lnTo>
                  <a:pt x="1714500" y="0"/>
                </a:lnTo>
                <a:lnTo>
                  <a:pt x="1714500" y="9525"/>
                </a:lnTo>
                <a:lnTo>
                  <a:pt x="1752600" y="9525"/>
                </a:lnTo>
                <a:lnTo>
                  <a:pt x="1752600" y="0"/>
                </a:lnTo>
                <a:close/>
                <a:moveTo>
                  <a:pt x="1866900" y="0"/>
                </a:moveTo>
                <a:lnTo>
                  <a:pt x="1828800" y="0"/>
                </a:lnTo>
                <a:lnTo>
                  <a:pt x="1828800" y="9525"/>
                </a:lnTo>
                <a:lnTo>
                  <a:pt x="1866900" y="9525"/>
                </a:lnTo>
                <a:lnTo>
                  <a:pt x="1866900" y="0"/>
                </a:lnTo>
                <a:close/>
                <a:moveTo>
                  <a:pt x="1981200" y="0"/>
                </a:moveTo>
                <a:lnTo>
                  <a:pt x="1943100" y="0"/>
                </a:lnTo>
                <a:lnTo>
                  <a:pt x="1943100" y="9525"/>
                </a:lnTo>
                <a:lnTo>
                  <a:pt x="1981200" y="9525"/>
                </a:lnTo>
                <a:lnTo>
                  <a:pt x="1981200" y="0"/>
                </a:lnTo>
                <a:close/>
                <a:moveTo>
                  <a:pt x="2095500" y="0"/>
                </a:moveTo>
                <a:lnTo>
                  <a:pt x="2057400" y="0"/>
                </a:lnTo>
                <a:lnTo>
                  <a:pt x="2057400" y="9525"/>
                </a:lnTo>
                <a:lnTo>
                  <a:pt x="2095500" y="9525"/>
                </a:lnTo>
                <a:lnTo>
                  <a:pt x="2095500" y="0"/>
                </a:lnTo>
                <a:close/>
                <a:moveTo>
                  <a:pt x="2209800" y="0"/>
                </a:moveTo>
                <a:lnTo>
                  <a:pt x="2171700" y="0"/>
                </a:lnTo>
                <a:lnTo>
                  <a:pt x="2171700" y="9525"/>
                </a:lnTo>
                <a:lnTo>
                  <a:pt x="2209800" y="9525"/>
                </a:lnTo>
                <a:lnTo>
                  <a:pt x="2209800" y="0"/>
                </a:lnTo>
                <a:close/>
                <a:moveTo>
                  <a:pt x="2324100" y="0"/>
                </a:moveTo>
                <a:lnTo>
                  <a:pt x="2286000" y="0"/>
                </a:lnTo>
                <a:lnTo>
                  <a:pt x="2286000" y="9525"/>
                </a:lnTo>
                <a:lnTo>
                  <a:pt x="2324100" y="9525"/>
                </a:lnTo>
                <a:lnTo>
                  <a:pt x="2324100" y="0"/>
                </a:lnTo>
                <a:close/>
                <a:moveTo>
                  <a:pt x="2438400" y="0"/>
                </a:moveTo>
                <a:lnTo>
                  <a:pt x="2400300" y="0"/>
                </a:lnTo>
                <a:lnTo>
                  <a:pt x="2400300" y="9525"/>
                </a:lnTo>
                <a:lnTo>
                  <a:pt x="2438400" y="9525"/>
                </a:lnTo>
                <a:lnTo>
                  <a:pt x="2438400" y="0"/>
                </a:lnTo>
                <a:close/>
                <a:moveTo>
                  <a:pt x="2552700" y="0"/>
                </a:moveTo>
                <a:lnTo>
                  <a:pt x="2514600" y="0"/>
                </a:lnTo>
                <a:lnTo>
                  <a:pt x="2514600" y="9525"/>
                </a:lnTo>
                <a:lnTo>
                  <a:pt x="2552700" y="9525"/>
                </a:lnTo>
                <a:lnTo>
                  <a:pt x="2552700" y="0"/>
                </a:lnTo>
                <a:close/>
                <a:moveTo>
                  <a:pt x="2667000" y="0"/>
                </a:moveTo>
                <a:lnTo>
                  <a:pt x="2628900" y="0"/>
                </a:lnTo>
                <a:lnTo>
                  <a:pt x="2628900" y="9525"/>
                </a:lnTo>
                <a:lnTo>
                  <a:pt x="2667000" y="9525"/>
                </a:lnTo>
                <a:lnTo>
                  <a:pt x="2667000" y="0"/>
                </a:lnTo>
                <a:close/>
                <a:moveTo>
                  <a:pt x="2781300" y="0"/>
                </a:moveTo>
                <a:lnTo>
                  <a:pt x="2743200" y="0"/>
                </a:lnTo>
                <a:lnTo>
                  <a:pt x="2743200" y="9525"/>
                </a:lnTo>
                <a:lnTo>
                  <a:pt x="2781300" y="9525"/>
                </a:lnTo>
                <a:lnTo>
                  <a:pt x="2781300" y="0"/>
                </a:lnTo>
                <a:close/>
                <a:moveTo>
                  <a:pt x="2895600" y="0"/>
                </a:moveTo>
                <a:lnTo>
                  <a:pt x="2857500" y="0"/>
                </a:lnTo>
                <a:lnTo>
                  <a:pt x="2857500" y="9525"/>
                </a:lnTo>
                <a:lnTo>
                  <a:pt x="2895600" y="9525"/>
                </a:lnTo>
                <a:lnTo>
                  <a:pt x="2895600" y="0"/>
                </a:lnTo>
                <a:close/>
                <a:moveTo>
                  <a:pt x="3009900" y="0"/>
                </a:moveTo>
                <a:lnTo>
                  <a:pt x="2971800" y="0"/>
                </a:lnTo>
                <a:lnTo>
                  <a:pt x="2971800" y="9525"/>
                </a:lnTo>
                <a:lnTo>
                  <a:pt x="3009900" y="9525"/>
                </a:lnTo>
                <a:lnTo>
                  <a:pt x="3009900" y="0"/>
                </a:lnTo>
                <a:close/>
                <a:moveTo>
                  <a:pt x="3124200" y="0"/>
                </a:moveTo>
                <a:lnTo>
                  <a:pt x="3086100" y="0"/>
                </a:lnTo>
                <a:lnTo>
                  <a:pt x="3086100" y="9525"/>
                </a:lnTo>
                <a:lnTo>
                  <a:pt x="3124200" y="9525"/>
                </a:lnTo>
                <a:lnTo>
                  <a:pt x="3124200" y="0"/>
                </a:lnTo>
                <a:close/>
                <a:moveTo>
                  <a:pt x="3238500" y="0"/>
                </a:moveTo>
                <a:lnTo>
                  <a:pt x="3200400" y="0"/>
                </a:lnTo>
                <a:lnTo>
                  <a:pt x="3200400" y="9525"/>
                </a:lnTo>
                <a:lnTo>
                  <a:pt x="3238500" y="9525"/>
                </a:lnTo>
                <a:lnTo>
                  <a:pt x="3238500" y="0"/>
                </a:lnTo>
                <a:close/>
                <a:moveTo>
                  <a:pt x="3352800" y="0"/>
                </a:moveTo>
                <a:lnTo>
                  <a:pt x="3314700" y="0"/>
                </a:lnTo>
                <a:lnTo>
                  <a:pt x="3314700" y="9525"/>
                </a:lnTo>
                <a:lnTo>
                  <a:pt x="3352800" y="9525"/>
                </a:lnTo>
                <a:lnTo>
                  <a:pt x="3352800" y="0"/>
                </a:lnTo>
                <a:close/>
                <a:moveTo>
                  <a:pt x="3467100" y="0"/>
                </a:moveTo>
                <a:lnTo>
                  <a:pt x="3429000" y="0"/>
                </a:lnTo>
                <a:lnTo>
                  <a:pt x="3429000" y="9525"/>
                </a:lnTo>
                <a:lnTo>
                  <a:pt x="3467100" y="9525"/>
                </a:lnTo>
                <a:lnTo>
                  <a:pt x="3467100" y="0"/>
                </a:lnTo>
                <a:close/>
                <a:moveTo>
                  <a:pt x="3581400" y="0"/>
                </a:moveTo>
                <a:lnTo>
                  <a:pt x="3543300" y="0"/>
                </a:lnTo>
                <a:lnTo>
                  <a:pt x="3543300" y="9525"/>
                </a:lnTo>
                <a:lnTo>
                  <a:pt x="3581400" y="9525"/>
                </a:lnTo>
                <a:lnTo>
                  <a:pt x="3581400" y="0"/>
                </a:lnTo>
                <a:close/>
                <a:moveTo>
                  <a:pt x="3695700" y="0"/>
                </a:moveTo>
                <a:lnTo>
                  <a:pt x="3657600" y="0"/>
                </a:lnTo>
                <a:lnTo>
                  <a:pt x="3657600" y="9525"/>
                </a:lnTo>
                <a:lnTo>
                  <a:pt x="3695700" y="9525"/>
                </a:lnTo>
                <a:lnTo>
                  <a:pt x="3695700" y="0"/>
                </a:lnTo>
                <a:close/>
                <a:moveTo>
                  <a:pt x="3810000" y="0"/>
                </a:moveTo>
                <a:lnTo>
                  <a:pt x="3771900" y="0"/>
                </a:lnTo>
                <a:lnTo>
                  <a:pt x="3771900" y="9525"/>
                </a:lnTo>
                <a:lnTo>
                  <a:pt x="3810000" y="9525"/>
                </a:lnTo>
                <a:lnTo>
                  <a:pt x="3810000" y="0"/>
                </a:lnTo>
                <a:close/>
                <a:moveTo>
                  <a:pt x="3924300" y="0"/>
                </a:moveTo>
                <a:lnTo>
                  <a:pt x="3886200" y="0"/>
                </a:lnTo>
                <a:lnTo>
                  <a:pt x="3886200" y="9525"/>
                </a:lnTo>
                <a:lnTo>
                  <a:pt x="3924300" y="9525"/>
                </a:lnTo>
                <a:lnTo>
                  <a:pt x="3924300" y="0"/>
                </a:lnTo>
                <a:close/>
                <a:moveTo>
                  <a:pt x="4038600" y="0"/>
                </a:moveTo>
                <a:lnTo>
                  <a:pt x="4000500" y="0"/>
                </a:lnTo>
                <a:lnTo>
                  <a:pt x="4000500" y="9525"/>
                </a:lnTo>
                <a:lnTo>
                  <a:pt x="4038600" y="9525"/>
                </a:lnTo>
                <a:lnTo>
                  <a:pt x="4038600" y="0"/>
                </a:lnTo>
                <a:close/>
                <a:moveTo>
                  <a:pt x="4152900" y="0"/>
                </a:moveTo>
                <a:lnTo>
                  <a:pt x="4114800" y="0"/>
                </a:lnTo>
                <a:lnTo>
                  <a:pt x="4114800" y="9525"/>
                </a:lnTo>
                <a:lnTo>
                  <a:pt x="4152900" y="9525"/>
                </a:lnTo>
                <a:lnTo>
                  <a:pt x="4152900" y="0"/>
                </a:lnTo>
                <a:close/>
                <a:moveTo>
                  <a:pt x="4267200" y="0"/>
                </a:moveTo>
                <a:lnTo>
                  <a:pt x="4229100" y="0"/>
                </a:lnTo>
                <a:lnTo>
                  <a:pt x="4229100" y="9525"/>
                </a:lnTo>
                <a:lnTo>
                  <a:pt x="4267200" y="9525"/>
                </a:lnTo>
                <a:lnTo>
                  <a:pt x="4267200" y="0"/>
                </a:lnTo>
                <a:close/>
                <a:moveTo>
                  <a:pt x="4381500" y="0"/>
                </a:moveTo>
                <a:lnTo>
                  <a:pt x="4343400" y="0"/>
                </a:lnTo>
                <a:lnTo>
                  <a:pt x="4343400" y="9525"/>
                </a:lnTo>
                <a:lnTo>
                  <a:pt x="4381500" y="9525"/>
                </a:lnTo>
                <a:lnTo>
                  <a:pt x="4381500" y="0"/>
                </a:lnTo>
                <a:close/>
                <a:moveTo>
                  <a:pt x="4495800" y="0"/>
                </a:moveTo>
                <a:lnTo>
                  <a:pt x="4457700" y="0"/>
                </a:lnTo>
                <a:lnTo>
                  <a:pt x="4457700" y="9525"/>
                </a:lnTo>
                <a:lnTo>
                  <a:pt x="4495800" y="9525"/>
                </a:lnTo>
                <a:lnTo>
                  <a:pt x="4495800" y="0"/>
                </a:lnTo>
                <a:close/>
                <a:moveTo>
                  <a:pt x="4610100" y="0"/>
                </a:moveTo>
                <a:lnTo>
                  <a:pt x="4572000" y="0"/>
                </a:lnTo>
                <a:lnTo>
                  <a:pt x="4572000" y="9525"/>
                </a:lnTo>
                <a:lnTo>
                  <a:pt x="4610100" y="9525"/>
                </a:lnTo>
                <a:lnTo>
                  <a:pt x="4610100" y="0"/>
                </a:lnTo>
                <a:close/>
                <a:moveTo>
                  <a:pt x="4724400" y="0"/>
                </a:moveTo>
                <a:lnTo>
                  <a:pt x="4686300" y="0"/>
                </a:lnTo>
                <a:lnTo>
                  <a:pt x="4686300" y="9525"/>
                </a:lnTo>
                <a:lnTo>
                  <a:pt x="4724400" y="9525"/>
                </a:lnTo>
                <a:lnTo>
                  <a:pt x="4724400" y="0"/>
                </a:lnTo>
                <a:close/>
                <a:moveTo>
                  <a:pt x="4838700" y="0"/>
                </a:moveTo>
                <a:lnTo>
                  <a:pt x="4800600" y="0"/>
                </a:lnTo>
                <a:lnTo>
                  <a:pt x="4800600" y="9525"/>
                </a:lnTo>
                <a:lnTo>
                  <a:pt x="4838700" y="9525"/>
                </a:lnTo>
                <a:lnTo>
                  <a:pt x="4838700" y="0"/>
                </a:lnTo>
                <a:close/>
                <a:moveTo>
                  <a:pt x="4953000" y="0"/>
                </a:moveTo>
                <a:lnTo>
                  <a:pt x="4914900" y="0"/>
                </a:lnTo>
                <a:lnTo>
                  <a:pt x="4914900" y="9525"/>
                </a:lnTo>
                <a:lnTo>
                  <a:pt x="4953000" y="9525"/>
                </a:lnTo>
                <a:lnTo>
                  <a:pt x="4953000" y="0"/>
                </a:lnTo>
                <a:close/>
                <a:moveTo>
                  <a:pt x="5067300" y="0"/>
                </a:moveTo>
                <a:lnTo>
                  <a:pt x="5029200" y="0"/>
                </a:lnTo>
                <a:lnTo>
                  <a:pt x="5029200" y="9525"/>
                </a:lnTo>
                <a:lnTo>
                  <a:pt x="5067300" y="9525"/>
                </a:lnTo>
                <a:lnTo>
                  <a:pt x="5067300" y="0"/>
                </a:lnTo>
                <a:close/>
                <a:moveTo>
                  <a:pt x="5181600" y="0"/>
                </a:moveTo>
                <a:lnTo>
                  <a:pt x="5143500" y="0"/>
                </a:lnTo>
                <a:lnTo>
                  <a:pt x="5143500" y="9525"/>
                </a:lnTo>
                <a:lnTo>
                  <a:pt x="5181600" y="9525"/>
                </a:lnTo>
                <a:lnTo>
                  <a:pt x="5181600" y="0"/>
                </a:lnTo>
                <a:close/>
                <a:moveTo>
                  <a:pt x="5295900" y="0"/>
                </a:moveTo>
                <a:lnTo>
                  <a:pt x="5257800" y="0"/>
                </a:lnTo>
                <a:lnTo>
                  <a:pt x="5257800" y="9525"/>
                </a:lnTo>
                <a:lnTo>
                  <a:pt x="5295900" y="9525"/>
                </a:lnTo>
                <a:lnTo>
                  <a:pt x="5295900" y="0"/>
                </a:lnTo>
                <a:close/>
                <a:moveTo>
                  <a:pt x="5410200" y="0"/>
                </a:moveTo>
                <a:lnTo>
                  <a:pt x="5372100" y="0"/>
                </a:lnTo>
                <a:lnTo>
                  <a:pt x="5372100" y="9525"/>
                </a:lnTo>
                <a:lnTo>
                  <a:pt x="5410200" y="9525"/>
                </a:lnTo>
                <a:lnTo>
                  <a:pt x="5410200" y="0"/>
                </a:lnTo>
                <a:close/>
                <a:moveTo>
                  <a:pt x="5524500" y="0"/>
                </a:moveTo>
                <a:lnTo>
                  <a:pt x="5486400" y="0"/>
                </a:lnTo>
                <a:lnTo>
                  <a:pt x="5486400" y="9525"/>
                </a:lnTo>
                <a:lnTo>
                  <a:pt x="5524500" y="9525"/>
                </a:lnTo>
                <a:lnTo>
                  <a:pt x="5524500" y="0"/>
                </a:lnTo>
                <a:close/>
                <a:moveTo>
                  <a:pt x="5638800" y="0"/>
                </a:moveTo>
                <a:lnTo>
                  <a:pt x="5600700" y="0"/>
                </a:lnTo>
                <a:lnTo>
                  <a:pt x="5600700" y="9525"/>
                </a:lnTo>
                <a:lnTo>
                  <a:pt x="5638800" y="9525"/>
                </a:lnTo>
                <a:lnTo>
                  <a:pt x="5638800" y="0"/>
                </a:lnTo>
                <a:close/>
                <a:moveTo>
                  <a:pt x="5753100" y="0"/>
                </a:moveTo>
                <a:lnTo>
                  <a:pt x="5715000" y="0"/>
                </a:lnTo>
                <a:lnTo>
                  <a:pt x="5715000" y="9525"/>
                </a:lnTo>
                <a:lnTo>
                  <a:pt x="5753100" y="9525"/>
                </a:lnTo>
                <a:lnTo>
                  <a:pt x="5753100" y="0"/>
                </a:lnTo>
                <a:close/>
                <a:moveTo>
                  <a:pt x="5867400" y="0"/>
                </a:moveTo>
                <a:lnTo>
                  <a:pt x="5829300" y="0"/>
                </a:lnTo>
                <a:lnTo>
                  <a:pt x="5829300" y="9525"/>
                </a:lnTo>
                <a:lnTo>
                  <a:pt x="5867400" y="9525"/>
                </a:lnTo>
                <a:lnTo>
                  <a:pt x="5867400" y="0"/>
                </a:lnTo>
                <a:close/>
                <a:moveTo>
                  <a:pt x="5981700" y="0"/>
                </a:moveTo>
                <a:lnTo>
                  <a:pt x="5943600" y="0"/>
                </a:lnTo>
                <a:lnTo>
                  <a:pt x="5943600" y="9525"/>
                </a:lnTo>
                <a:lnTo>
                  <a:pt x="5981700" y="9525"/>
                </a:lnTo>
                <a:lnTo>
                  <a:pt x="5981700" y="0"/>
                </a:lnTo>
                <a:close/>
                <a:moveTo>
                  <a:pt x="6096000" y="0"/>
                </a:moveTo>
                <a:lnTo>
                  <a:pt x="6057900" y="0"/>
                </a:lnTo>
                <a:lnTo>
                  <a:pt x="6057900" y="9525"/>
                </a:lnTo>
                <a:lnTo>
                  <a:pt x="6096000" y="9525"/>
                </a:lnTo>
                <a:lnTo>
                  <a:pt x="6096000" y="0"/>
                </a:lnTo>
                <a:close/>
                <a:moveTo>
                  <a:pt x="6210300" y="0"/>
                </a:moveTo>
                <a:lnTo>
                  <a:pt x="6172200" y="0"/>
                </a:lnTo>
                <a:lnTo>
                  <a:pt x="6172200" y="9525"/>
                </a:lnTo>
                <a:lnTo>
                  <a:pt x="6210300" y="9525"/>
                </a:lnTo>
                <a:lnTo>
                  <a:pt x="6210300" y="0"/>
                </a:lnTo>
                <a:close/>
                <a:moveTo>
                  <a:pt x="6324600" y="0"/>
                </a:moveTo>
                <a:lnTo>
                  <a:pt x="6286500" y="0"/>
                </a:lnTo>
                <a:lnTo>
                  <a:pt x="6286500" y="9525"/>
                </a:lnTo>
                <a:lnTo>
                  <a:pt x="6324600" y="9525"/>
                </a:lnTo>
                <a:lnTo>
                  <a:pt x="6324600" y="0"/>
                </a:lnTo>
                <a:close/>
                <a:moveTo>
                  <a:pt x="6438900" y="0"/>
                </a:moveTo>
                <a:lnTo>
                  <a:pt x="6400800" y="0"/>
                </a:lnTo>
                <a:lnTo>
                  <a:pt x="6400800" y="9525"/>
                </a:lnTo>
                <a:lnTo>
                  <a:pt x="6438900" y="9525"/>
                </a:lnTo>
                <a:lnTo>
                  <a:pt x="6438900" y="0"/>
                </a:lnTo>
                <a:close/>
                <a:moveTo>
                  <a:pt x="6553200" y="0"/>
                </a:moveTo>
                <a:lnTo>
                  <a:pt x="6515100" y="0"/>
                </a:lnTo>
                <a:lnTo>
                  <a:pt x="6515100" y="9525"/>
                </a:lnTo>
                <a:lnTo>
                  <a:pt x="6553200" y="9525"/>
                </a:lnTo>
                <a:lnTo>
                  <a:pt x="6553200" y="0"/>
                </a:lnTo>
                <a:close/>
                <a:moveTo>
                  <a:pt x="6667500" y="0"/>
                </a:moveTo>
                <a:lnTo>
                  <a:pt x="6629400" y="0"/>
                </a:lnTo>
                <a:lnTo>
                  <a:pt x="6629400" y="9525"/>
                </a:lnTo>
                <a:lnTo>
                  <a:pt x="6667500" y="9525"/>
                </a:lnTo>
                <a:lnTo>
                  <a:pt x="6667500" y="0"/>
                </a:lnTo>
                <a:close/>
                <a:moveTo>
                  <a:pt x="6781800" y="0"/>
                </a:moveTo>
                <a:lnTo>
                  <a:pt x="6743700" y="0"/>
                </a:lnTo>
                <a:lnTo>
                  <a:pt x="6743700" y="9525"/>
                </a:lnTo>
                <a:lnTo>
                  <a:pt x="6781800" y="9525"/>
                </a:lnTo>
                <a:lnTo>
                  <a:pt x="6781800" y="0"/>
                </a:lnTo>
                <a:close/>
              </a:path>
            </a:pathLst>
          </a:custGeom>
          <a:solidFill>
            <a:srgbClr val="1B3A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Ellipse"/>
          <p:cNvSpPr/>
          <p:nvPr/>
        </p:nvSpPr>
        <p:spPr>
          <a:xfrm>
            <a:off x="14325600" y="4419600"/>
            <a:ext cx="114300" cy="114300"/>
          </a:xfrm>
          <a:prstGeom prst="ellipse">
            <a:avLst/>
          </a:prstGeom>
          <a:solidFill>
            <a:srgbClr val="FFB02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"/>
          <p:cNvSpPr txBox="1"/>
          <p:nvPr/>
        </p:nvSpPr>
        <p:spPr>
          <a:xfrm>
            <a:off x="1143000" y="1409700"/>
            <a:ext cx="545843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 spc="150">
                <a:solidFill>
                  <a:srgbClr val="00C2A8"/>
                </a:solidFill>
                <a:latin typeface="Inter Bold"/>
                <a:ea typeface="Inter Bold"/>
                <a:cs typeface="Inter Bold"/>
              </a:rPr>
              <a:t>arXiv:2606.12406v2  ·  cs.RO  ·  CMU × Waseda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1104900" y="1905000"/>
            <a:ext cx="5660641" cy="1752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1400" spc="-15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FACTR 2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181100" y="3810000"/>
            <a:ext cx="9764167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3900"/>
              </a:lnSpc>
            </a:pPr>
            <a:r>
              <a:rPr lang="en-US" sz="2850">
                <a:solidFill>
                  <a:srgbClr val="C9D6E3"/>
                </a:solidFill>
                <a:latin typeface="Inter"/>
                <a:ea typeface="Inter"/>
                <a:cs typeface="Inter"/>
              </a:rPr>
              <a:t>Learning External Force Sensing for Commodity Robot</a:t>
            </a:r>
            <a:br>
              <a:rPr lang="en-US" sz="2850">
                <a:latin typeface="Inter"/>
                <a:ea typeface="Inter"/>
                <a:cs typeface="Inter"/>
              </a:rPr>
            </a:br>
            <a:r>
              <a:rPr lang="en-US" sz="2850">
                <a:solidFill>
                  <a:srgbClr val="C9D6E3"/>
                </a:solidFill>
                <a:latin typeface="Inter"/>
                <a:ea typeface="Inter"/>
                <a:cs typeface="Inter"/>
              </a:rPr>
              <a:t>Arms Improves Policy Learning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1181100" y="4953000"/>
            <a:ext cx="6286500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250">
                <a:solidFill>
                  <a:srgbClr val="7FE3D2"/>
                </a:solidFill>
                <a:latin typeface="Noto Sans SC"/>
                <a:ea typeface="Noto Sans SC"/>
                <a:cs typeface="Noto Sans SC"/>
              </a:rPr>
              <a:t>让商品级机械臂学会感知外力，并让策略学得更好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1181100" y="6153150"/>
            <a:ext cx="5008473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950">
                <a:solidFill>
                  <a:srgbClr val="A9BACB"/>
                </a:solidFill>
                <a:latin typeface="Noto Sans SC"/>
                <a:ea typeface="Noto Sans SC"/>
                <a:cs typeface="Noto Sans SC"/>
              </a:rPr>
              <a:t> × AgileX Piper </a:t>
            </a:r>
          </a:p>
        </p:txBody>
      </p:sp>
      <p:sp>
        <p:nvSpPr>
          <p:cNvPr id="16" name="TextBox"/>
          <p:cNvSpPr txBox="1"/>
          <p:nvPr/>
        </p:nvSpPr>
        <p:spPr>
          <a:xfrm>
            <a:off x="1181100" y="6667500"/>
            <a:ext cx="6198915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6C8093"/>
                </a:solidFill>
                <a:latin typeface="Inter"/>
                <a:ea typeface="Inter"/>
                <a:cs typeface="Inter"/>
              </a:rPr>
              <a:t>Steven Oh, Jason Jingzhou Liu, Tony Tao, et al.  ·  20 页 · 2026.10</a:t>
            </a:r>
          </a:p>
        </p:txBody>
      </p:sp>
      <p:sp>
        <p:nvSpPr>
          <p:cNvPr id="17" name="TextBox"/>
          <p:cNvSpPr txBox="1"/>
          <p:nvPr/>
        </p:nvSpPr>
        <p:spPr>
          <a:xfrm>
            <a:off x="16383000" y="9429750"/>
            <a:ext cx="655765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4E6478"/>
                </a:solidFill>
                <a:latin typeface="Inter"/>
                <a:ea typeface="Inter"/>
                <a:cs typeface="Inter"/>
              </a:rPr>
              <a:t>01 / 20</a:t>
            </a:r>
          </a:p>
        </p:txBody>
      </p:sp>
      <p:sp>
        <p:nvSpPr>
          <p:cNvPr id="18" name="Rectangle"/>
          <p:cNvSpPr/>
          <p:nvPr/>
        </p:nvSpPr>
        <p:spPr>
          <a:xfrm>
            <a:off x="1181100" y="77438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"/>
          <p:cNvSpPr txBox="1"/>
          <p:nvPr/>
        </p:nvSpPr>
        <p:spPr>
          <a:xfrm>
            <a:off x="1390650" y="7629525"/>
            <a:ext cx="295054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9FB2C4"/>
                </a:solidFill>
                <a:latin typeface="Noto Sans SC"/>
                <a:ea typeface="Noto Sans SC"/>
                <a:cs typeface="Noto Sans SC"/>
              </a:rPr>
              <a:t>NEXT  </a:t>
            </a:r>
          </a:p>
        </p:txBody>
      </p:sp>
      <p:sp>
        <p:nvSpPr>
          <p:cNvPr id="20" name="Rectangle"/>
          <p:cNvSpPr/>
          <p:nvPr/>
        </p:nvSpPr>
        <p:spPr>
          <a:xfrm>
            <a:off x="6324600" y="77438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"/>
          <p:cNvSpPr txBox="1"/>
          <p:nvPr/>
        </p:nvSpPr>
        <p:spPr>
          <a:xfrm>
            <a:off x="6534150" y="7629525"/>
            <a:ext cx="2304288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9FB2C4"/>
                </a:solidFill>
                <a:latin typeface="Noto Sans SC"/>
                <a:ea typeface="Noto Sans SC"/>
                <a:cs typeface="Noto Sans SC"/>
              </a:rPr>
              <a:t>FIRST  </a:t>
            </a:r>
          </a:p>
        </p:txBody>
      </p:sp>
      <p:sp>
        <p:nvSpPr>
          <p:cNvPr id="22" name="Rectangle"/>
          <p:cNvSpPr/>
          <p:nvPr/>
        </p:nvSpPr>
        <p:spPr>
          <a:xfrm>
            <a:off x="11468100" y="77438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Box"/>
          <p:cNvSpPr txBox="1"/>
          <p:nvPr/>
        </p:nvSpPr>
        <p:spPr>
          <a:xfrm>
            <a:off x="11677650" y="7629525"/>
            <a:ext cx="2724455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C9D6E3"/>
                </a:solidFill>
                <a:latin typeface="Noto Sans SC"/>
                <a:ea typeface="Noto Sans SC"/>
                <a:cs typeface="Noto Sans SC"/>
              </a:rPr>
              <a:t>Piper  </a:t>
            </a:r>
          </a:p>
        </p:txBody>
      </p:sp>
      <p:sp>
        <p:nvSpPr>
          <p:cNvPr id="24" name="Rectangle"/>
          <p:cNvSpPr/>
          <p:nvPr/>
        </p:nvSpPr>
        <p:spPr>
          <a:xfrm>
            <a:off x="1181100" y="8763000"/>
            <a:ext cx="15925800" cy="9525"/>
          </a:xfrm>
          <a:prstGeom prst="rect">
            <a:avLst/>
          </a:prstGeom>
          <a:solidFill>
            <a:srgbClr val="1E3A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"/>
          <p:cNvSpPr txBox="1"/>
          <p:nvPr/>
        </p:nvSpPr>
        <p:spPr>
          <a:xfrm>
            <a:off x="1181100" y="9010650"/>
            <a:ext cx="436911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5C7387"/>
                </a:solidFill>
                <a:latin typeface="Noto Sans SC"/>
                <a:ea typeface="Noto Sans SC"/>
                <a:cs typeface="Noto Sans SC"/>
              </a:rPr>
              <a:t>  ·  FACTR 2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4287500" y="285750"/>
            <a:ext cx="2773784" cy="32289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0">
                <a:solidFill>
                  <a:srgbClr val="E7ECF1"/>
                </a:solidFill>
                <a:latin typeface="Inter Bold"/>
                <a:ea typeface="Inter Bold"/>
                <a:cs typeface="Inter Bold"/>
              </a:rPr>
              <a:t>01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914400"/>
            <a:ext cx="148611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 spc="225">
                <a:solidFill>
                  <a:srgbClr val="00806F"/>
                </a:solidFill>
                <a:latin typeface="Noto Sans SC Bold"/>
                <a:ea typeface="Noto Sans SC Bold"/>
                <a:cs typeface="Noto Sans SC Bold"/>
              </a:rPr>
              <a:t>01 / 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143000" y="1390650"/>
            <a:ext cx="7124700" cy="933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5100">
                <a:solidFill>
                  <a:srgbClr val="0F1B2A"/>
                </a:solidFill>
                <a:latin typeface="Noto Sans SC Bold"/>
                <a:ea typeface="Noto Sans SC Bold"/>
                <a:cs typeface="Noto Sans SC Bold"/>
              </a:rPr>
              <a:t>三个数字，读完这篇论文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1162050" y="2400300"/>
            <a:ext cx="7988426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250">
                <a:solidFill>
                  <a:srgbClr val="52657A"/>
                </a:solidFill>
                <a:latin typeface="Noto Sans SC"/>
                <a:ea typeface="Noto Sans SC"/>
                <a:cs typeface="Noto Sans SC"/>
              </a:rPr>
              <a:t>10 分钟自由运动数据 + 1 分钟训练，替代昂贵的力 / </a:t>
            </a:r>
          </a:p>
        </p:txBody>
      </p:sp>
      <p:sp>
        <p:nvSpPr>
          <p:cNvPr id="7" name="Rectangle"/>
          <p:cNvSpPr/>
          <p:nvPr/>
        </p:nvSpPr>
        <p:spPr>
          <a:xfrm>
            <a:off x="1143000" y="3676650"/>
            <a:ext cx="4914900" cy="3543300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"/>
          <p:cNvSpPr/>
          <p:nvPr/>
        </p:nvSpPr>
        <p:spPr>
          <a:xfrm>
            <a:off x="1485900" y="4019550"/>
            <a:ext cx="533400" cy="381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"/>
          <p:cNvSpPr txBox="1"/>
          <p:nvPr/>
        </p:nvSpPr>
        <p:spPr>
          <a:xfrm>
            <a:off x="1485900" y="4286250"/>
            <a:ext cx="2182216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5D6F80"/>
                </a:solidFill>
                <a:latin typeface="Noto Sans SC"/>
                <a:ea typeface="Noto Sans SC"/>
                <a:cs typeface="Noto Sans SC"/>
              </a:rPr>
              <a:t> L1 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1485900" y="4838700"/>
            <a:ext cx="3552006" cy="971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6300">
                <a:solidFill>
                  <a:srgbClr val="0F1B2A"/>
                </a:solidFill>
                <a:latin typeface="Inter Bold"/>
                <a:ea typeface="Inter Bold"/>
                <a:cs typeface="Inter Bold"/>
              </a:rPr>
              <a:t>0.547 Nm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1485900" y="6038850"/>
            <a:ext cx="3808400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725">
                <a:solidFill>
                  <a:srgbClr val="6B7C8D"/>
                </a:solidFill>
                <a:latin typeface="Noto Sans SC"/>
                <a:ea typeface="Noto Sans SC"/>
                <a:cs typeface="Noto Sans SC"/>
              </a:rPr>
              <a:t>Franka 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1485900" y="6572250"/>
            <a:ext cx="17000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C97A00"/>
                </a:solidFill>
                <a:latin typeface="Noto Sans SC Bold"/>
                <a:ea typeface="Noto Sans SC Bold"/>
                <a:cs typeface="Noto Sans SC Bold"/>
              </a:rPr>
              <a:t> FILIC 低 87.6%</a:t>
            </a:r>
          </a:p>
        </p:txBody>
      </p:sp>
      <p:sp>
        <p:nvSpPr>
          <p:cNvPr id="13" name="Rectangle"/>
          <p:cNvSpPr/>
          <p:nvPr/>
        </p:nvSpPr>
        <p:spPr>
          <a:xfrm>
            <a:off x="1147763" y="3681413"/>
            <a:ext cx="4905375" cy="3533775"/>
          </a:xfrm>
          <a:prstGeom prst="roundRect">
            <a:avLst>
              <a:gd name="adj" fmla="val 5256"/>
            </a:avLst>
          </a:prstGeom>
          <a:noFill/>
          <a:ln w="9525">
            <a:solidFill>
              <a:srgbClr val="E6EA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"/>
          <p:cNvSpPr/>
          <p:nvPr/>
        </p:nvSpPr>
        <p:spPr>
          <a:xfrm>
            <a:off x="6496050" y="3676650"/>
            <a:ext cx="4914900" cy="3543300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"/>
          <p:cNvSpPr/>
          <p:nvPr/>
        </p:nvSpPr>
        <p:spPr>
          <a:xfrm>
            <a:off x="6838950" y="4019550"/>
            <a:ext cx="533400" cy="381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"/>
          <p:cNvSpPr txBox="1"/>
          <p:nvPr/>
        </p:nvSpPr>
        <p:spPr>
          <a:xfrm>
            <a:off x="6838950" y="4286250"/>
            <a:ext cx="1987448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5D6F80"/>
                </a:solidFill>
                <a:latin typeface="Noto Sans SC"/>
                <a:ea typeface="Noto Sans SC"/>
                <a:cs typeface="Noto Sans SC"/>
              </a:rPr>
              <a:t>Piper </a:t>
            </a:r>
          </a:p>
        </p:txBody>
      </p:sp>
      <p:sp>
        <p:nvSpPr>
          <p:cNvPr id="17" name="TextBox"/>
          <p:cNvSpPr txBox="1"/>
          <p:nvPr/>
        </p:nvSpPr>
        <p:spPr>
          <a:xfrm>
            <a:off x="6838950" y="4838700"/>
            <a:ext cx="3451603" cy="971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6300">
                <a:solidFill>
                  <a:srgbClr val="0F1B2A"/>
                </a:solidFill>
                <a:latin typeface="Inter Bold"/>
                <a:ea typeface="Inter Bold"/>
                <a:cs typeface="Inter Bold"/>
              </a:rPr>
              <a:t>0.018 Nm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6838950" y="6038850"/>
            <a:ext cx="2847975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725">
                <a:solidFill>
                  <a:srgbClr val="6B7C8D"/>
                </a:solidFill>
                <a:latin typeface="Noto Sans SC"/>
                <a:ea typeface="Noto Sans SC"/>
                <a:cs typeface="Noto Sans SC"/>
              </a:rPr>
              <a:t>低成本机械臂，零外力当真值</a:t>
            </a:r>
          </a:p>
        </p:txBody>
      </p:sp>
      <p:sp>
        <p:nvSpPr>
          <p:cNvPr id="19" name="TextBox"/>
          <p:cNvSpPr txBox="1"/>
          <p:nvPr/>
        </p:nvSpPr>
        <p:spPr>
          <a:xfrm>
            <a:off x="6838950" y="6572250"/>
            <a:ext cx="195656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C97A00"/>
                </a:solidFill>
                <a:latin typeface="Noto Sans SC Bold"/>
                <a:ea typeface="Noto Sans SC Bold"/>
                <a:cs typeface="Noto Sans SC Bold"/>
              </a:rPr>
              <a:t> 93%</a:t>
            </a:r>
          </a:p>
        </p:txBody>
      </p:sp>
      <p:sp>
        <p:nvSpPr>
          <p:cNvPr id="20" name="Rectangle"/>
          <p:cNvSpPr/>
          <p:nvPr/>
        </p:nvSpPr>
        <p:spPr>
          <a:xfrm>
            <a:off x="6500813" y="3681413"/>
            <a:ext cx="4905375" cy="3533775"/>
          </a:xfrm>
          <a:prstGeom prst="roundRect">
            <a:avLst>
              <a:gd name="adj" fmla="val 5256"/>
            </a:avLst>
          </a:prstGeom>
          <a:noFill/>
          <a:ln w="9525">
            <a:solidFill>
              <a:srgbClr val="E6EA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"/>
          <p:cNvSpPr/>
          <p:nvPr/>
        </p:nvSpPr>
        <p:spPr>
          <a:xfrm>
            <a:off x="11849100" y="3676650"/>
            <a:ext cx="4914900" cy="3543300"/>
          </a:xfrm>
          <a:prstGeom prst="roundRect">
            <a:avLst>
              <a:gd name="adj" fmla="val 5376"/>
            </a:avLst>
          </a:prstGeom>
          <a:solidFill>
            <a:srgbClr val="0F1B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"/>
          <p:cNvSpPr/>
          <p:nvPr/>
        </p:nvSpPr>
        <p:spPr>
          <a:xfrm>
            <a:off x="12192000" y="4019550"/>
            <a:ext cx="533400" cy="38100"/>
          </a:xfrm>
          <a:prstGeom prst="rect">
            <a:avLst/>
          </a:prstGeom>
          <a:solidFill>
            <a:srgbClr val="FFB02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Box"/>
          <p:cNvSpPr txBox="1"/>
          <p:nvPr/>
        </p:nvSpPr>
        <p:spPr>
          <a:xfrm>
            <a:off x="12192000" y="4286250"/>
            <a:ext cx="205740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00">
                <a:solidFill>
                  <a:srgbClr val="9FB2C4"/>
                </a:solidFill>
                <a:latin typeface="Noto Sans SC"/>
                <a:ea typeface="Noto Sans SC"/>
                <a:cs typeface="Noto Sans SC"/>
              </a:rPr>
              <a:t>五任务平均任务进度</a:t>
            </a:r>
          </a:p>
        </p:txBody>
      </p:sp>
      <p:sp>
        <p:nvSpPr>
          <p:cNvPr id="24" name="TextBox"/>
          <p:cNvSpPr txBox="1"/>
          <p:nvPr/>
        </p:nvSpPr>
        <p:spPr>
          <a:xfrm>
            <a:off x="12192000" y="4838700"/>
            <a:ext cx="2220199" cy="971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630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+17 pt</a:t>
            </a:r>
          </a:p>
        </p:txBody>
      </p:sp>
      <p:sp>
        <p:nvSpPr>
          <p:cNvPr id="25" name="TextBox"/>
          <p:cNvSpPr txBox="1"/>
          <p:nvPr/>
        </p:nvSpPr>
        <p:spPr>
          <a:xfrm>
            <a:off x="12192000" y="6038850"/>
            <a:ext cx="3391062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725">
                <a:solidFill>
                  <a:srgbClr val="A9BACB"/>
                </a:solidFill>
                <a:latin typeface="Noto Sans SC"/>
                <a:ea typeface="Noto Sans SC"/>
                <a:cs typeface="Noto Sans SC"/>
              </a:rPr>
              <a:t> 68% 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12192000" y="6572250"/>
            <a:ext cx="253241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FFB020"/>
                </a:solidFill>
                <a:latin typeface="Noto Sans SC Bold"/>
                <a:ea typeface="Noto Sans SC Bold"/>
                <a:cs typeface="Noto Sans SC Bold"/>
              </a:rPr>
              <a:t>Base 44% → FIRST 84.9%</a:t>
            </a:r>
          </a:p>
        </p:txBody>
      </p:sp>
      <p:sp>
        <p:nvSpPr>
          <p:cNvPr id="27" name="Rectangle"/>
          <p:cNvSpPr/>
          <p:nvPr/>
        </p:nvSpPr>
        <p:spPr>
          <a:xfrm>
            <a:off x="1143000" y="7677150"/>
            <a:ext cx="38100" cy="5715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Box"/>
          <p:cNvSpPr txBox="1"/>
          <p:nvPr/>
        </p:nvSpPr>
        <p:spPr>
          <a:xfrm>
            <a:off x="1409700" y="7734300"/>
            <a:ext cx="7335202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250">
                <a:solidFill>
                  <a:srgbClr val="22394D"/>
                </a:solidFill>
                <a:latin typeface="Noto Sans SC"/>
                <a:ea typeface="Noto Sans SC"/>
                <a:cs typeface="Noto Sans SC"/>
              </a:rPr>
              <a:t>NEXT 负责「感知」，FIRST </a:t>
            </a:r>
          </a:p>
        </p:txBody>
      </p:sp>
      <p:sp>
        <p:nvSpPr>
          <p:cNvPr id="29" name="TextBox"/>
          <p:cNvSpPr txBox="1"/>
          <p:nvPr/>
        </p:nvSpPr>
        <p:spPr>
          <a:xfrm>
            <a:off x="1143000" y="9429750"/>
            <a:ext cx="316336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8B9AA8"/>
                </a:solidFill>
                <a:latin typeface="Noto Sans SC"/>
                <a:ea typeface="Noto Sans SC"/>
                <a:cs typeface="Noto Sans SC"/>
              </a:rPr>
              <a:t>FACTR 2 · 论文解析与 Piper </a:t>
            </a:r>
          </a:p>
        </p:txBody>
      </p:sp>
      <p:sp>
        <p:nvSpPr>
          <p:cNvPr id="30" name="TextBox"/>
          <p:cNvSpPr txBox="1"/>
          <p:nvPr/>
        </p:nvSpPr>
        <p:spPr>
          <a:xfrm>
            <a:off x="16383000" y="9429750"/>
            <a:ext cx="698023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8B9AA8"/>
                </a:solidFill>
                <a:latin typeface="Inter"/>
                <a:ea typeface="Inter"/>
                <a:cs typeface="Inter"/>
              </a:rPr>
              <a:t>02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914400"/>
            <a:ext cx="148611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 spc="225">
                <a:solidFill>
                  <a:srgbClr val="00806F"/>
                </a:solidFill>
                <a:latin typeface="Noto Sans SC Bold"/>
                <a:ea typeface="Noto Sans SC Bold"/>
                <a:cs typeface="Noto Sans SC Bold"/>
              </a:rPr>
              <a:t>02 / 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390650"/>
            <a:ext cx="10363200" cy="885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4800">
                <a:solidFill>
                  <a:srgbClr val="0F1B2A"/>
                </a:solidFill>
                <a:latin typeface="Noto Sans SC Bold"/>
                <a:ea typeface="Noto Sans SC Bold"/>
                <a:cs typeface="Noto Sans SC Bold"/>
              </a:rPr>
              <a:t>接触富操作需要力觉，但力觉一直很贵</a:t>
            </a:r>
          </a:p>
        </p:txBody>
      </p:sp>
      <p:sp>
        <p:nvSpPr>
          <p:cNvPr id="5" name="Rectangle"/>
          <p:cNvSpPr/>
          <p:nvPr/>
        </p:nvSpPr>
        <p:spPr>
          <a:xfrm>
            <a:off x="1143000" y="2857500"/>
            <a:ext cx="7429500" cy="4762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"/>
          <p:cNvSpPr txBox="1"/>
          <p:nvPr/>
        </p:nvSpPr>
        <p:spPr>
          <a:xfrm>
            <a:off x="1524000" y="3238500"/>
            <a:ext cx="13525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 spc="150">
                <a:solidFill>
                  <a:srgbClr val="8B9AA8"/>
                </a:solidFill>
                <a:latin typeface="Noto Sans SC Bold"/>
                <a:ea typeface="Noto Sans SC Bold"/>
                <a:cs typeface="Noto Sans SC Bold"/>
              </a:rPr>
              <a:t>整机价格量级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1524000" y="3714750"/>
            <a:ext cx="4415371" cy="4667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550">
                <a:solidFill>
                  <a:srgbClr val="0F1B2A"/>
                </a:solidFill>
                <a:latin typeface="Noto Sans SC Bold"/>
                <a:ea typeface="Noto Sans SC Bold"/>
                <a:cs typeface="Noto Sans SC Bold"/>
              </a:rPr>
              <a:t> 12 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524000" y="4352925"/>
            <a:ext cx="2412187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52657A"/>
                </a:solidFill>
                <a:latin typeface="Noto Sans SC"/>
                <a:ea typeface="Noto Sans SC"/>
                <a:cs typeface="Noto Sans SC"/>
              </a:rPr>
              <a:t>AgileX Piper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1524000" y="4857750"/>
            <a:ext cx="162278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3000">
                <a:solidFill>
                  <a:srgbClr val="0F1B2A"/>
                </a:solidFill>
                <a:latin typeface="Inter Bold"/>
                <a:ea typeface="Inter Bold"/>
                <a:cs typeface="Inter Bold"/>
              </a:rPr>
              <a:t>≈ $2,500</a:t>
            </a:r>
          </a:p>
        </p:txBody>
      </p:sp>
      <p:sp>
        <p:nvSpPr>
          <p:cNvPr id="10" name="Rectangle"/>
          <p:cNvSpPr/>
          <p:nvPr/>
        </p:nvSpPr>
        <p:spPr>
          <a:xfrm>
            <a:off x="1524000" y="5486400"/>
            <a:ext cx="590550" cy="133350"/>
          </a:xfrm>
          <a:prstGeom prst="roundRect">
            <a:avLst>
              <a:gd name="adj" fmla="val 50000"/>
            </a:avLst>
          </a:prstGeom>
          <a:solidFill>
            <a:srgbClr val="00A88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"/>
          <p:cNvSpPr txBox="1"/>
          <p:nvPr/>
        </p:nvSpPr>
        <p:spPr>
          <a:xfrm>
            <a:off x="1524000" y="5791200"/>
            <a:ext cx="4205097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52657A"/>
                </a:solidFill>
                <a:latin typeface="Noto Sans SC"/>
                <a:ea typeface="Noto Sans SC"/>
                <a:cs typeface="Noto Sans SC"/>
              </a:rPr>
              <a:t>Franka Research 3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1524000" y="6296025"/>
            <a:ext cx="187783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3000">
                <a:solidFill>
                  <a:srgbClr val="0F1B2A"/>
                </a:solidFill>
                <a:latin typeface="Inter Bold"/>
                <a:ea typeface="Inter Bold"/>
                <a:cs typeface="Inter Bold"/>
              </a:rPr>
              <a:t>≈ $30,000</a:t>
            </a:r>
          </a:p>
        </p:txBody>
      </p:sp>
      <p:sp>
        <p:nvSpPr>
          <p:cNvPr id="13" name="Rectangle"/>
          <p:cNvSpPr/>
          <p:nvPr/>
        </p:nvSpPr>
        <p:spPr>
          <a:xfrm>
            <a:off x="1524000" y="6924675"/>
            <a:ext cx="6286500" cy="133350"/>
          </a:xfrm>
          <a:prstGeom prst="roundRect">
            <a:avLst>
              <a:gd name="adj" fmla="val 50000"/>
            </a:avLst>
          </a:prstGeom>
          <a:solidFill>
            <a:srgbClr val="C9D6E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"/>
          <p:cNvSpPr txBox="1"/>
          <p:nvPr/>
        </p:nvSpPr>
        <p:spPr>
          <a:xfrm>
            <a:off x="1524000" y="7229475"/>
            <a:ext cx="5029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C97A00"/>
                </a:solidFill>
                <a:latin typeface="Noto Sans SC"/>
                <a:ea typeface="Noto Sans SC"/>
                <a:cs typeface="Noto Sans SC"/>
              </a:rPr>
              <a:t>给末端加装六维力传感器，成本有时超过机械臂本身。</a:t>
            </a:r>
          </a:p>
        </p:txBody>
      </p:sp>
      <p:sp>
        <p:nvSpPr>
          <p:cNvPr id="15" name="Rectangle"/>
          <p:cNvSpPr/>
          <p:nvPr/>
        </p:nvSpPr>
        <p:spPr>
          <a:xfrm>
            <a:off x="1147763" y="2862263"/>
            <a:ext cx="7419975" cy="4752975"/>
          </a:xfrm>
          <a:prstGeom prst="roundRect">
            <a:avLst>
              <a:gd name="adj" fmla="val 3907"/>
            </a:avLst>
          </a:prstGeom>
          <a:noFill/>
          <a:ln w="9525">
            <a:solidFill>
              <a:srgbClr val="E6EA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"/>
          <p:cNvSpPr txBox="1"/>
          <p:nvPr/>
        </p:nvSpPr>
        <p:spPr>
          <a:xfrm>
            <a:off x="9144000" y="2857500"/>
            <a:ext cx="4286250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250">
                <a:solidFill>
                  <a:srgbClr val="0F1B2A"/>
                </a:solidFill>
                <a:latin typeface="Noto Sans SC Bold"/>
                <a:ea typeface="Noto Sans SC Bold"/>
                <a:cs typeface="Noto Sans SC Bold"/>
              </a:rPr>
              <a:t>传统「无力传感器」路线的四道坎</a:t>
            </a:r>
          </a:p>
        </p:txBody>
      </p:sp>
      <p:sp>
        <p:nvSpPr>
          <p:cNvPr id="17" name="TextBox"/>
          <p:cNvSpPr txBox="1"/>
          <p:nvPr/>
        </p:nvSpPr>
        <p:spPr>
          <a:xfrm>
            <a:off x="9144000" y="3476625"/>
            <a:ext cx="29718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950">
                <a:solidFill>
                  <a:srgbClr val="00A88F"/>
                </a:solidFill>
                <a:latin typeface="JetBrains Mono Bold"/>
                <a:ea typeface="JetBrains Mono Bold"/>
                <a:cs typeface="JetBrains Mono Bold"/>
              </a:rPr>
              <a:t>01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9753600" y="3476625"/>
            <a:ext cx="3605593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025">
                <a:solidFill>
                  <a:srgbClr val="22394D"/>
                </a:solidFill>
                <a:latin typeface="Noto Sans SC"/>
                <a:ea typeface="Noto Sans SC"/>
                <a:cs typeface="Noto Sans SC"/>
              </a:rPr>
              <a:t> + </a:t>
            </a:r>
          </a:p>
        </p:txBody>
      </p:sp>
      <p:sp>
        <p:nvSpPr>
          <p:cNvPr id="19" name="TextBox"/>
          <p:cNvSpPr txBox="1"/>
          <p:nvPr/>
        </p:nvSpPr>
        <p:spPr>
          <a:xfrm>
            <a:off x="9753600" y="38862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7A8B9B"/>
                </a:solidFill>
                <a:latin typeface="Noto Sans SC"/>
                <a:ea typeface="Noto Sans SC"/>
                <a:cs typeface="Noto Sans SC"/>
              </a:rPr>
              <a:t>惯性、重力、摩擦参数都要逐台标定</a:t>
            </a:r>
          </a:p>
        </p:txBody>
      </p:sp>
      <p:sp>
        <p:nvSpPr>
          <p:cNvPr id="20" name="TextBox"/>
          <p:cNvSpPr txBox="1"/>
          <p:nvPr/>
        </p:nvSpPr>
        <p:spPr>
          <a:xfrm>
            <a:off x="9144000" y="4400550"/>
            <a:ext cx="29718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950">
                <a:solidFill>
                  <a:srgbClr val="00A88F"/>
                </a:solidFill>
                <a:latin typeface="JetBrains Mono Bold"/>
                <a:ea typeface="JetBrains Mono Bold"/>
                <a:cs typeface="JetBrains Mono Bold"/>
              </a:rPr>
              <a:t>02</a:t>
            </a:r>
          </a:p>
        </p:txBody>
      </p:sp>
      <p:sp>
        <p:nvSpPr>
          <p:cNvPr id="21" name="TextBox"/>
          <p:cNvSpPr txBox="1"/>
          <p:nvPr/>
        </p:nvSpPr>
        <p:spPr>
          <a:xfrm>
            <a:off x="9753600" y="4400550"/>
            <a:ext cx="2571750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025">
                <a:solidFill>
                  <a:srgbClr val="22394D"/>
                </a:solidFill>
                <a:latin typeface="Noto Sans SC"/>
                <a:ea typeface="Noto Sans SC"/>
                <a:cs typeface="Noto Sans SC"/>
              </a:rPr>
              <a:t>残差里混着未建模效应</a:t>
            </a:r>
          </a:p>
        </p:txBody>
      </p:sp>
      <p:sp>
        <p:nvSpPr>
          <p:cNvPr id="22" name="TextBox"/>
          <p:cNvSpPr txBox="1"/>
          <p:nvPr/>
        </p:nvSpPr>
        <p:spPr>
          <a:xfrm>
            <a:off x="9753600" y="4810125"/>
            <a:ext cx="44005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7A8B9B"/>
                </a:solidFill>
                <a:latin typeface="Noto Sans SC"/>
                <a:ea typeface="Noto Sans SC"/>
                <a:cs typeface="Noto Sans SC"/>
              </a:rPr>
              <a:t>摩擦、静摩擦、背隙、迟滞、温漂、纹波、死区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9144000" y="5324475"/>
            <a:ext cx="29718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950">
                <a:solidFill>
                  <a:srgbClr val="00A88F"/>
                </a:solidFill>
                <a:latin typeface="JetBrains Mono Bold"/>
                <a:ea typeface="JetBrains Mono Bold"/>
                <a:cs typeface="JetBrains Mono Bold"/>
              </a:rPr>
              <a:t>03</a:t>
            </a:r>
          </a:p>
        </p:txBody>
      </p:sp>
      <p:sp>
        <p:nvSpPr>
          <p:cNvPr id="24" name="TextBox"/>
          <p:cNvSpPr txBox="1"/>
          <p:nvPr/>
        </p:nvSpPr>
        <p:spPr>
          <a:xfrm>
            <a:off x="9753600" y="5324475"/>
            <a:ext cx="3857625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025">
                <a:solidFill>
                  <a:srgbClr val="22394D"/>
                </a:solidFill>
                <a:latin typeface="Noto Sans SC"/>
                <a:ea typeface="Noto Sans SC"/>
                <a:cs typeface="Noto Sans SC"/>
              </a:rPr>
              <a:t>异常检测只能判断「有没有碰撞」</a:t>
            </a:r>
          </a:p>
        </p:txBody>
      </p:sp>
      <p:sp>
        <p:nvSpPr>
          <p:cNvPr id="25" name="TextBox"/>
          <p:cNvSpPr txBox="1"/>
          <p:nvPr/>
        </p:nvSpPr>
        <p:spPr>
          <a:xfrm>
            <a:off x="9753600" y="5734050"/>
            <a:ext cx="31432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7A8B9B"/>
                </a:solidFill>
                <a:latin typeface="Noto Sans SC"/>
                <a:ea typeface="Noto Sans SC"/>
                <a:cs typeface="Noto Sans SC"/>
              </a:rPr>
              <a:t>拿不到方向与大小，无法用于控制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9144000" y="6248400"/>
            <a:ext cx="29718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950">
                <a:solidFill>
                  <a:srgbClr val="00A88F"/>
                </a:solidFill>
                <a:latin typeface="JetBrains Mono Bold"/>
                <a:ea typeface="JetBrains Mono Bold"/>
                <a:cs typeface="JetBrains Mono Bold"/>
              </a:rPr>
              <a:t>04</a:t>
            </a:r>
          </a:p>
        </p:txBody>
      </p:sp>
      <p:sp>
        <p:nvSpPr>
          <p:cNvPr id="27" name="TextBox"/>
          <p:cNvSpPr txBox="1"/>
          <p:nvPr/>
        </p:nvSpPr>
        <p:spPr>
          <a:xfrm>
            <a:off x="9753600" y="6248400"/>
            <a:ext cx="3086100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025">
                <a:solidFill>
                  <a:srgbClr val="22394D"/>
                </a:solidFill>
                <a:latin typeface="Noto Sans SC"/>
                <a:ea typeface="Noto Sans SC"/>
                <a:cs typeface="Noto Sans SC"/>
              </a:rPr>
              <a:t>监督式方法要额外接触标注</a:t>
            </a:r>
          </a:p>
        </p:txBody>
      </p:sp>
      <p:sp>
        <p:nvSpPr>
          <p:cNvPr id="28" name="TextBox"/>
          <p:cNvSpPr txBox="1"/>
          <p:nvPr/>
        </p:nvSpPr>
        <p:spPr>
          <a:xfrm>
            <a:off x="9753600" y="6657975"/>
            <a:ext cx="27241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7A8B9B"/>
                </a:solidFill>
                <a:latin typeface="Noto Sans SC"/>
                <a:ea typeface="Noto Sans SC"/>
                <a:cs typeface="Noto Sans SC"/>
              </a:rPr>
              <a:t>而高质量接触数据本身就难采</a:t>
            </a:r>
          </a:p>
        </p:txBody>
      </p:sp>
      <p:sp>
        <p:nvSpPr>
          <p:cNvPr id="29" name="Rectangle"/>
          <p:cNvSpPr/>
          <p:nvPr/>
        </p:nvSpPr>
        <p:spPr>
          <a:xfrm>
            <a:off x="1143000" y="8248650"/>
            <a:ext cx="38100" cy="6096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Box"/>
          <p:cNvSpPr txBox="1"/>
          <p:nvPr/>
        </p:nvSpPr>
        <p:spPr>
          <a:xfrm>
            <a:off x="1409700" y="8324850"/>
            <a:ext cx="8583073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250">
                <a:solidFill>
                  <a:srgbClr val="22394D"/>
                </a:solidFill>
                <a:latin typeface="Noto Sans SC"/>
                <a:ea typeface="Noto Sans SC"/>
                <a:cs typeface="Noto Sans SC"/>
              </a:rPr>
              <a:t>FACTR 2 </a:t>
            </a:r>
          </a:p>
        </p:txBody>
      </p:sp>
      <p:sp>
        <p:nvSpPr>
          <p:cNvPr id="31" name="TextBox"/>
          <p:cNvSpPr txBox="1"/>
          <p:nvPr/>
        </p:nvSpPr>
        <p:spPr>
          <a:xfrm>
            <a:off x="1143000" y="9429750"/>
            <a:ext cx="316336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8B9AA8"/>
                </a:solidFill>
                <a:latin typeface="Noto Sans SC"/>
                <a:ea typeface="Noto Sans SC"/>
                <a:cs typeface="Noto Sans SC"/>
              </a:rPr>
              <a:t>FACTR 2 · 论文解析与 Piper </a:t>
            </a:r>
          </a:p>
        </p:txBody>
      </p:sp>
      <p:sp>
        <p:nvSpPr>
          <p:cNvPr id="32" name="TextBox"/>
          <p:cNvSpPr txBox="1"/>
          <p:nvPr/>
        </p:nvSpPr>
        <p:spPr>
          <a:xfrm>
            <a:off x="16383000" y="9429750"/>
            <a:ext cx="70232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8B9AA8"/>
                </a:solidFill>
                <a:latin typeface="Inter"/>
                <a:ea typeface="Inter"/>
                <a:cs typeface="Inter"/>
              </a:rPr>
              <a:t>03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152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914400"/>
            <a:ext cx="148611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 spc="225">
                <a:solidFill>
                  <a:srgbClr val="00C2A8"/>
                </a:solidFill>
                <a:latin typeface="Noto Sans SC Bold"/>
                <a:ea typeface="Noto Sans SC Bold"/>
                <a:cs typeface="Noto Sans SC Bold"/>
              </a:rPr>
              <a:t>03 / 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428750"/>
            <a:ext cx="13815117" cy="800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4350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FACTR 2 = 一个会算外力的网络 + 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162050" y="2781300"/>
            <a:ext cx="7067684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950">
                <a:solidFill>
                  <a:srgbClr val="9FB2C4"/>
                </a:solidFill>
                <a:latin typeface="Noto Sans SC"/>
                <a:ea typeface="Noto Sans SC"/>
                <a:cs typeface="Noto Sans SC"/>
              </a:rPr>
              <a:t>NEXT 学会估计外部关节力矩；FIRST </a:t>
            </a:r>
          </a:p>
        </p:txBody>
      </p:sp>
      <p:pic>
        <p:nvPicPr>
          <p:cNvPr id="6" name="Image"/>
          <p:cNvPicPr>
            <a:picLocks noChangeAspect="1"/>
          </p:cNvPicPr>
          <p:nvPr/>
        </p:nvPicPr>
        <p:blipFill>
          <a:blip r:embed="rId2"/>
          <a:srcRect t="8" b="8"/>
          <a:stretch>
            <a:fillRect/>
          </a:stretch>
        </p:blipFill>
        <p:spPr>
          <a:xfrm>
            <a:off x="1143000" y="3543300"/>
            <a:ext cx="16002000" cy="5819775"/>
          </a:xfrm>
          <a:prstGeom prst="rect">
            <a:avLst/>
          </a:prstGeom>
        </p:spPr>
      </p:pic>
      <p:sp>
        <p:nvSpPr>
          <p:cNvPr id="7" name="TextBox"/>
          <p:cNvSpPr txBox="1"/>
          <p:nvPr/>
        </p:nvSpPr>
        <p:spPr>
          <a:xfrm>
            <a:off x="1181100" y="9620250"/>
            <a:ext cx="4222617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6C8093"/>
                </a:solidFill>
                <a:latin typeface="Inter"/>
                <a:ea typeface="Inter"/>
                <a:cs typeface="Inter"/>
              </a:rPr>
              <a:t>Figure 1 · Overview of our approach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6383000" y="914400"/>
            <a:ext cx="70805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4E6478"/>
                </a:solidFill>
                <a:latin typeface="Inter"/>
                <a:ea typeface="Inter"/>
                <a:cs typeface="Inter"/>
              </a:rPr>
              <a:t>04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914400"/>
            <a:ext cx="204892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 spc="225">
                <a:solidFill>
                  <a:srgbClr val="00806F"/>
                </a:solidFill>
                <a:latin typeface="Noto Sans SC Bold"/>
                <a:ea typeface="Noto Sans SC Bold"/>
                <a:cs typeface="Noto Sans SC Bold"/>
              </a:rPr>
              <a:t>04 / 方法 · NEXT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390650"/>
            <a:ext cx="10363200" cy="885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4800">
                <a:solidFill>
                  <a:srgbClr val="0F1B2A"/>
                </a:solidFill>
                <a:latin typeface="Noto Sans SC Bold"/>
                <a:ea typeface="Noto Sans SC Bold"/>
                <a:cs typeface="Noto Sans SC Bold"/>
              </a:rPr>
              <a:t>不算模型，直接学「自由空间那一半」</a:t>
            </a:r>
          </a:p>
        </p:txBody>
      </p:sp>
      <p:sp>
        <p:nvSpPr>
          <p:cNvPr id="5" name="Rectangle"/>
          <p:cNvSpPr/>
          <p:nvPr/>
        </p:nvSpPr>
        <p:spPr>
          <a:xfrm>
            <a:off x="1143000" y="2857500"/>
            <a:ext cx="8763000" cy="5143500"/>
          </a:xfrm>
          <a:prstGeom prst="roundRect">
            <a:avLst>
              <a:gd name="adj" fmla="val 3703"/>
            </a:avLst>
          </a:prstGeom>
          <a:solidFill>
            <a:srgbClr val="0F1B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"/>
          <p:cNvSpPr txBox="1"/>
          <p:nvPr/>
        </p:nvSpPr>
        <p:spPr>
          <a:xfrm>
            <a:off x="1562100" y="3276600"/>
            <a:ext cx="11620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 spc="225">
                <a:solidFill>
                  <a:srgbClr val="00C2A8"/>
                </a:solidFill>
                <a:latin typeface="Noto Sans SC Bold"/>
                <a:ea typeface="Noto Sans SC Bold"/>
                <a:cs typeface="Noto Sans SC Bold"/>
              </a:rPr>
              <a:t>核心恒等式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1562100" y="3771900"/>
            <a:ext cx="4572000" cy="504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3000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</a:rPr>
              <a:t>τ_ext = τ_m − f_θ(x)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562100" y="4467225"/>
            <a:ext cx="5314950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450"/>
              </a:lnSpc>
            </a:pPr>
            <a:r>
              <a:rPr lang="en-US" sz="2250">
                <a:solidFill>
                  <a:srgbClr val="C9D6E3"/>
                </a:solidFill>
                <a:latin typeface="JetBrains Mono"/>
                <a:ea typeface="JetBrains Mono"/>
                <a:cs typeface="JetBrains Mono"/>
              </a:rPr>
              <a:t>x_i = [ q , q̇ , Δq_d ]  i−H : i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1562100" y="5095875"/>
            <a:ext cx="6084354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450"/>
              </a:lnSpc>
            </a:pPr>
            <a:r>
              <a:rPr lang="en-US" sz="2250">
                <a:solidFill>
                  <a:srgbClr val="C9D6E3"/>
                </a:solidFill>
                <a:latin typeface="JetBrains Mono"/>
                <a:ea typeface="JetBrains Mono"/>
                <a:cs typeface="JetBrains Mono"/>
              </a:rPr>
              <a:t>L(θ) = 1/N · Σ ‖ f_θ(x_i) − τ_m,i ‖²</a:t>
            </a:r>
          </a:p>
        </p:txBody>
      </p:sp>
      <p:sp>
        <p:nvSpPr>
          <p:cNvPr id="10" name="Rectangle"/>
          <p:cNvSpPr/>
          <p:nvPr/>
        </p:nvSpPr>
        <p:spPr>
          <a:xfrm>
            <a:off x="1562100" y="5724525"/>
            <a:ext cx="6667500" cy="9525"/>
          </a:xfrm>
          <a:prstGeom prst="rect">
            <a:avLst/>
          </a:prstGeom>
          <a:solidFill>
            <a:srgbClr val="26455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"/>
          <p:cNvSpPr txBox="1"/>
          <p:nvPr/>
        </p:nvSpPr>
        <p:spPr>
          <a:xfrm>
            <a:off x="1562100" y="5924550"/>
            <a:ext cx="548640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700"/>
              </a:lnSpc>
            </a:pPr>
            <a:r>
              <a:rPr lang="zh-CN" sz="1800">
                <a:solidFill>
                  <a:srgbClr val="9FB2C4"/>
                </a:solidFill>
                <a:latin typeface="Noto Sans SC"/>
                <a:ea typeface="Noto Sans SC"/>
                <a:cs typeface="Noto Sans SC"/>
              </a:rPr>
              <a:t>网络只负责一件事：预测「没有外力时」的关节力矩。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1562100" y="6457950"/>
            <a:ext cx="5101591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3000"/>
              </a:lnSpc>
            </a:pPr>
            <a:r>
              <a:rPr lang="zh-CN" sz="1950">
                <a:solidFill>
                  <a:srgbClr val="8FA6BA"/>
                </a:solidFill>
                <a:latin typeface="JetBrains Mono"/>
                <a:ea typeface="JetBrains Mono"/>
                <a:cs typeface="JetBrains Mono"/>
              </a:rPr>
              <a:t>τ_m = K · I_m     （电流 × 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0477500" y="2857500"/>
            <a:ext cx="27432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00A88F"/>
                </a:solidFill>
                <a:latin typeface="JetBrains Mono Bold"/>
                <a:ea typeface="JetBrains Mono Bold"/>
                <a:cs typeface="JetBrains Mono Bold"/>
              </a:rPr>
              <a:t>01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11144250" y="2857500"/>
            <a:ext cx="1828800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400">
                <a:solidFill>
                  <a:srgbClr val="0F1B2A"/>
                </a:solidFill>
                <a:latin typeface="Noto Sans SC Bold"/>
                <a:ea typeface="Noto Sans SC Bold"/>
                <a:cs typeface="Noto Sans SC Bold"/>
              </a:rPr>
              <a:t>标签是免费的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11144250" y="3371850"/>
            <a:ext cx="5308778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700"/>
              </a:lnSpc>
            </a:pPr>
            <a:r>
              <a:rPr lang="en-US" sz="1800">
                <a:solidFill>
                  <a:srgbClr val="5D6F80"/>
                </a:solidFill>
                <a:latin typeface="Noto Sans SC"/>
                <a:ea typeface="Noto Sans SC"/>
                <a:cs typeface="Noto Sans SC"/>
              </a:rPr>
              <a:t>τ_m </a:t>
            </a:r>
          </a:p>
        </p:txBody>
      </p:sp>
      <p:sp>
        <p:nvSpPr>
          <p:cNvPr id="16" name="TextBox"/>
          <p:cNvSpPr txBox="1"/>
          <p:nvPr/>
        </p:nvSpPr>
        <p:spPr>
          <a:xfrm>
            <a:off x="10477500" y="4476750"/>
            <a:ext cx="27432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00A88F"/>
                </a:solidFill>
                <a:latin typeface="JetBrains Mono Bold"/>
                <a:ea typeface="JetBrains Mono Bold"/>
                <a:cs typeface="JetBrains Mono Bold"/>
              </a:rPr>
              <a:t>02</a:t>
            </a:r>
          </a:p>
        </p:txBody>
      </p:sp>
      <p:sp>
        <p:nvSpPr>
          <p:cNvPr id="17" name="TextBox"/>
          <p:cNvSpPr txBox="1"/>
          <p:nvPr/>
        </p:nvSpPr>
        <p:spPr>
          <a:xfrm>
            <a:off x="11144250" y="4476750"/>
            <a:ext cx="2743200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400">
                <a:solidFill>
                  <a:srgbClr val="0F1B2A"/>
                </a:solidFill>
                <a:latin typeface="Noto Sans SC Bold"/>
                <a:ea typeface="Noto Sans SC Bold"/>
                <a:cs typeface="Noto Sans SC Bold"/>
              </a:rPr>
              <a:t>难建模的，一次学掉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11144250" y="4991100"/>
            <a:ext cx="5613959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700"/>
              </a:lnSpc>
            </a:pPr>
            <a:r>
              <a:rPr lang="en-US" sz="1800">
                <a:solidFill>
                  <a:srgbClr val="5D6F80"/>
                </a:solidFill>
                <a:latin typeface="Noto Sans SC"/>
                <a:ea typeface="Noto Sans SC"/>
                <a:cs typeface="Noto Sans SC"/>
              </a:rPr>
              <a:t> 50 </a:t>
            </a:r>
          </a:p>
        </p:txBody>
      </p:sp>
      <p:sp>
        <p:nvSpPr>
          <p:cNvPr id="19" name="TextBox"/>
          <p:cNvSpPr txBox="1"/>
          <p:nvPr/>
        </p:nvSpPr>
        <p:spPr>
          <a:xfrm>
            <a:off x="10477500" y="6096000"/>
            <a:ext cx="27432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00A88F"/>
                </a:solidFill>
                <a:latin typeface="JetBrains Mono Bold"/>
                <a:ea typeface="JetBrains Mono Bold"/>
                <a:cs typeface="JetBrains Mono Bold"/>
              </a:rPr>
              <a:t>03</a:t>
            </a:r>
          </a:p>
        </p:txBody>
      </p:sp>
      <p:sp>
        <p:nvSpPr>
          <p:cNvPr id="20" name="TextBox"/>
          <p:cNvSpPr txBox="1"/>
          <p:nvPr/>
        </p:nvSpPr>
        <p:spPr>
          <a:xfrm>
            <a:off x="11144250" y="6096000"/>
            <a:ext cx="2438400" cy="438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400">
                <a:solidFill>
                  <a:srgbClr val="0F1B2A"/>
                </a:solidFill>
                <a:latin typeface="Noto Sans SC Bold"/>
                <a:ea typeface="Noto Sans SC Bold"/>
                <a:cs typeface="Noto Sans SC Bold"/>
              </a:rPr>
              <a:t>多一路执行器线索</a:t>
            </a:r>
          </a:p>
        </p:txBody>
      </p:sp>
      <p:sp>
        <p:nvSpPr>
          <p:cNvPr id="21" name="TextBox"/>
          <p:cNvSpPr txBox="1"/>
          <p:nvPr/>
        </p:nvSpPr>
        <p:spPr>
          <a:xfrm>
            <a:off x="11144250" y="6610350"/>
            <a:ext cx="5001768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700"/>
              </a:lnSpc>
            </a:pPr>
            <a:r>
              <a:rPr lang="en-US" sz="1800">
                <a:solidFill>
                  <a:srgbClr val="5D6F80"/>
                </a:solidFill>
                <a:latin typeface="Noto Sans SC"/>
                <a:ea typeface="Noto Sans SC"/>
                <a:cs typeface="Noto Sans SC"/>
              </a:rPr>
              <a:t>Δq_d = q_d − q</a:t>
            </a:r>
          </a:p>
        </p:txBody>
      </p:sp>
      <p:sp>
        <p:nvSpPr>
          <p:cNvPr id="22" name="Rectangle"/>
          <p:cNvSpPr/>
          <p:nvPr/>
        </p:nvSpPr>
        <p:spPr>
          <a:xfrm>
            <a:off x="10096500" y="2857500"/>
            <a:ext cx="9525" cy="4762500"/>
          </a:xfrm>
          <a:prstGeom prst="rect">
            <a:avLst/>
          </a:prstGeom>
          <a:solidFill>
            <a:srgbClr val="E0E6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Box"/>
          <p:cNvSpPr txBox="1"/>
          <p:nvPr/>
        </p:nvSpPr>
        <p:spPr>
          <a:xfrm>
            <a:off x="1143000" y="9429750"/>
            <a:ext cx="316336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8B9AA8"/>
                </a:solidFill>
                <a:latin typeface="Noto Sans SC"/>
                <a:ea typeface="Noto Sans SC"/>
                <a:cs typeface="Noto Sans SC"/>
              </a:rPr>
              <a:t>FACTR 2 · 论文解析与 Piper </a:t>
            </a:r>
          </a:p>
        </p:txBody>
      </p:sp>
      <p:sp>
        <p:nvSpPr>
          <p:cNvPr id="24" name="TextBox"/>
          <p:cNvSpPr txBox="1"/>
          <p:nvPr/>
        </p:nvSpPr>
        <p:spPr>
          <a:xfrm>
            <a:off x="16383000" y="9429750"/>
            <a:ext cx="697511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8B9AA8"/>
                </a:solidFill>
                <a:latin typeface="Inter"/>
                <a:ea typeface="Inter"/>
                <a:cs typeface="Inter"/>
              </a:rPr>
              <a:t>05 / 20</a:t>
            </a:r>
          </a:p>
        </p:txBody>
      </p:sp>
      <p:sp>
        <p:nvSpPr>
          <p:cNvPr id="25" name="TextBox"/>
          <p:cNvSpPr txBox="1"/>
          <p:nvPr/>
        </p:nvSpPr>
        <p:spPr>
          <a:xfrm>
            <a:off x="1162050" y="8420100"/>
            <a:ext cx="9009126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22394D"/>
                </a:solidFill>
                <a:latin typeface="Noto Sans SC"/>
                <a:ea typeface="Noto Sans SC"/>
                <a:cs typeface="Noto Sans SC"/>
              </a:rPr>
              <a:t> = 真实外力 + 未建模效应；NEXT </a:t>
            </a:r>
          </a:p>
        </p:txBody>
      </p:sp>
      <p:sp>
        <p:nvSpPr>
          <p:cNvPr id="26" name="Rectangle"/>
          <p:cNvSpPr/>
          <p:nvPr/>
        </p:nvSpPr>
        <p:spPr>
          <a:xfrm>
            <a:off x="1143000" y="8362950"/>
            <a:ext cx="38100" cy="5715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914400"/>
            <a:ext cx="204892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 spc="225">
                <a:solidFill>
                  <a:srgbClr val="00806F"/>
                </a:solidFill>
                <a:latin typeface="Noto Sans SC Bold"/>
                <a:ea typeface="Noto Sans SC Bold"/>
                <a:cs typeface="Noto Sans SC Bold"/>
              </a:rPr>
              <a:t>05 / 方法 · NEXT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390650"/>
            <a:ext cx="9332367" cy="885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4800">
                <a:solidFill>
                  <a:srgbClr val="0F1B2A"/>
                </a:solidFill>
                <a:latin typeface="Noto Sans SC Bold"/>
                <a:ea typeface="Noto Sans SC Bold"/>
                <a:cs typeface="Noto Sans SC Bold"/>
              </a:rPr>
              <a:t>1 分钟训练、100 Hz </a:t>
            </a:r>
          </a:p>
        </p:txBody>
      </p:sp>
      <p:sp>
        <p:nvSpPr>
          <p:cNvPr id="5" name="Rectangle"/>
          <p:cNvSpPr/>
          <p:nvPr/>
        </p:nvSpPr>
        <p:spPr>
          <a:xfrm>
            <a:off x="1143000" y="2857500"/>
            <a:ext cx="8382000" cy="4762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"/>
          <p:cNvSpPr txBox="1"/>
          <p:nvPr/>
        </p:nvSpPr>
        <p:spPr>
          <a:xfrm>
            <a:off x="1524000" y="3238500"/>
            <a:ext cx="244977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 spc="150">
                <a:solidFill>
                  <a:srgbClr val="8B9AA8"/>
                </a:solidFill>
                <a:latin typeface="Noto Sans SC Bold"/>
                <a:ea typeface="Noto Sans SC Bold"/>
                <a:cs typeface="Noto Sans SC Bold"/>
              </a:rPr>
              <a:t> · Figure 2</a:t>
            </a:r>
          </a:p>
        </p:txBody>
      </p:sp>
      <p:pic>
        <p:nvPicPr>
          <p:cNvPr id="7" name="Image"/>
          <p:cNvPicPr>
            <a:picLocks noChangeAspect="1"/>
          </p:cNvPicPr>
          <p:nvPr/>
        </p:nvPicPr>
        <p:blipFill>
          <a:blip r:embed="rId2"/>
          <a:srcRect t="19" b="19"/>
          <a:stretch>
            <a:fillRect/>
          </a:stretch>
        </p:blipFill>
        <p:spPr>
          <a:xfrm>
            <a:off x="1524000" y="3733800"/>
            <a:ext cx="7620000" cy="2190750"/>
          </a:xfrm>
          <a:prstGeom prst="rect">
            <a:avLst/>
          </a:prstGeom>
        </p:spPr>
      </p:pic>
      <p:sp>
        <p:nvSpPr>
          <p:cNvPr id="8" name="TextBox"/>
          <p:cNvSpPr txBox="1"/>
          <p:nvPr/>
        </p:nvSpPr>
        <p:spPr>
          <a:xfrm>
            <a:off x="1524000" y="6115050"/>
            <a:ext cx="5008626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700"/>
              </a:lnSpc>
            </a:pPr>
            <a:r>
              <a:rPr lang="zh-CN" sz="1800">
                <a:solidFill>
                  <a:srgbClr val="52657A"/>
                </a:solidFill>
                <a:latin typeface="Noto Sans SC"/>
                <a:ea typeface="Noto Sans SC"/>
                <a:cs typeface="Noto Sans SC"/>
              </a:rPr>
              <a:t> → τ_m → 减去 LSTM 预测的 τ_f → </a:t>
            </a:r>
          </a:p>
        </p:txBody>
      </p:sp>
      <p:sp>
        <p:nvSpPr>
          <p:cNvPr id="9" name="Rectangle"/>
          <p:cNvSpPr/>
          <p:nvPr/>
        </p:nvSpPr>
        <p:spPr>
          <a:xfrm>
            <a:off x="1147763" y="2862263"/>
            <a:ext cx="8372475" cy="4752975"/>
          </a:xfrm>
          <a:prstGeom prst="roundRect">
            <a:avLst>
              <a:gd name="adj" fmla="val 3907"/>
            </a:avLst>
          </a:prstGeom>
          <a:noFill/>
          <a:ln w="9525">
            <a:solidFill>
              <a:srgbClr val="E6EA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"/>
          <p:cNvSpPr txBox="1"/>
          <p:nvPr/>
        </p:nvSpPr>
        <p:spPr>
          <a:xfrm>
            <a:off x="10096500" y="3086100"/>
            <a:ext cx="91440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00">
                <a:solidFill>
                  <a:srgbClr val="7A8B9B"/>
                </a:solidFill>
                <a:latin typeface="Noto Sans SC"/>
                <a:ea typeface="Noto Sans SC"/>
                <a:cs typeface="Noto Sans SC"/>
              </a:rPr>
              <a:t>网络结构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13554075" y="3067050"/>
            <a:ext cx="3588449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950">
                <a:solidFill>
                  <a:srgbClr val="0F1B2A"/>
                </a:solidFill>
                <a:latin typeface="Noto Sans SC"/>
                <a:ea typeface="Noto Sans SC"/>
                <a:cs typeface="Noto Sans SC"/>
              </a:rPr>
              <a:t>2 层 LSTM(128) + 2 层 MLP(256)</a:t>
            </a:r>
          </a:p>
        </p:txBody>
      </p:sp>
      <p:sp>
        <p:nvSpPr>
          <p:cNvPr id="12" name="Rectangle"/>
          <p:cNvSpPr/>
          <p:nvPr/>
        </p:nvSpPr>
        <p:spPr>
          <a:xfrm>
            <a:off x="10096500" y="3638550"/>
            <a:ext cx="7048500" cy="9525"/>
          </a:xfrm>
          <a:prstGeom prst="rect">
            <a:avLst/>
          </a:prstGeom>
          <a:solidFill>
            <a:srgbClr val="E0E6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"/>
          <p:cNvSpPr txBox="1"/>
          <p:nvPr/>
        </p:nvSpPr>
        <p:spPr>
          <a:xfrm>
            <a:off x="10096500" y="3876675"/>
            <a:ext cx="91440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00">
                <a:solidFill>
                  <a:srgbClr val="7A8B9B"/>
                </a:solidFill>
                <a:latin typeface="Noto Sans SC"/>
                <a:ea typeface="Noto Sans SC"/>
                <a:cs typeface="Noto Sans SC"/>
              </a:rPr>
              <a:t>历史窗口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14658975" y="3857625"/>
            <a:ext cx="2479967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950">
                <a:solidFill>
                  <a:srgbClr val="0F1B2A"/>
                </a:solidFill>
                <a:latin typeface="Noto Sans SC"/>
                <a:ea typeface="Noto Sans SC"/>
                <a:cs typeface="Noto Sans SC"/>
              </a:rPr>
              <a:t>H = 50 步（≈ 0.5 </a:t>
            </a:r>
          </a:p>
        </p:txBody>
      </p:sp>
      <p:sp>
        <p:nvSpPr>
          <p:cNvPr id="15" name="Rectangle"/>
          <p:cNvSpPr/>
          <p:nvPr/>
        </p:nvSpPr>
        <p:spPr>
          <a:xfrm>
            <a:off x="10096500" y="4429125"/>
            <a:ext cx="7048500" cy="9525"/>
          </a:xfrm>
          <a:prstGeom prst="rect">
            <a:avLst/>
          </a:prstGeom>
          <a:solidFill>
            <a:srgbClr val="E0E6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"/>
          <p:cNvSpPr txBox="1"/>
          <p:nvPr/>
        </p:nvSpPr>
        <p:spPr>
          <a:xfrm>
            <a:off x="10096500" y="4667250"/>
            <a:ext cx="91440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00">
                <a:solidFill>
                  <a:srgbClr val="7A8B9B"/>
                </a:solidFill>
                <a:latin typeface="Noto Sans SC"/>
                <a:ea typeface="Noto Sans SC"/>
                <a:cs typeface="Noto Sans SC"/>
              </a:rPr>
              <a:t>训练数据</a:t>
            </a:r>
          </a:p>
        </p:txBody>
      </p:sp>
      <p:sp>
        <p:nvSpPr>
          <p:cNvPr id="17" name="TextBox"/>
          <p:cNvSpPr txBox="1"/>
          <p:nvPr/>
        </p:nvSpPr>
        <p:spPr>
          <a:xfrm>
            <a:off x="14068425" y="4648200"/>
            <a:ext cx="3067145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950">
                <a:solidFill>
                  <a:srgbClr val="0F1B2A"/>
                </a:solidFill>
                <a:latin typeface="Noto Sans SC"/>
                <a:ea typeface="Noto Sans SC"/>
                <a:cs typeface="Noto Sans SC"/>
              </a:rPr>
              <a:t>10 分钟自由运动，约 6 </a:t>
            </a:r>
          </a:p>
        </p:txBody>
      </p:sp>
      <p:sp>
        <p:nvSpPr>
          <p:cNvPr id="18" name="Rectangle"/>
          <p:cNvSpPr/>
          <p:nvPr/>
        </p:nvSpPr>
        <p:spPr>
          <a:xfrm>
            <a:off x="10096500" y="5219700"/>
            <a:ext cx="7048500" cy="9525"/>
          </a:xfrm>
          <a:prstGeom prst="rect">
            <a:avLst/>
          </a:prstGeom>
          <a:solidFill>
            <a:srgbClr val="E0E6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"/>
          <p:cNvSpPr txBox="1"/>
          <p:nvPr/>
        </p:nvSpPr>
        <p:spPr>
          <a:xfrm>
            <a:off x="10096500" y="5457825"/>
            <a:ext cx="91440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00">
                <a:solidFill>
                  <a:srgbClr val="7A8B9B"/>
                </a:solidFill>
                <a:latin typeface="Noto Sans SC"/>
                <a:ea typeface="Noto Sans SC"/>
                <a:cs typeface="Noto Sans SC"/>
              </a:rPr>
              <a:t>训练成本</a:t>
            </a:r>
          </a:p>
        </p:txBody>
      </p:sp>
      <p:sp>
        <p:nvSpPr>
          <p:cNvPr id="20" name="TextBox"/>
          <p:cNvSpPr txBox="1"/>
          <p:nvPr/>
        </p:nvSpPr>
        <p:spPr>
          <a:xfrm>
            <a:off x="14277975" y="5438775"/>
            <a:ext cx="2864320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950">
                <a:solidFill>
                  <a:srgbClr val="0F1B2A"/>
                </a:solidFill>
                <a:latin typeface="Noto Sans SC"/>
                <a:ea typeface="Noto Sans SC"/>
                <a:cs typeface="Noto Sans SC"/>
              </a:rPr>
              <a:t> RTX 3090，约 1 </a:t>
            </a:r>
          </a:p>
        </p:txBody>
      </p:sp>
      <p:sp>
        <p:nvSpPr>
          <p:cNvPr id="21" name="Rectangle"/>
          <p:cNvSpPr/>
          <p:nvPr/>
        </p:nvSpPr>
        <p:spPr>
          <a:xfrm>
            <a:off x="10096500" y="6010275"/>
            <a:ext cx="7048500" cy="9525"/>
          </a:xfrm>
          <a:prstGeom prst="rect">
            <a:avLst/>
          </a:prstGeom>
          <a:solidFill>
            <a:srgbClr val="E0E6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"/>
          <p:cNvSpPr txBox="1"/>
          <p:nvPr/>
        </p:nvSpPr>
        <p:spPr>
          <a:xfrm>
            <a:off x="10096500" y="6248400"/>
            <a:ext cx="91440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00">
                <a:solidFill>
                  <a:srgbClr val="7A8B9B"/>
                </a:solidFill>
                <a:latin typeface="Noto Sans SC"/>
                <a:ea typeface="Noto Sans SC"/>
                <a:cs typeface="Noto Sans SC"/>
              </a:rPr>
              <a:t>推理延迟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13506450" y="6229350"/>
            <a:ext cx="3631788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950">
                <a:solidFill>
                  <a:srgbClr val="0F1B2A"/>
                </a:solidFill>
                <a:latin typeface="Noto Sans SC"/>
                <a:ea typeface="Noto Sans SC"/>
                <a:cs typeface="Noto Sans SC"/>
              </a:rPr>
              <a:t>1.76 ms ≈ 568 Hz，实跑 100 Hz</a:t>
            </a:r>
          </a:p>
        </p:txBody>
      </p:sp>
      <p:sp>
        <p:nvSpPr>
          <p:cNvPr id="24" name="Rectangle"/>
          <p:cNvSpPr/>
          <p:nvPr/>
        </p:nvSpPr>
        <p:spPr>
          <a:xfrm>
            <a:off x="10096500" y="6800850"/>
            <a:ext cx="7048500" cy="9525"/>
          </a:xfrm>
          <a:prstGeom prst="rect">
            <a:avLst/>
          </a:prstGeom>
          <a:solidFill>
            <a:srgbClr val="E0E6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"/>
          <p:cNvSpPr/>
          <p:nvPr/>
        </p:nvSpPr>
        <p:spPr>
          <a:xfrm>
            <a:off x="1143000" y="8115300"/>
            <a:ext cx="38100" cy="6096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Box"/>
          <p:cNvSpPr txBox="1"/>
          <p:nvPr/>
        </p:nvSpPr>
        <p:spPr>
          <a:xfrm>
            <a:off x="1409700" y="8191500"/>
            <a:ext cx="6858000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250">
                <a:solidFill>
                  <a:srgbClr val="22394D"/>
                </a:solidFill>
                <a:latin typeface="Noto Sans SC"/>
                <a:ea typeface="Noto Sans SC"/>
                <a:cs typeface="Noto Sans SC"/>
              </a:rPr>
              <a:t>不需要力传感器、不需要负载标定、不需要系统辨识。</a:t>
            </a:r>
          </a:p>
        </p:txBody>
      </p:sp>
      <p:sp>
        <p:nvSpPr>
          <p:cNvPr id="27" name="TextBox"/>
          <p:cNvSpPr txBox="1"/>
          <p:nvPr/>
        </p:nvSpPr>
        <p:spPr>
          <a:xfrm>
            <a:off x="1143000" y="9429750"/>
            <a:ext cx="316336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8B9AA8"/>
                </a:solidFill>
                <a:latin typeface="Noto Sans SC"/>
                <a:ea typeface="Noto Sans SC"/>
                <a:cs typeface="Noto Sans SC"/>
              </a:rPr>
              <a:t>FACTR 2 · 论文解析与 Piper </a:t>
            </a:r>
          </a:p>
        </p:txBody>
      </p:sp>
      <p:sp>
        <p:nvSpPr>
          <p:cNvPr id="28" name="TextBox"/>
          <p:cNvSpPr txBox="1"/>
          <p:nvPr/>
        </p:nvSpPr>
        <p:spPr>
          <a:xfrm>
            <a:off x="16383000" y="9429750"/>
            <a:ext cx="701604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8B9AA8"/>
                </a:solidFill>
                <a:latin typeface="Inter"/>
                <a:ea typeface="Inter"/>
                <a:cs typeface="Inter"/>
              </a:rPr>
              <a:t>06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914400"/>
            <a:ext cx="211919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 spc="225">
                <a:solidFill>
                  <a:srgbClr val="00806F"/>
                </a:solidFill>
                <a:latin typeface="Noto Sans SC Bold"/>
                <a:ea typeface="Noto Sans SC Bold"/>
                <a:cs typeface="Noto Sans SC Bold"/>
              </a:rPr>
              <a:t>06 / 方法 · FIRST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390650"/>
            <a:ext cx="12153900" cy="800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4350">
                <a:solidFill>
                  <a:srgbClr val="0F1B2A"/>
                </a:solidFill>
                <a:latin typeface="Noto Sans SC Bold"/>
                <a:ea typeface="Noto Sans SC Bold"/>
                <a:cs typeface="Noto Sans SC Bold"/>
              </a:rPr>
              <a:t>用力矩把示教切成三段，再把「接触前」多喂几遍</a:t>
            </a:r>
          </a:p>
        </p:txBody>
      </p:sp>
      <p:pic>
        <p:nvPicPr>
          <p:cNvPr id="5" name="Image"/>
          <p:cNvPicPr>
            <a:picLocks noChangeAspect="1"/>
          </p:cNvPicPr>
          <p:nvPr/>
        </p:nvPicPr>
        <p:blipFill>
          <a:blip r:embed="rId2"/>
          <a:srcRect t="42" b="42"/>
          <a:stretch>
            <a:fillRect/>
          </a:stretch>
        </p:blipFill>
        <p:spPr>
          <a:xfrm>
            <a:off x="1143000" y="2857500"/>
            <a:ext cx="7620000" cy="4086225"/>
          </a:xfrm>
          <a:prstGeom prst="rect">
            <a:avLst/>
          </a:prstGeom>
        </p:spPr>
      </p:pic>
      <p:sp>
        <p:nvSpPr>
          <p:cNvPr id="6" name="TextBox"/>
          <p:cNvSpPr txBox="1"/>
          <p:nvPr/>
        </p:nvSpPr>
        <p:spPr>
          <a:xfrm>
            <a:off x="1162050" y="7124700"/>
            <a:ext cx="592984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7A8B9B"/>
                </a:solidFill>
                <a:latin typeface="Noto Sans SC"/>
                <a:ea typeface="Noto Sans SC"/>
                <a:cs typeface="Noto Sans SC"/>
              </a:rPr>
              <a:t>Figure 10 · 用 τ_ext 切出的三相标签：自由运动 / 接触前 / 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9525000" y="2857500"/>
            <a:ext cx="439083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500" spc="150">
                <a:solidFill>
                  <a:srgbClr val="8B9AA8"/>
                </a:solidFill>
                <a:latin typeface="Inter Bold"/>
                <a:ea typeface="Inter Bold"/>
                <a:cs typeface="Inter Bold"/>
              </a:rPr>
              <a:t>FIRST · FORCE-INFORMED RE-SAMPLING</a:t>
            </a:r>
          </a:p>
        </p:txBody>
      </p:sp>
      <p:sp>
        <p:nvSpPr>
          <p:cNvPr id="8" name="Rectangle"/>
          <p:cNvSpPr/>
          <p:nvPr/>
        </p:nvSpPr>
        <p:spPr>
          <a:xfrm>
            <a:off x="9525000" y="33337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0F1B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"/>
          <p:cNvSpPr txBox="1"/>
          <p:nvPr/>
        </p:nvSpPr>
        <p:spPr>
          <a:xfrm>
            <a:off x="9691320" y="3333750"/>
            <a:ext cx="8646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lang="en-US" sz="165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10134600" y="3333750"/>
            <a:ext cx="1866900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0F1B2A"/>
                </a:solidFill>
                <a:latin typeface="Noto Sans SC Bold"/>
                <a:ea typeface="Noto Sans SC Bold"/>
                <a:cs typeface="Noto Sans SC Bold"/>
              </a:rPr>
              <a:t>逐帧算接触分数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10134600" y="3762375"/>
            <a:ext cx="3555150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725">
                <a:solidFill>
                  <a:srgbClr val="5D6F80"/>
                </a:solidFill>
                <a:latin typeface="Noto Sans SC"/>
                <a:ea typeface="Noto Sans SC"/>
                <a:cs typeface="Noto Sans SC"/>
              </a:rPr>
              <a:t>f_t = ‖τ_ext,t‖₁：外力矩的 L1 </a:t>
            </a:r>
          </a:p>
        </p:txBody>
      </p:sp>
      <p:sp>
        <p:nvSpPr>
          <p:cNvPr id="12" name="Rectangle"/>
          <p:cNvSpPr/>
          <p:nvPr/>
        </p:nvSpPr>
        <p:spPr>
          <a:xfrm>
            <a:off x="9525000" y="42672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0F1B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"/>
          <p:cNvSpPr txBox="1"/>
          <p:nvPr/>
        </p:nvSpPr>
        <p:spPr>
          <a:xfrm>
            <a:off x="9670038" y="4267200"/>
            <a:ext cx="129025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lang="en-US" sz="165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10134600" y="4267200"/>
            <a:ext cx="2133600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0F1B2A"/>
                </a:solidFill>
                <a:latin typeface="Noto Sans SC Bold"/>
                <a:ea typeface="Noto Sans SC Bold"/>
                <a:cs typeface="Noto Sans SC Bold"/>
              </a:rPr>
              <a:t>双阈值滞回判接触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10134600" y="4695825"/>
            <a:ext cx="3481978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725">
                <a:solidFill>
                  <a:srgbClr val="5D6F80"/>
                </a:solidFill>
                <a:latin typeface="Noto Sans SC"/>
                <a:ea typeface="Noto Sans SC"/>
                <a:cs typeface="Noto Sans SC"/>
              </a:rPr>
              <a:t>T_high / T_low</a:t>
            </a:r>
          </a:p>
        </p:txBody>
      </p:sp>
      <p:sp>
        <p:nvSpPr>
          <p:cNvPr id="16" name="Rectangle"/>
          <p:cNvSpPr/>
          <p:nvPr/>
        </p:nvSpPr>
        <p:spPr>
          <a:xfrm>
            <a:off x="9525000" y="52006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0F1B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"/>
          <p:cNvSpPr txBox="1"/>
          <p:nvPr/>
        </p:nvSpPr>
        <p:spPr>
          <a:xfrm>
            <a:off x="9668145" y="5200650"/>
            <a:ext cx="13281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lang="en-US" sz="165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10134600" y="5200650"/>
            <a:ext cx="1333500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0F1B2A"/>
                </a:solidFill>
                <a:latin typeface="Noto Sans SC Bold"/>
                <a:ea typeface="Noto Sans SC Bold"/>
                <a:cs typeface="Noto Sans SC Bold"/>
              </a:rPr>
              <a:t>打三相标签</a:t>
            </a:r>
          </a:p>
        </p:txBody>
      </p:sp>
      <p:sp>
        <p:nvSpPr>
          <p:cNvPr id="19" name="TextBox"/>
          <p:cNvSpPr txBox="1"/>
          <p:nvPr/>
        </p:nvSpPr>
        <p:spPr>
          <a:xfrm>
            <a:off x="10134600" y="5629275"/>
            <a:ext cx="3824831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725">
                <a:solidFill>
                  <a:srgbClr val="5D6F80"/>
                </a:solidFill>
                <a:latin typeface="Noto Sans SC"/>
                <a:ea typeface="Noto Sans SC"/>
                <a:cs typeface="Noto Sans SC"/>
              </a:rPr>
              <a:t> / 接触前（起点前 1 秒）/ </a:t>
            </a:r>
          </a:p>
        </p:txBody>
      </p:sp>
      <p:sp>
        <p:nvSpPr>
          <p:cNvPr id="20" name="Rectangle"/>
          <p:cNvSpPr/>
          <p:nvPr/>
        </p:nvSpPr>
        <p:spPr>
          <a:xfrm>
            <a:off x="9525000" y="61341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00A88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"/>
          <p:cNvSpPr txBox="1"/>
          <p:nvPr/>
        </p:nvSpPr>
        <p:spPr>
          <a:xfrm>
            <a:off x="9664615" y="6134100"/>
            <a:ext cx="139871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lang="en-US" sz="165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4</a:t>
            </a:r>
          </a:p>
        </p:txBody>
      </p:sp>
      <p:sp>
        <p:nvSpPr>
          <p:cNvPr id="22" name="TextBox"/>
          <p:cNvSpPr txBox="1"/>
          <p:nvPr/>
        </p:nvSpPr>
        <p:spPr>
          <a:xfrm>
            <a:off x="10134600" y="6134100"/>
            <a:ext cx="1866900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0F1B2A"/>
                </a:solidFill>
                <a:latin typeface="Noto Sans SC Bold"/>
                <a:ea typeface="Noto Sans SC Bold"/>
                <a:cs typeface="Noto Sans SC Bold"/>
              </a:rPr>
              <a:t>按权重重新采样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10134600" y="6562725"/>
            <a:ext cx="4624673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725">
                <a:solidFill>
                  <a:srgbClr val="5D6F80"/>
                </a:solidFill>
                <a:latin typeface="Noto Sans SC"/>
                <a:ea typeface="Noto Sans SC"/>
                <a:cs typeface="Noto Sans SC"/>
              </a:rPr>
              <a:t> p_t = w(s_t) / Σ w(s_j)</a:t>
            </a:r>
          </a:p>
        </p:txBody>
      </p:sp>
      <p:sp>
        <p:nvSpPr>
          <p:cNvPr id="24" name="Rectangle"/>
          <p:cNvSpPr/>
          <p:nvPr/>
        </p:nvSpPr>
        <p:spPr>
          <a:xfrm>
            <a:off x="9525000" y="7239000"/>
            <a:ext cx="7429500" cy="1524000"/>
          </a:xfrm>
          <a:prstGeom prst="roundRect">
            <a:avLst>
              <a:gd name="adj" fmla="val 10000"/>
            </a:avLst>
          </a:prstGeom>
          <a:solidFill>
            <a:srgbClr val="0F1B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"/>
          <p:cNvSpPr txBox="1"/>
          <p:nvPr/>
        </p:nvSpPr>
        <p:spPr>
          <a:xfrm>
            <a:off x="9772650" y="7486650"/>
            <a:ext cx="2942082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500">
                <a:solidFill>
                  <a:srgbClr val="8FA6BA"/>
                </a:solidFill>
                <a:latin typeface="Noto Sans SC"/>
                <a:ea typeface="Noto Sans SC"/>
                <a:cs typeface="Noto Sans SC"/>
              </a:rPr>
              <a:t>  w_F : w_PC : w_C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9772650" y="7820025"/>
            <a:ext cx="2263140" cy="5524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3300">
                <a:solidFill>
                  <a:srgbClr val="FFB020"/>
                </a:solidFill>
                <a:latin typeface="JetBrains Mono Bold"/>
                <a:ea typeface="JetBrains Mono Bold"/>
                <a:cs typeface="JetBrains Mono Bold"/>
              </a:rPr>
              <a:t>1 : 5 : 1</a:t>
            </a:r>
          </a:p>
        </p:txBody>
      </p:sp>
      <p:sp>
        <p:nvSpPr>
          <p:cNvPr id="27" name="TextBox"/>
          <p:cNvSpPr txBox="1"/>
          <p:nvPr/>
        </p:nvSpPr>
        <p:spPr>
          <a:xfrm>
            <a:off x="9772650" y="8429625"/>
            <a:ext cx="3468634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575">
                <a:solidFill>
                  <a:srgbClr val="A9BACB"/>
                </a:solidFill>
                <a:latin typeface="Noto Sans SC"/>
                <a:ea typeface="Noto Sans SC"/>
                <a:cs typeface="Noto Sans SC"/>
              </a:rPr>
              <a:t> 1 : 3 : 3</a:t>
            </a:r>
          </a:p>
        </p:txBody>
      </p:sp>
      <p:sp>
        <p:nvSpPr>
          <p:cNvPr id="28" name="TextBox"/>
          <p:cNvSpPr txBox="1"/>
          <p:nvPr/>
        </p:nvSpPr>
        <p:spPr>
          <a:xfrm>
            <a:off x="1143000" y="9429750"/>
            <a:ext cx="316336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8B9AA8"/>
                </a:solidFill>
                <a:latin typeface="Noto Sans SC"/>
                <a:ea typeface="Noto Sans SC"/>
                <a:cs typeface="Noto Sans SC"/>
              </a:rPr>
              <a:t>FACTR 2 · 论文解析与 Piper </a:t>
            </a:r>
          </a:p>
        </p:txBody>
      </p:sp>
      <p:sp>
        <p:nvSpPr>
          <p:cNvPr id="29" name="TextBox"/>
          <p:cNvSpPr txBox="1"/>
          <p:nvPr/>
        </p:nvSpPr>
        <p:spPr>
          <a:xfrm>
            <a:off x="16383000" y="9429750"/>
            <a:ext cx="680321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8B9AA8"/>
                </a:solidFill>
                <a:latin typeface="Inter"/>
                <a:ea typeface="Inter"/>
                <a:cs typeface="Inter"/>
              </a:rPr>
              <a:t>07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914400"/>
            <a:ext cx="259047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 spc="225">
                <a:solidFill>
                  <a:srgbClr val="00806F"/>
                </a:solidFill>
                <a:latin typeface="Noto Sans SC Bold"/>
                <a:ea typeface="Noto Sans SC Bold"/>
                <a:cs typeface="Noto Sans SC Bold"/>
              </a:rPr>
              <a:t>07 / 实验 · 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390650"/>
            <a:ext cx="11056316" cy="885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4800">
                <a:solidFill>
                  <a:srgbClr val="0F1B2A"/>
                </a:solidFill>
                <a:latin typeface="Noto Sans SC Bold"/>
                <a:ea typeface="Noto Sans SC Bold"/>
                <a:cs typeface="Noto Sans SC Bold"/>
              </a:rPr>
              <a:t> 0.547 Nm，比最强基线低 62.8%</a:t>
            </a:r>
          </a:p>
        </p:txBody>
      </p:sp>
      <p:sp>
        <p:nvSpPr>
          <p:cNvPr id="5" name="Rectangle"/>
          <p:cNvSpPr/>
          <p:nvPr/>
        </p:nvSpPr>
        <p:spPr>
          <a:xfrm>
            <a:off x="1143000" y="2857500"/>
            <a:ext cx="9525000" cy="49530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"/>
          <p:cNvSpPr txBox="1"/>
          <p:nvPr/>
        </p:nvSpPr>
        <p:spPr>
          <a:xfrm>
            <a:off x="1524000" y="3200400"/>
            <a:ext cx="414971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7A8B9B"/>
                </a:solidFill>
                <a:latin typeface="Noto Sans SC"/>
                <a:ea typeface="Noto Sans SC"/>
                <a:cs typeface="Noto Sans SC"/>
              </a:rPr>
              <a:t>Franka · 接触段 L1 误差（Nm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1524000" y="4019550"/>
            <a:ext cx="582485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950">
                <a:solidFill>
                  <a:srgbClr val="52657A"/>
                </a:solidFill>
                <a:latin typeface="Inter"/>
                <a:ea typeface="Inter"/>
                <a:cs typeface="Inter"/>
              </a:rPr>
              <a:t>FILIC</a:t>
            </a:r>
          </a:p>
        </p:txBody>
      </p:sp>
      <p:sp>
        <p:nvSpPr>
          <p:cNvPr id="8" name="Rectangle"/>
          <p:cNvSpPr/>
          <p:nvPr/>
        </p:nvSpPr>
        <p:spPr>
          <a:xfrm>
            <a:off x="3143250" y="3981450"/>
            <a:ext cx="5143500" cy="342900"/>
          </a:xfrm>
          <a:prstGeom prst="roundRect">
            <a:avLst>
              <a:gd name="adj" fmla="val 16666"/>
            </a:avLst>
          </a:prstGeom>
          <a:solidFill>
            <a:srgbClr val="D7DFE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"/>
          <p:cNvSpPr txBox="1"/>
          <p:nvPr/>
        </p:nvSpPr>
        <p:spPr>
          <a:xfrm>
            <a:off x="8477250" y="3962400"/>
            <a:ext cx="761116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250">
                <a:solidFill>
                  <a:srgbClr val="52657A"/>
                </a:solidFill>
                <a:latin typeface="Inter Bold"/>
                <a:ea typeface="Inter Bold"/>
                <a:cs typeface="Inter Bold"/>
              </a:rPr>
              <a:t>4.395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1524000" y="5143500"/>
            <a:ext cx="114300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00">
                <a:solidFill>
                  <a:srgbClr val="52657A"/>
                </a:solidFill>
                <a:latin typeface="Noto Sans SC"/>
                <a:ea typeface="Noto Sans SC"/>
                <a:cs typeface="Noto Sans SC"/>
              </a:rPr>
              <a:t>扰动观测器</a:t>
            </a:r>
          </a:p>
        </p:txBody>
      </p:sp>
      <p:sp>
        <p:nvSpPr>
          <p:cNvPr id="11" name="Rectangle"/>
          <p:cNvSpPr/>
          <p:nvPr/>
        </p:nvSpPr>
        <p:spPr>
          <a:xfrm>
            <a:off x="3143250" y="5105400"/>
            <a:ext cx="1724025" cy="342900"/>
          </a:xfrm>
          <a:prstGeom prst="roundRect">
            <a:avLst>
              <a:gd name="adj" fmla="val 16666"/>
            </a:avLst>
          </a:prstGeom>
          <a:solidFill>
            <a:srgbClr val="A9BAC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"/>
          <p:cNvSpPr txBox="1"/>
          <p:nvPr/>
        </p:nvSpPr>
        <p:spPr>
          <a:xfrm>
            <a:off x="8477250" y="5086350"/>
            <a:ext cx="618381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250">
                <a:solidFill>
                  <a:srgbClr val="52657A"/>
                </a:solidFill>
                <a:latin typeface="Inter Bold"/>
                <a:ea typeface="Inter Bold"/>
                <a:cs typeface="Inter Bold"/>
              </a:rPr>
              <a:t>1.471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524000" y="6267450"/>
            <a:ext cx="665922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950">
                <a:solidFill>
                  <a:srgbClr val="0F1B2A"/>
                </a:solidFill>
                <a:latin typeface="Inter Bold"/>
                <a:ea typeface="Inter Bold"/>
                <a:cs typeface="Inter Bold"/>
              </a:rPr>
              <a:t>NEXT</a:t>
            </a:r>
          </a:p>
        </p:txBody>
      </p:sp>
      <p:sp>
        <p:nvSpPr>
          <p:cNvPr id="14" name="Rectangle"/>
          <p:cNvSpPr/>
          <p:nvPr/>
        </p:nvSpPr>
        <p:spPr>
          <a:xfrm>
            <a:off x="3143250" y="6229350"/>
            <a:ext cx="638175" cy="342900"/>
          </a:xfrm>
          <a:prstGeom prst="roundRect">
            <a:avLst>
              <a:gd name="adj" fmla="val 16666"/>
            </a:avLst>
          </a:prstGeom>
          <a:solidFill>
            <a:srgbClr val="00A88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"/>
          <p:cNvSpPr txBox="1"/>
          <p:nvPr/>
        </p:nvSpPr>
        <p:spPr>
          <a:xfrm>
            <a:off x="8477250" y="6191250"/>
            <a:ext cx="847260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550">
                <a:solidFill>
                  <a:srgbClr val="00806F"/>
                </a:solidFill>
                <a:latin typeface="Inter Bold"/>
                <a:ea typeface="Inter Bold"/>
                <a:cs typeface="Inter Bold"/>
              </a:rPr>
              <a:t>0.547</a:t>
            </a:r>
          </a:p>
        </p:txBody>
      </p:sp>
      <p:sp>
        <p:nvSpPr>
          <p:cNvPr id="16" name="Rectangle"/>
          <p:cNvSpPr/>
          <p:nvPr/>
        </p:nvSpPr>
        <p:spPr>
          <a:xfrm>
            <a:off x="3143250" y="6953250"/>
            <a:ext cx="5143500" cy="9525"/>
          </a:xfrm>
          <a:prstGeom prst="rect">
            <a:avLst/>
          </a:prstGeom>
          <a:solidFill>
            <a:srgbClr val="E0E6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"/>
          <p:cNvSpPr txBox="1"/>
          <p:nvPr/>
        </p:nvSpPr>
        <p:spPr>
          <a:xfrm>
            <a:off x="1524000" y="7181850"/>
            <a:ext cx="633385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7A8B9B"/>
                </a:solidFill>
                <a:latin typeface="Noto Sans SC"/>
                <a:ea typeface="Noto Sans SC"/>
                <a:cs typeface="Noto Sans SC"/>
              </a:rPr>
              <a:t>FILIC 与扰动观测器都偏大，NEXT </a:t>
            </a:r>
          </a:p>
        </p:txBody>
      </p:sp>
      <p:sp>
        <p:nvSpPr>
          <p:cNvPr id="18" name="Rectangle"/>
          <p:cNvSpPr/>
          <p:nvPr/>
        </p:nvSpPr>
        <p:spPr>
          <a:xfrm>
            <a:off x="1147763" y="2862263"/>
            <a:ext cx="9515475" cy="4943475"/>
          </a:xfrm>
          <a:prstGeom prst="roundRect">
            <a:avLst>
              <a:gd name="adj" fmla="val 3757"/>
            </a:avLst>
          </a:prstGeom>
          <a:noFill/>
          <a:ln w="9525">
            <a:solidFill>
              <a:srgbClr val="E6EA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"/>
          <p:cNvSpPr/>
          <p:nvPr/>
        </p:nvSpPr>
        <p:spPr>
          <a:xfrm>
            <a:off x="11049000" y="2857500"/>
            <a:ext cx="5715000" cy="4953000"/>
          </a:xfrm>
          <a:prstGeom prst="roundRect">
            <a:avLst>
              <a:gd name="adj" fmla="val 3846"/>
            </a:avLst>
          </a:prstGeom>
          <a:solidFill>
            <a:srgbClr val="0F1B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"/>
          <p:cNvSpPr txBox="1"/>
          <p:nvPr/>
        </p:nvSpPr>
        <p:spPr>
          <a:xfrm>
            <a:off x="11430000" y="3219450"/>
            <a:ext cx="291651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8FA6BA"/>
                </a:solidFill>
                <a:latin typeface="Noto Sans SC"/>
                <a:ea typeface="Noto Sans SC"/>
                <a:cs typeface="Noto Sans SC"/>
              </a:rPr>
              <a:t>Piper · </a:t>
            </a:r>
          </a:p>
        </p:txBody>
      </p:sp>
      <p:sp>
        <p:nvSpPr>
          <p:cNvPr id="21" name="TextBox"/>
          <p:cNvSpPr txBox="1"/>
          <p:nvPr/>
        </p:nvSpPr>
        <p:spPr>
          <a:xfrm>
            <a:off x="11391900" y="3676650"/>
            <a:ext cx="2467310" cy="1200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7800">
                <a:solidFill>
                  <a:srgbClr val="FFB020"/>
                </a:solidFill>
                <a:latin typeface="Inter Bold"/>
                <a:ea typeface="Inter Bold"/>
                <a:cs typeface="Inter Bold"/>
              </a:rPr>
              <a:t>0.018</a:t>
            </a:r>
          </a:p>
        </p:txBody>
      </p:sp>
      <p:sp>
        <p:nvSpPr>
          <p:cNvPr id="22" name="TextBox"/>
          <p:cNvSpPr txBox="1"/>
          <p:nvPr/>
        </p:nvSpPr>
        <p:spPr>
          <a:xfrm>
            <a:off x="14478000" y="4305300"/>
            <a:ext cx="45067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250">
                <a:solidFill>
                  <a:srgbClr val="FFB020"/>
                </a:solidFill>
                <a:latin typeface="Inter"/>
                <a:ea typeface="Inter"/>
                <a:cs typeface="Inter"/>
              </a:rPr>
              <a:t>Nm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11430000" y="4953000"/>
            <a:ext cx="370547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A9BACB"/>
                </a:solidFill>
                <a:latin typeface="Noto Sans SC"/>
                <a:ea typeface="Noto Sans SC"/>
                <a:cs typeface="Noto Sans SC"/>
              </a:rPr>
              <a:t>NEXT </a:t>
            </a:r>
          </a:p>
        </p:txBody>
      </p:sp>
      <p:sp>
        <p:nvSpPr>
          <p:cNvPr id="24" name="Rectangle"/>
          <p:cNvSpPr/>
          <p:nvPr/>
        </p:nvSpPr>
        <p:spPr>
          <a:xfrm>
            <a:off x="11430000" y="5448300"/>
            <a:ext cx="4953000" cy="9525"/>
          </a:xfrm>
          <a:prstGeom prst="rect">
            <a:avLst/>
          </a:prstGeom>
          <a:solidFill>
            <a:srgbClr val="26455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"/>
          <p:cNvSpPr txBox="1"/>
          <p:nvPr/>
        </p:nvSpPr>
        <p:spPr>
          <a:xfrm>
            <a:off x="11430000" y="5638800"/>
            <a:ext cx="540916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8FA6BA"/>
                </a:solidFill>
                <a:latin typeface="Inter"/>
                <a:ea typeface="Inter"/>
                <a:cs typeface="Inter"/>
              </a:rPr>
              <a:t>FILIC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15701479" y="5619750"/>
            <a:ext cx="681521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950">
                <a:solidFill>
                  <a:srgbClr val="C9D6E3"/>
                </a:solidFill>
                <a:latin typeface="Inter Bold"/>
                <a:ea typeface="Inter Bold"/>
                <a:cs typeface="Inter Bold"/>
              </a:rPr>
              <a:t>0.435</a:t>
            </a:r>
          </a:p>
        </p:txBody>
      </p:sp>
      <p:sp>
        <p:nvSpPr>
          <p:cNvPr id="27" name="Rectangle"/>
          <p:cNvSpPr/>
          <p:nvPr/>
        </p:nvSpPr>
        <p:spPr>
          <a:xfrm>
            <a:off x="11430000" y="6134100"/>
            <a:ext cx="4953000" cy="9525"/>
          </a:xfrm>
          <a:prstGeom prst="rect">
            <a:avLst/>
          </a:prstGeom>
          <a:solidFill>
            <a:srgbClr val="26455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Box"/>
          <p:cNvSpPr txBox="1"/>
          <p:nvPr/>
        </p:nvSpPr>
        <p:spPr>
          <a:xfrm>
            <a:off x="11430000" y="6324600"/>
            <a:ext cx="114300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00">
                <a:solidFill>
                  <a:srgbClr val="8FA6BA"/>
                </a:solidFill>
                <a:latin typeface="Noto Sans SC"/>
                <a:ea typeface="Noto Sans SC"/>
                <a:cs typeface="Noto Sans SC"/>
              </a:rPr>
              <a:t>扰动观测器</a:t>
            </a:r>
          </a:p>
        </p:txBody>
      </p:sp>
      <p:sp>
        <p:nvSpPr>
          <p:cNvPr id="29" name="TextBox"/>
          <p:cNvSpPr txBox="1"/>
          <p:nvPr/>
        </p:nvSpPr>
        <p:spPr>
          <a:xfrm>
            <a:off x="15706316" y="6305550"/>
            <a:ext cx="676684" cy="295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950">
                <a:solidFill>
                  <a:srgbClr val="C9D6E3"/>
                </a:solidFill>
                <a:latin typeface="Inter Bold"/>
                <a:ea typeface="Inter Bold"/>
                <a:cs typeface="Inter Bold"/>
              </a:rPr>
              <a:t>0.248</a:t>
            </a:r>
          </a:p>
        </p:txBody>
      </p:sp>
      <p:sp>
        <p:nvSpPr>
          <p:cNvPr id="30" name="Rectangle"/>
          <p:cNvSpPr/>
          <p:nvPr/>
        </p:nvSpPr>
        <p:spPr>
          <a:xfrm>
            <a:off x="11430000" y="6819900"/>
            <a:ext cx="4953000" cy="9525"/>
          </a:xfrm>
          <a:prstGeom prst="rect">
            <a:avLst/>
          </a:prstGeom>
          <a:solidFill>
            <a:srgbClr val="26455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Box"/>
          <p:cNvSpPr txBox="1"/>
          <p:nvPr/>
        </p:nvSpPr>
        <p:spPr>
          <a:xfrm>
            <a:off x="11430000" y="7162800"/>
            <a:ext cx="3338017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575">
                <a:solidFill>
                  <a:srgbClr val="6C8093"/>
                </a:solidFill>
                <a:latin typeface="Noto Sans SC"/>
                <a:ea typeface="Noto Sans SC"/>
                <a:cs typeface="Noto Sans SC"/>
              </a:rPr>
              <a:t> 93%  ·  论文 Table 5</a:t>
            </a:r>
          </a:p>
        </p:txBody>
      </p:sp>
      <p:sp>
        <p:nvSpPr>
          <p:cNvPr id="32" name="TextBox"/>
          <p:cNvSpPr txBox="1"/>
          <p:nvPr/>
        </p:nvSpPr>
        <p:spPr>
          <a:xfrm>
            <a:off x="1162050" y="8286750"/>
            <a:ext cx="9620404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22394D"/>
                </a:solidFill>
                <a:latin typeface="Noto Sans SC"/>
                <a:ea typeface="Noto Sans SC"/>
                <a:cs typeface="Noto Sans SC"/>
              </a:rPr>
              <a:t>NEXT 甚至比 Franka 自带的力矩传感器更贴零（0.414 vs 0.449</a:t>
            </a:r>
          </a:p>
        </p:txBody>
      </p:sp>
      <p:sp>
        <p:nvSpPr>
          <p:cNvPr id="33" name="TextBox"/>
          <p:cNvSpPr txBox="1"/>
          <p:nvPr/>
        </p:nvSpPr>
        <p:spPr>
          <a:xfrm>
            <a:off x="1143000" y="9429750"/>
            <a:ext cx="316336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8B9AA8"/>
                </a:solidFill>
                <a:latin typeface="Noto Sans SC"/>
                <a:ea typeface="Noto Sans SC"/>
                <a:cs typeface="Noto Sans SC"/>
              </a:rPr>
              <a:t>FACTR 2 · 论文解析与 Piper </a:t>
            </a:r>
          </a:p>
        </p:txBody>
      </p:sp>
      <p:sp>
        <p:nvSpPr>
          <p:cNvPr id="34" name="TextBox"/>
          <p:cNvSpPr txBox="1"/>
          <p:nvPr/>
        </p:nvSpPr>
        <p:spPr>
          <a:xfrm>
            <a:off x="16383000" y="9429750"/>
            <a:ext cx="701399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8B9AA8"/>
                </a:solidFill>
                <a:latin typeface="Inter"/>
                <a:ea typeface="Inter"/>
                <a:cs typeface="Inter"/>
              </a:rPr>
              <a:t>08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914400"/>
            <a:ext cx="282860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 spc="225">
                <a:solidFill>
                  <a:srgbClr val="00806F"/>
                </a:solidFill>
                <a:latin typeface="Noto Sans SC Bold"/>
                <a:ea typeface="Noto Sans SC Bold"/>
                <a:cs typeface="Noto Sans SC Bold"/>
              </a:rPr>
              <a:t>08 / 实验 · 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390650"/>
            <a:ext cx="10496341" cy="742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4050">
                <a:solidFill>
                  <a:srgbClr val="0F1B2A"/>
                </a:solidFill>
                <a:latin typeface="Noto Sans SC Bold"/>
                <a:ea typeface="Noto Sans SC Bold"/>
                <a:cs typeface="Noto Sans SC Bold"/>
              </a:rPr>
              <a:t>20 </a:t>
            </a:r>
          </a:p>
        </p:txBody>
      </p:sp>
      <p:pic>
        <p:nvPicPr>
          <p:cNvPr id="5" name="Image"/>
          <p:cNvPicPr>
            <a:picLocks noChangeAspect="1"/>
          </p:cNvPicPr>
          <p:nvPr/>
        </p:nvPicPr>
        <p:blipFill>
          <a:blip r:embed="rId2"/>
          <a:srcRect t="19" b="19"/>
          <a:stretch>
            <a:fillRect/>
          </a:stretch>
        </p:blipFill>
        <p:spPr>
          <a:xfrm>
            <a:off x="10287000" y="3048000"/>
            <a:ext cx="5905500" cy="4143375"/>
          </a:xfrm>
          <a:prstGeom prst="rect">
            <a:avLst/>
          </a:prstGeom>
        </p:spPr>
      </p:pic>
      <p:sp>
        <p:nvSpPr>
          <p:cNvPr id="6" name="TextBox"/>
          <p:cNvSpPr txBox="1"/>
          <p:nvPr/>
        </p:nvSpPr>
        <p:spPr>
          <a:xfrm>
            <a:off x="10306050" y="7353300"/>
            <a:ext cx="332073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7A8B9B"/>
                </a:solidFill>
                <a:latin typeface="Noto Sans SC"/>
                <a:ea typeface="Noto Sans SC"/>
                <a:cs typeface="Noto Sans SC"/>
              </a:rPr>
              <a:t>Figure 9 · Piper 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1143000" y="2381250"/>
            <a:ext cx="523466" cy="504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3300">
                <a:solidFill>
                  <a:srgbClr val="0F1B2A"/>
                </a:solidFill>
                <a:latin typeface="Inter Bold"/>
                <a:ea typeface="Inter Bold"/>
                <a:cs typeface="Inter Bold"/>
              </a:rPr>
              <a:t>20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143000" y="2905125"/>
            <a:ext cx="6286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7A8B9B"/>
                </a:solidFill>
                <a:latin typeface="Noto Sans SC"/>
                <a:ea typeface="Noto Sans SC"/>
                <a:cs typeface="Noto Sans SC"/>
              </a:rPr>
              <a:t>名被试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3048000" y="2381250"/>
            <a:ext cx="251501" cy="504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3300">
                <a:solidFill>
                  <a:srgbClr val="0F1B2A"/>
                </a:solidFill>
                <a:latin typeface="Inter Bold"/>
                <a:ea typeface="Inter Bold"/>
                <a:cs typeface="Inter Bold"/>
              </a:rPr>
              <a:t>5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3048000" y="2905125"/>
            <a:ext cx="10477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7A8B9B"/>
                </a:solidFill>
                <a:latin typeface="Noto Sans SC"/>
                <a:ea typeface="Noto Sans SC"/>
                <a:cs typeface="Noto Sans SC"/>
              </a:rPr>
              <a:t>种反馈条件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5334000" y="2381250"/>
            <a:ext cx="624353" cy="504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3300">
                <a:solidFill>
                  <a:srgbClr val="0F1B2A"/>
                </a:solidFill>
                <a:latin typeface="Inter Bold"/>
                <a:ea typeface="Inter Bold"/>
                <a:cs typeface="Inter Bold"/>
              </a:rPr>
              <a:t>1–5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5334000" y="2905125"/>
            <a:ext cx="10477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7A8B9B"/>
                </a:solidFill>
                <a:latin typeface="Noto Sans SC"/>
                <a:ea typeface="Noto Sans SC"/>
                <a:cs typeface="Noto Sans SC"/>
              </a:rPr>
              <a:t>易用性评分</a:t>
            </a:r>
          </a:p>
        </p:txBody>
      </p:sp>
      <p:sp>
        <p:nvSpPr>
          <p:cNvPr id="13" name="Rectangle"/>
          <p:cNvSpPr/>
          <p:nvPr/>
        </p:nvSpPr>
        <p:spPr>
          <a:xfrm>
            <a:off x="1143000" y="3543300"/>
            <a:ext cx="5334000" cy="1143000"/>
          </a:xfrm>
          <a:prstGeom prst="roundRect">
            <a:avLst>
              <a:gd name="adj" fmla="val 11666"/>
            </a:avLst>
          </a:prstGeom>
          <a:solidFill>
            <a:srgbClr val="0F1B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"/>
          <p:cNvSpPr txBox="1"/>
          <p:nvPr/>
        </p:nvSpPr>
        <p:spPr>
          <a:xfrm>
            <a:off x="1371600" y="3771900"/>
            <a:ext cx="95250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500">
                <a:solidFill>
                  <a:srgbClr val="8FA6BA"/>
                </a:solidFill>
                <a:latin typeface="Noto Sans SC"/>
                <a:ea typeface="Noto Sans SC"/>
                <a:cs typeface="Noto Sans SC"/>
              </a:rPr>
              <a:t>反馈控制律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1371600" y="4105275"/>
            <a:ext cx="4160519" cy="3524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</a:rPr>
              <a:t>τ_feedback = K_f,p · τ_ext</a:t>
            </a:r>
          </a:p>
        </p:txBody>
      </p:sp>
      <p:sp>
        <p:nvSpPr>
          <p:cNvPr id="16" name="Rectangle"/>
          <p:cNvSpPr/>
          <p:nvPr/>
        </p:nvSpPr>
        <p:spPr>
          <a:xfrm>
            <a:off x="1143000" y="49720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0A88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"/>
          <p:cNvSpPr txBox="1"/>
          <p:nvPr/>
        </p:nvSpPr>
        <p:spPr>
          <a:xfrm>
            <a:off x="1352550" y="4972050"/>
            <a:ext cx="7552258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550"/>
              </a:lnSpc>
            </a:pPr>
            <a:r>
              <a:rPr lang="zh-CN" sz="1800">
                <a:solidFill>
                  <a:srgbClr val="52657A"/>
                </a:solidFill>
                <a:latin typeface="Noto Sans SC"/>
                <a:ea typeface="Noto Sans SC"/>
                <a:cs typeface="Noto Sans SC"/>
              </a:rPr>
              <a:t> / 扰动观测器 / 位置-位置 / FACTR Teleop（传感器）/ + NEXT</a:t>
            </a:r>
          </a:p>
        </p:txBody>
      </p:sp>
      <p:sp>
        <p:nvSpPr>
          <p:cNvPr id="18" name="Rectangle"/>
          <p:cNvSpPr/>
          <p:nvPr/>
        </p:nvSpPr>
        <p:spPr>
          <a:xfrm>
            <a:off x="1143000" y="54292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0A88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"/>
          <p:cNvSpPr txBox="1"/>
          <p:nvPr/>
        </p:nvSpPr>
        <p:spPr>
          <a:xfrm>
            <a:off x="1352550" y="5429250"/>
            <a:ext cx="6556933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550"/>
              </a:lnSpc>
            </a:pPr>
            <a:r>
              <a:rPr lang="en-US" sz="1800">
                <a:solidFill>
                  <a:srgbClr val="22394D"/>
                </a:solidFill>
                <a:latin typeface="Noto Sans SC"/>
                <a:ea typeface="Noto Sans SC"/>
                <a:cs typeface="Noto Sans SC"/>
              </a:rPr>
              <a:t>NEXT </a:t>
            </a:r>
          </a:p>
        </p:txBody>
      </p:sp>
      <p:sp>
        <p:nvSpPr>
          <p:cNvPr id="20" name="Rectangle"/>
          <p:cNvSpPr/>
          <p:nvPr/>
        </p:nvSpPr>
        <p:spPr>
          <a:xfrm>
            <a:off x="1143000" y="58864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"/>
          <p:cNvSpPr txBox="1"/>
          <p:nvPr/>
        </p:nvSpPr>
        <p:spPr>
          <a:xfrm>
            <a:off x="1352550" y="5886450"/>
            <a:ext cx="5395188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550"/>
              </a:lnSpc>
            </a:pPr>
            <a:r>
              <a:rPr lang="zh-CN" sz="1800">
                <a:solidFill>
                  <a:srgbClr val="22394D"/>
                </a:solidFill>
                <a:latin typeface="Noto Sans SC"/>
                <a:ea typeface="Noto Sans SC"/>
                <a:cs typeface="Noto Sans SC"/>
              </a:rPr>
              <a:t> Piper 上重复该研究，NEXT </a:t>
            </a:r>
          </a:p>
        </p:txBody>
      </p:sp>
      <p:sp>
        <p:nvSpPr>
          <p:cNvPr id="22" name="TextBox"/>
          <p:cNvSpPr txBox="1"/>
          <p:nvPr/>
        </p:nvSpPr>
        <p:spPr>
          <a:xfrm>
            <a:off x="1143000" y="9429750"/>
            <a:ext cx="316336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8B9AA8"/>
                </a:solidFill>
                <a:latin typeface="Noto Sans SC"/>
                <a:ea typeface="Noto Sans SC"/>
                <a:cs typeface="Noto Sans SC"/>
              </a:rPr>
              <a:t>FACTR 2 · 论文解析与 Piper 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16383000" y="9429750"/>
            <a:ext cx="701604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8B9AA8"/>
                </a:solidFill>
                <a:latin typeface="Inter"/>
                <a:ea typeface="Inter"/>
                <a:cs typeface="Inter"/>
              </a:rPr>
              <a:t>09 / 20</a:t>
            </a:r>
          </a:p>
        </p:txBody>
      </p:sp>
      <p:sp>
        <p:nvSpPr>
          <p:cNvPr id="24" name="Rectangle"/>
          <p:cNvSpPr/>
          <p:nvPr/>
        </p:nvSpPr>
        <p:spPr>
          <a:xfrm>
            <a:off x="1143000" y="8248650"/>
            <a:ext cx="38100" cy="5715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"/>
          <p:cNvSpPr txBox="1"/>
          <p:nvPr/>
        </p:nvSpPr>
        <p:spPr>
          <a:xfrm>
            <a:off x="1409700" y="8324850"/>
            <a:ext cx="8267700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22394D"/>
                </a:solidFill>
                <a:latin typeface="Noto Sans SC"/>
                <a:ea typeface="Noto Sans SC"/>
                <a:cs typeface="Noto Sans SC"/>
              </a:rPr>
              <a:t>结论：力反馈的收益来自「信号质量」，而不是「传感器是否存在」。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914400"/>
            <a:ext cx="235235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 spc="225">
                <a:solidFill>
                  <a:srgbClr val="00806F"/>
                </a:solidFill>
                <a:latin typeface="Noto Sans SC Bold"/>
                <a:ea typeface="Noto Sans SC Bold"/>
                <a:cs typeface="Noto Sans SC Bold"/>
              </a:rPr>
              <a:t>09 / 实验 · 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390650"/>
            <a:ext cx="10952684" cy="885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4800">
                <a:solidFill>
                  <a:srgbClr val="0F1B2A"/>
                </a:solidFill>
                <a:latin typeface="Noto Sans SC Bold"/>
                <a:ea typeface="Noto Sans SC Bold"/>
                <a:cs typeface="Noto Sans SC Bold"/>
              </a:rPr>
              <a:t> 44% → 85%</a:t>
            </a:r>
          </a:p>
        </p:txBody>
      </p:sp>
      <p:pic>
        <p:nvPicPr>
          <p:cNvPr id="5" name="Image"/>
          <p:cNvPicPr>
            <a:picLocks noChangeAspect="1"/>
          </p:cNvPicPr>
          <p:nvPr/>
        </p:nvPicPr>
        <p:blipFill>
          <a:blip r:embed="rId2"/>
          <a:srcRect l="12" r="12"/>
          <a:stretch>
            <a:fillRect/>
          </a:stretch>
        </p:blipFill>
        <p:spPr>
          <a:xfrm>
            <a:off x="1143000" y="2762250"/>
            <a:ext cx="16002000" cy="3914775"/>
          </a:xfrm>
          <a:prstGeom prst="rect">
            <a:avLst/>
          </a:prstGeom>
        </p:spPr>
      </p:pic>
      <p:sp>
        <p:nvSpPr>
          <p:cNvPr id="6" name="TextBox"/>
          <p:cNvSpPr txBox="1"/>
          <p:nvPr/>
        </p:nvSpPr>
        <p:spPr>
          <a:xfrm>
            <a:off x="1162050" y="6781800"/>
            <a:ext cx="461198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7A8B9B"/>
                </a:solidFill>
                <a:latin typeface="Noto Sans SC"/>
                <a:ea typeface="Noto Sans SC"/>
                <a:cs typeface="Noto Sans SC"/>
              </a:rPr>
              <a:t>Figure 6 · 五个任务的进度对比（紫色为 FIRST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1162050" y="7124700"/>
            <a:ext cx="816406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8B9AA8"/>
                </a:solidFill>
                <a:latin typeface="Noto Sans SC"/>
                <a:ea typeface="Noto Sans SC"/>
                <a:cs typeface="Noto Sans SC"/>
              </a:rPr>
              <a:t> 250 条示教  ·  双臂 Piper  ·  4 路 RGB（2 腕 + 2 顶视）  ·  每策略 20 次 rollout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143000" y="7715250"/>
            <a:ext cx="100311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7A8B9B"/>
                </a:solidFill>
                <a:latin typeface="Noto Sans SC"/>
                <a:ea typeface="Noto Sans SC"/>
                <a:cs typeface="Noto Sans SC"/>
              </a:rPr>
              <a:t>LEGO 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1143000" y="8077200"/>
            <a:ext cx="2531371" cy="4857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3150">
                <a:solidFill>
                  <a:srgbClr val="0F1B2A"/>
                </a:solidFill>
                <a:latin typeface="Inter Bold"/>
                <a:ea typeface="Inter Bold"/>
                <a:cs typeface="Inter Bold"/>
              </a:rPr>
              <a:t>39% → 91.3%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6667500" y="7715250"/>
            <a:ext cx="134321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7A8B9B"/>
                </a:solidFill>
                <a:latin typeface="Noto Sans SC"/>
                <a:ea typeface="Noto Sans SC"/>
                <a:cs typeface="Noto Sans SC"/>
              </a:rPr>
              <a:t>NIST 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6667500" y="8077200"/>
            <a:ext cx="2452064" cy="4857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3150">
                <a:solidFill>
                  <a:srgbClr val="0F1B2A"/>
                </a:solidFill>
                <a:latin typeface="Inter Bold"/>
                <a:ea typeface="Inter Bold"/>
                <a:cs typeface="Inter Bold"/>
              </a:rPr>
              <a:t>15% → 76.7%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12192000" y="7715250"/>
            <a:ext cx="349676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7A8B9B"/>
                </a:solidFill>
                <a:latin typeface="Noto Sans SC"/>
                <a:ea typeface="Noto Sans SC"/>
                <a:cs typeface="Noto Sans SC"/>
              </a:rPr>
              <a:t> TA-VLA 68%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2192000" y="8077200"/>
            <a:ext cx="2654238" cy="4857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3150">
                <a:solidFill>
                  <a:srgbClr val="00806F"/>
                </a:solidFill>
                <a:latin typeface="Inter Bold"/>
                <a:ea typeface="Inter Bold"/>
                <a:cs typeface="Inter Bold"/>
              </a:rPr>
              <a:t>44% → 84.9%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1143000" y="9429750"/>
            <a:ext cx="316336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8B9AA8"/>
                </a:solidFill>
                <a:latin typeface="Noto Sans SC"/>
                <a:ea typeface="Noto Sans SC"/>
                <a:cs typeface="Noto Sans SC"/>
              </a:rPr>
              <a:t>FACTR 2 · 论文解析与 Piper 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16383000" y="9429750"/>
            <a:ext cx="655765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8B9AA8"/>
                </a:solidFill>
                <a:latin typeface="Inter"/>
                <a:ea typeface="Inter"/>
                <a:cs typeface="Inter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914400"/>
            <a:ext cx="187610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 spc="225">
                <a:solidFill>
                  <a:srgbClr val="00806F"/>
                </a:solidFill>
                <a:latin typeface="Noto Sans SC Bold"/>
                <a:ea typeface="Noto Sans SC Bold"/>
                <a:cs typeface="Noto Sans SC Bold"/>
              </a:rPr>
              <a:t>10 / 实验 · 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390650"/>
            <a:ext cx="7315200" cy="885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4800">
                <a:solidFill>
                  <a:srgbClr val="0F1B2A"/>
                </a:solidFill>
                <a:latin typeface="Noto Sans SC Bold"/>
                <a:ea typeface="Noto Sans SC Bold"/>
                <a:cs typeface="Noto Sans SC Bold"/>
              </a:rPr>
              <a:t>只上采样接触前，效果最好</a:t>
            </a:r>
          </a:p>
        </p:txBody>
      </p:sp>
      <p:sp>
        <p:nvSpPr>
          <p:cNvPr id="5" name="Rectangle"/>
          <p:cNvSpPr/>
          <p:nvPr/>
        </p:nvSpPr>
        <p:spPr>
          <a:xfrm>
            <a:off x="1143000" y="2857500"/>
            <a:ext cx="7239000" cy="4762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"/>
          <p:cNvSpPr txBox="1"/>
          <p:nvPr/>
        </p:nvSpPr>
        <p:spPr>
          <a:xfrm>
            <a:off x="1524000" y="3162300"/>
            <a:ext cx="281802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7A8B9B"/>
                </a:solidFill>
                <a:latin typeface="Noto Sans SC"/>
                <a:ea typeface="Noto Sans SC"/>
                <a:cs typeface="Noto Sans SC"/>
              </a:rPr>
              <a:t> · </a:t>
            </a:r>
          </a:p>
        </p:txBody>
      </p:sp>
      <p:sp>
        <p:nvSpPr>
          <p:cNvPr id="7" name="Rectangle"/>
          <p:cNvSpPr/>
          <p:nvPr/>
        </p:nvSpPr>
        <p:spPr>
          <a:xfrm>
            <a:off x="1714500" y="6667500"/>
            <a:ext cx="6096000" cy="9525"/>
          </a:xfrm>
          <a:prstGeom prst="rect">
            <a:avLst/>
          </a:prstGeom>
          <a:solidFill>
            <a:srgbClr val="DDE3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"/>
          <p:cNvSpPr/>
          <p:nvPr/>
        </p:nvSpPr>
        <p:spPr>
          <a:xfrm>
            <a:off x="1714500" y="4895850"/>
            <a:ext cx="6096000" cy="9525"/>
          </a:xfrm>
          <a:prstGeom prst="rect">
            <a:avLst/>
          </a:prstGeom>
          <a:solidFill>
            <a:srgbClr val="EDF1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"/>
          <p:cNvSpPr/>
          <p:nvPr/>
        </p:nvSpPr>
        <p:spPr>
          <a:xfrm>
            <a:off x="2571750" y="4629150"/>
            <a:ext cx="1143000" cy="2038350"/>
          </a:xfrm>
          <a:prstGeom prst="roundRect">
            <a:avLst>
              <a:gd name="adj" fmla="val 6666"/>
            </a:avLst>
          </a:prstGeom>
          <a:solidFill>
            <a:srgbClr val="D7DFE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"/>
          <p:cNvSpPr txBox="1"/>
          <p:nvPr/>
        </p:nvSpPr>
        <p:spPr>
          <a:xfrm>
            <a:off x="2785588" y="4210050"/>
            <a:ext cx="707510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52657A"/>
                </a:solidFill>
                <a:latin typeface="Inter Bold"/>
                <a:ea typeface="Inter Bold"/>
                <a:cs typeface="Inter Bold"/>
              </a:rPr>
              <a:t>0.670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2701823" y="6838950"/>
            <a:ext cx="882853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52657A"/>
                </a:solidFill>
                <a:latin typeface="Noto Sans SC"/>
                <a:ea typeface="Noto Sans SC"/>
                <a:cs typeface="Noto Sans SC"/>
              </a:rPr>
              <a:t> C</a:t>
            </a:r>
          </a:p>
        </p:txBody>
      </p:sp>
      <p:sp>
        <p:nvSpPr>
          <p:cNvPr id="12" name="Rectangle"/>
          <p:cNvSpPr/>
          <p:nvPr/>
        </p:nvSpPr>
        <p:spPr>
          <a:xfrm>
            <a:off x="4286250" y="4171950"/>
            <a:ext cx="1143000" cy="2495550"/>
          </a:xfrm>
          <a:prstGeom prst="roundRect">
            <a:avLst>
              <a:gd name="adj" fmla="val 6666"/>
            </a:avLst>
          </a:prstGeom>
          <a:solidFill>
            <a:srgbClr val="00A88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"/>
          <p:cNvSpPr txBox="1"/>
          <p:nvPr/>
        </p:nvSpPr>
        <p:spPr>
          <a:xfrm>
            <a:off x="4500981" y="3733800"/>
            <a:ext cx="713538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250">
                <a:solidFill>
                  <a:srgbClr val="00806F"/>
                </a:solidFill>
                <a:latin typeface="Inter Bold"/>
                <a:ea typeface="Inter Bold"/>
                <a:cs typeface="Inter Bold"/>
              </a:rPr>
              <a:t>0.818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4226928" y="6838950"/>
            <a:ext cx="1261643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0F1B2A"/>
                </a:solidFill>
                <a:latin typeface="Noto Sans SC"/>
                <a:ea typeface="Noto Sans SC"/>
                <a:cs typeface="Noto Sans SC"/>
              </a:rPr>
              <a:t> PC</a:t>
            </a:r>
          </a:p>
        </p:txBody>
      </p:sp>
      <p:sp>
        <p:nvSpPr>
          <p:cNvPr id="15" name="Rectangle"/>
          <p:cNvSpPr/>
          <p:nvPr/>
        </p:nvSpPr>
        <p:spPr>
          <a:xfrm>
            <a:off x="6000750" y="4191000"/>
            <a:ext cx="1143000" cy="2476500"/>
          </a:xfrm>
          <a:prstGeom prst="roundRect">
            <a:avLst>
              <a:gd name="adj" fmla="val 6666"/>
            </a:avLst>
          </a:prstGeom>
          <a:solidFill>
            <a:srgbClr val="A9BAC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"/>
          <p:cNvSpPr txBox="1"/>
          <p:nvPr/>
        </p:nvSpPr>
        <p:spPr>
          <a:xfrm>
            <a:off x="6266027" y="3771900"/>
            <a:ext cx="612446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52657A"/>
                </a:solidFill>
                <a:latin typeface="Inter Bold"/>
                <a:ea typeface="Inter Bold"/>
                <a:cs typeface="Inter Bold"/>
              </a:rPr>
              <a:t>0.811</a:t>
            </a:r>
          </a:p>
        </p:txBody>
      </p:sp>
      <p:sp>
        <p:nvSpPr>
          <p:cNvPr id="17" name="TextBox"/>
          <p:cNvSpPr txBox="1"/>
          <p:nvPr/>
        </p:nvSpPr>
        <p:spPr>
          <a:xfrm>
            <a:off x="6239409" y="6838950"/>
            <a:ext cx="665683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52657A"/>
                </a:solidFill>
                <a:latin typeface="Noto Sans SC"/>
                <a:ea typeface="Noto Sans SC"/>
                <a:cs typeface="Noto Sans SC"/>
              </a:rPr>
              <a:t>PC + C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1524000" y="7258050"/>
            <a:ext cx="29337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C97A00"/>
                </a:solidFill>
                <a:latin typeface="Noto Sans SC"/>
                <a:ea typeface="Noto Sans SC"/>
                <a:cs typeface="Noto Sans SC"/>
              </a:rPr>
              <a:t>只上采样接触，几乎没有收益。</a:t>
            </a:r>
          </a:p>
        </p:txBody>
      </p:sp>
      <p:sp>
        <p:nvSpPr>
          <p:cNvPr id="19" name="Rectangle"/>
          <p:cNvSpPr/>
          <p:nvPr/>
        </p:nvSpPr>
        <p:spPr>
          <a:xfrm>
            <a:off x="1147763" y="2862263"/>
            <a:ext cx="7229475" cy="4752975"/>
          </a:xfrm>
          <a:prstGeom prst="roundRect">
            <a:avLst>
              <a:gd name="adj" fmla="val 3907"/>
            </a:avLst>
          </a:prstGeom>
          <a:noFill/>
          <a:ln w="9525">
            <a:solidFill>
              <a:srgbClr val="E6EA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"/>
          <p:cNvSpPr txBox="1"/>
          <p:nvPr/>
        </p:nvSpPr>
        <p:spPr>
          <a:xfrm>
            <a:off x="9143999" y="2857500"/>
            <a:ext cx="2989516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250">
                <a:solidFill>
                  <a:srgbClr val="0F1B2A"/>
                </a:solidFill>
                <a:latin typeface="Noto Sans SC Bold"/>
                <a:ea typeface="Noto Sans SC Bold"/>
                <a:cs typeface="Noto Sans SC Bold"/>
              </a:rPr>
              <a:t> m ≈ 5 </a:t>
            </a:r>
          </a:p>
        </p:txBody>
      </p:sp>
      <p:sp>
        <p:nvSpPr>
          <p:cNvPr id="21" name="TextBox"/>
          <p:cNvSpPr txBox="1"/>
          <p:nvPr/>
        </p:nvSpPr>
        <p:spPr>
          <a:xfrm>
            <a:off x="9144001" y="3324225"/>
            <a:ext cx="4894356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550"/>
              </a:lnSpc>
            </a:pPr>
            <a:r>
              <a:rPr lang="en-US" sz="1725">
                <a:solidFill>
                  <a:srgbClr val="5D6F80"/>
                </a:solidFill>
                <a:latin typeface="Noto Sans SC"/>
                <a:ea typeface="Noto Sans SC"/>
                <a:cs typeface="Noto Sans SC"/>
              </a:rPr>
              <a:t> 1 : 5 : 1</a:t>
            </a:r>
          </a:p>
        </p:txBody>
      </p:sp>
      <p:sp>
        <p:nvSpPr>
          <p:cNvPr id="22" name="Rectangle"/>
          <p:cNvSpPr/>
          <p:nvPr/>
        </p:nvSpPr>
        <p:spPr>
          <a:xfrm>
            <a:off x="9144000" y="3943350"/>
            <a:ext cx="7620000" cy="9525"/>
          </a:xfrm>
          <a:prstGeom prst="rect">
            <a:avLst/>
          </a:prstGeom>
          <a:solidFill>
            <a:srgbClr val="E0E6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Box"/>
          <p:cNvSpPr txBox="1"/>
          <p:nvPr/>
        </p:nvSpPr>
        <p:spPr>
          <a:xfrm>
            <a:off x="9144000" y="4229100"/>
            <a:ext cx="2571750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250">
                <a:solidFill>
                  <a:srgbClr val="0F1B2A"/>
                </a:solidFill>
                <a:latin typeface="Noto Sans SC Bold"/>
                <a:ea typeface="Noto Sans SC Bold"/>
                <a:cs typeface="Noto Sans SC Bold"/>
              </a:rPr>
              <a:t>改采样，优于改损失</a:t>
            </a:r>
          </a:p>
        </p:txBody>
      </p:sp>
      <p:sp>
        <p:nvSpPr>
          <p:cNvPr id="24" name="TextBox"/>
          <p:cNvSpPr txBox="1"/>
          <p:nvPr/>
        </p:nvSpPr>
        <p:spPr>
          <a:xfrm>
            <a:off x="9144000" y="4695825"/>
            <a:ext cx="5704714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550"/>
              </a:lnSpc>
            </a:pPr>
            <a:r>
              <a:rPr lang="zh-CN" sz="1725">
                <a:solidFill>
                  <a:srgbClr val="5D6F80"/>
                </a:solidFill>
                <a:latin typeface="Noto Sans SC"/>
                <a:ea typeface="Noto Sans SC"/>
                <a:cs typeface="Noto Sans SC"/>
              </a:rPr>
              <a:t> 0.345 反而更差；重采样 0.573（LEGO·ACT</a:t>
            </a:r>
          </a:p>
        </p:txBody>
      </p:sp>
      <p:sp>
        <p:nvSpPr>
          <p:cNvPr id="25" name="Rectangle"/>
          <p:cNvSpPr/>
          <p:nvPr/>
        </p:nvSpPr>
        <p:spPr>
          <a:xfrm>
            <a:off x="9144000" y="5314950"/>
            <a:ext cx="7620000" cy="9525"/>
          </a:xfrm>
          <a:prstGeom prst="rect">
            <a:avLst/>
          </a:prstGeom>
          <a:solidFill>
            <a:srgbClr val="E0E6E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Box"/>
          <p:cNvSpPr txBox="1"/>
          <p:nvPr/>
        </p:nvSpPr>
        <p:spPr>
          <a:xfrm>
            <a:off x="9144000" y="5600700"/>
            <a:ext cx="3429000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250">
                <a:solidFill>
                  <a:srgbClr val="0F1B2A"/>
                </a:solidFill>
                <a:latin typeface="Noto Sans SC Bold"/>
                <a:ea typeface="Noto Sans SC Bold"/>
                <a:cs typeface="Noto Sans SC Bold"/>
              </a:rPr>
              <a:t>学到的力矩，优于原始电流</a:t>
            </a:r>
          </a:p>
        </p:txBody>
      </p:sp>
      <p:sp>
        <p:nvSpPr>
          <p:cNvPr id="27" name="TextBox"/>
          <p:cNvSpPr txBox="1"/>
          <p:nvPr/>
        </p:nvSpPr>
        <p:spPr>
          <a:xfrm>
            <a:off x="9144000" y="6067425"/>
            <a:ext cx="4999293" cy="3238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550"/>
              </a:lnSpc>
            </a:pPr>
            <a:r>
              <a:rPr lang="zh-CN" sz="1725">
                <a:solidFill>
                  <a:srgbClr val="5D6F80"/>
                </a:solidFill>
                <a:latin typeface="Noto Sans SC"/>
                <a:ea typeface="Noto Sans SC"/>
                <a:cs typeface="Noto Sans SC"/>
              </a:rPr>
              <a:t>NIST 插装：0.220 → +电流 0.431 → +τ_ext 0.567</a:t>
            </a:r>
          </a:p>
        </p:txBody>
      </p:sp>
      <p:sp>
        <p:nvSpPr>
          <p:cNvPr id="28" name="TextBox"/>
          <p:cNvSpPr txBox="1"/>
          <p:nvPr/>
        </p:nvSpPr>
        <p:spPr>
          <a:xfrm>
            <a:off x="1162050" y="8172450"/>
            <a:ext cx="7418261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22394D"/>
                </a:solidFill>
                <a:latin typeface="Noto Sans SC"/>
                <a:ea typeface="Noto Sans SC"/>
                <a:cs typeface="Noto Sans SC"/>
              </a:rPr>
              <a:t>5 个任务里 4 </a:t>
            </a:r>
          </a:p>
        </p:txBody>
      </p:sp>
      <p:sp>
        <p:nvSpPr>
          <p:cNvPr id="29" name="TextBox"/>
          <p:cNvSpPr txBox="1"/>
          <p:nvPr/>
        </p:nvSpPr>
        <p:spPr>
          <a:xfrm>
            <a:off x="1143000" y="9429750"/>
            <a:ext cx="316336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8B9AA8"/>
                </a:solidFill>
                <a:latin typeface="Noto Sans SC"/>
                <a:ea typeface="Noto Sans SC"/>
                <a:cs typeface="Noto Sans SC"/>
              </a:rPr>
              <a:t>FACTR 2 · 论文解析与 Piper </a:t>
            </a:r>
          </a:p>
        </p:txBody>
      </p:sp>
      <p:sp>
        <p:nvSpPr>
          <p:cNvPr id="30" name="TextBox"/>
          <p:cNvSpPr txBox="1"/>
          <p:nvPr/>
        </p:nvSpPr>
        <p:spPr>
          <a:xfrm>
            <a:off x="16383000" y="9429750"/>
            <a:ext cx="605219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8B9AA8"/>
                </a:solidFill>
                <a:latin typeface="Inter"/>
                <a:ea typeface="Inter"/>
                <a:cs typeface="Inter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914400"/>
            <a:ext cx="100986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 spc="225">
                <a:solidFill>
                  <a:srgbClr val="00806F"/>
                </a:solidFill>
                <a:latin typeface="Noto Sans SC Bold"/>
                <a:ea typeface="Noto Sans SC Bold"/>
                <a:cs typeface="Noto Sans SC Bold"/>
              </a:rPr>
              <a:t>11 / 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390650"/>
            <a:ext cx="10287000" cy="8286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4500">
                <a:solidFill>
                  <a:srgbClr val="0F1B2A"/>
                </a:solidFill>
                <a:latin typeface="Noto Sans SC Bold"/>
                <a:ea typeface="Noto Sans SC Bold"/>
                <a:cs typeface="Noto Sans SC Bold"/>
              </a:rPr>
              <a:t>五条可迁移的洞见，五条作者承认的边界</a:t>
            </a:r>
          </a:p>
        </p:txBody>
      </p:sp>
      <p:sp>
        <p:nvSpPr>
          <p:cNvPr id="5" name="Rectangle"/>
          <p:cNvSpPr/>
          <p:nvPr/>
        </p:nvSpPr>
        <p:spPr>
          <a:xfrm>
            <a:off x="1143000" y="2686050"/>
            <a:ext cx="7620000" cy="5715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"/>
          <p:cNvSpPr txBox="1"/>
          <p:nvPr/>
        </p:nvSpPr>
        <p:spPr>
          <a:xfrm>
            <a:off x="1485900" y="3028950"/>
            <a:ext cx="2571750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250">
                <a:solidFill>
                  <a:srgbClr val="0F1B2A"/>
                </a:solidFill>
                <a:latin typeface="Noto Sans SC Bold"/>
                <a:ea typeface="Noto Sans SC Bold"/>
                <a:cs typeface="Noto Sans SC Bold"/>
              </a:rPr>
              <a:t>可以带走的五条洞见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1485900" y="4048125"/>
            <a:ext cx="25146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00A88F"/>
                </a:solidFill>
                <a:latin typeface="JetBrains Mono Bold"/>
                <a:ea typeface="JetBrains Mono Bold"/>
                <a:cs typeface="JetBrains Mono Bold"/>
              </a:rPr>
              <a:t>01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2000250" y="4048125"/>
            <a:ext cx="4600575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475"/>
              </a:lnSpc>
            </a:pPr>
            <a:r>
              <a:rPr lang="zh-CN" sz="1725">
                <a:solidFill>
                  <a:srgbClr val="22394D"/>
                </a:solidFill>
                <a:latin typeface="Noto Sans SC"/>
                <a:ea typeface="Noto Sans SC"/>
                <a:cs typeface="Noto Sans SC"/>
              </a:rPr>
              <a:t>残差法的瓶颈是未建模效应，网络可以一次学掉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1485900" y="4972050"/>
            <a:ext cx="25146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00A88F"/>
                </a:solidFill>
                <a:latin typeface="JetBrains Mono Bold"/>
                <a:ea typeface="JetBrains Mono Bold"/>
                <a:cs typeface="JetBrains Mono Bold"/>
              </a:rPr>
              <a:t>02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2000250" y="4972050"/>
            <a:ext cx="4427944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475"/>
              </a:lnSpc>
            </a:pPr>
            <a:r>
              <a:rPr lang="en-US" sz="1725">
                <a:solidFill>
                  <a:srgbClr val="22394D"/>
                </a:solidFill>
                <a:latin typeface="Noto Sans SC"/>
                <a:ea typeface="Noto Sans SC"/>
                <a:cs typeface="Noto Sans SC"/>
              </a:rPr>
              <a:t>MLP 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1485900" y="5895975"/>
            <a:ext cx="25146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00A88F"/>
                </a:solidFill>
                <a:latin typeface="JetBrains Mono Bold"/>
                <a:ea typeface="JetBrains Mono Bold"/>
                <a:cs typeface="JetBrains Mono Bold"/>
              </a:rPr>
              <a:t>03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2000250" y="5895975"/>
            <a:ext cx="5476875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475"/>
              </a:lnSpc>
            </a:pPr>
            <a:r>
              <a:rPr lang="zh-CN" sz="1725">
                <a:solidFill>
                  <a:srgbClr val="22394D"/>
                </a:solidFill>
                <a:latin typeface="Noto Sans SC"/>
                <a:ea typeface="Noto Sans SC"/>
                <a:cs typeface="Noto Sans SC"/>
              </a:rPr>
              <a:t>「估计」与「使用」解耦，只把压缩后的接触量交给策略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485900" y="6819900"/>
            <a:ext cx="25146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00A88F"/>
                </a:solidFill>
                <a:latin typeface="JetBrains Mono Bold"/>
                <a:ea typeface="JetBrains Mono Bold"/>
                <a:cs typeface="JetBrains Mono Bold"/>
              </a:rPr>
              <a:t>04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2000250" y="6819900"/>
            <a:ext cx="4838929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475"/>
              </a:lnSpc>
            </a:pPr>
            <a:r>
              <a:rPr lang="en-US" sz="1725">
                <a:solidFill>
                  <a:srgbClr val="22394D"/>
                </a:solidFill>
                <a:latin typeface="Noto Sans SC"/>
                <a:ea typeface="Noto Sans SC"/>
                <a:cs typeface="Noto Sans SC"/>
              </a:rPr>
              <a:t>+17 pt 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1485900" y="7743825"/>
            <a:ext cx="25146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00A88F"/>
                </a:solidFill>
                <a:latin typeface="JetBrains Mono Bold"/>
                <a:ea typeface="JetBrains Mono Bold"/>
                <a:cs typeface="JetBrains Mono Bold"/>
              </a:rPr>
              <a:t>05</a:t>
            </a:r>
          </a:p>
        </p:txBody>
      </p:sp>
      <p:sp>
        <p:nvSpPr>
          <p:cNvPr id="16" name="TextBox"/>
          <p:cNvSpPr txBox="1"/>
          <p:nvPr/>
        </p:nvSpPr>
        <p:spPr>
          <a:xfrm>
            <a:off x="2000250" y="7743825"/>
            <a:ext cx="4990967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475"/>
              </a:lnSpc>
            </a:pPr>
            <a:r>
              <a:rPr lang="zh-CN" sz="1725">
                <a:solidFill>
                  <a:srgbClr val="22394D"/>
                </a:solidFill>
                <a:latin typeface="Noto Sans SC"/>
                <a:ea typeface="Noto Sans SC"/>
                <a:cs typeface="Noto Sans SC"/>
              </a:rPr>
              <a:t>5 个任务里 4 </a:t>
            </a:r>
          </a:p>
        </p:txBody>
      </p:sp>
      <p:sp>
        <p:nvSpPr>
          <p:cNvPr id="17" name="Rectangle"/>
          <p:cNvSpPr/>
          <p:nvPr/>
        </p:nvSpPr>
        <p:spPr>
          <a:xfrm>
            <a:off x="1147763" y="2690813"/>
            <a:ext cx="7610475" cy="5705475"/>
          </a:xfrm>
          <a:prstGeom prst="roundRect">
            <a:avLst>
              <a:gd name="adj" fmla="val 3255"/>
            </a:avLst>
          </a:prstGeom>
          <a:noFill/>
          <a:ln w="9525">
            <a:solidFill>
              <a:srgbClr val="E6EA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"/>
          <p:cNvSpPr/>
          <p:nvPr/>
        </p:nvSpPr>
        <p:spPr>
          <a:xfrm>
            <a:off x="9144000" y="2686050"/>
            <a:ext cx="7620000" cy="5715000"/>
          </a:xfrm>
          <a:prstGeom prst="roundRect">
            <a:avLst>
              <a:gd name="adj" fmla="val 3333"/>
            </a:avLst>
          </a:prstGeom>
          <a:solidFill>
            <a:srgbClr val="0F1B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"/>
          <p:cNvSpPr txBox="1"/>
          <p:nvPr/>
        </p:nvSpPr>
        <p:spPr>
          <a:xfrm>
            <a:off x="9486900" y="3028950"/>
            <a:ext cx="2571750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250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作者承认的五条边界</a:t>
            </a:r>
          </a:p>
        </p:txBody>
      </p:sp>
      <p:sp>
        <p:nvSpPr>
          <p:cNvPr id="20" name="TextBox"/>
          <p:cNvSpPr txBox="1"/>
          <p:nvPr/>
        </p:nvSpPr>
        <p:spPr>
          <a:xfrm>
            <a:off x="9486900" y="4048125"/>
            <a:ext cx="25146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FFB020"/>
                </a:solidFill>
                <a:latin typeface="JetBrains Mono Bold"/>
                <a:ea typeface="JetBrains Mono Bold"/>
                <a:cs typeface="JetBrains Mono Bold"/>
              </a:rPr>
              <a:t>01</a:t>
            </a:r>
          </a:p>
        </p:txBody>
      </p:sp>
      <p:sp>
        <p:nvSpPr>
          <p:cNvPr id="21" name="TextBox"/>
          <p:cNvSpPr txBox="1"/>
          <p:nvPr/>
        </p:nvSpPr>
        <p:spPr>
          <a:xfrm>
            <a:off x="10001250" y="4048125"/>
            <a:ext cx="4981766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475"/>
              </a:lnSpc>
            </a:pPr>
            <a:r>
              <a:rPr lang="zh-CN" sz="1725">
                <a:solidFill>
                  <a:srgbClr val="C9D6E3"/>
                </a:solidFill>
                <a:latin typeface="Noto Sans SC"/>
                <a:ea typeface="Noto Sans SC"/>
                <a:cs typeface="Noto Sans SC"/>
              </a:rPr>
              <a:t> K，K </a:t>
            </a:r>
          </a:p>
        </p:txBody>
      </p:sp>
      <p:sp>
        <p:nvSpPr>
          <p:cNvPr id="22" name="TextBox"/>
          <p:cNvSpPr txBox="1"/>
          <p:nvPr/>
        </p:nvSpPr>
        <p:spPr>
          <a:xfrm>
            <a:off x="9486900" y="4972050"/>
            <a:ext cx="25146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FFB020"/>
                </a:solidFill>
                <a:latin typeface="JetBrains Mono Bold"/>
                <a:ea typeface="JetBrains Mono Bold"/>
                <a:cs typeface="JetBrains Mono Bold"/>
              </a:rPr>
              <a:t>02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10001250" y="4972050"/>
            <a:ext cx="4819650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475"/>
              </a:lnSpc>
            </a:pPr>
            <a:r>
              <a:rPr lang="zh-CN" sz="1725">
                <a:solidFill>
                  <a:srgbClr val="C9D6E3"/>
                </a:solidFill>
                <a:latin typeface="Noto Sans SC"/>
                <a:ea typeface="Noto Sans SC"/>
                <a:cs typeface="Noto Sans SC"/>
              </a:rPr>
              <a:t>机型专属：换一台机械臂可能要重新采数据、重训</a:t>
            </a:r>
          </a:p>
        </p:txBody>
      </p:sp>
      <p:sp>
        <p:nvSpPr>
          <p:cNvPr id="24" name="TextBox"/>
          <p:cNvSpPr txBox="1"/>
          <p:nvPr/>
        </p:nvSpPr>
        <p:spPr>
          <a:xfrm>
            <a:off x="9486900" y="5895975"/>
            <a:ext cx="25146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FFB020"/>
                </a:solidFill>
                <a:latin typeface="JetBrains Mono Bold"/>
                <a:ea typeface="JetBrains Mono Bold"/>
                <a:cs typeface="JetBrains Mono Bold"/>
              </a:rPr>
              <a:t>03</a:t>
            </a:r>
          </a:p>
        </p:txBody>
      </p:sp>
      <p:sp>
        <p:nvSpPr>
          <p:cNvPr id="25" name="TextBox"/>
          <p:cNvSpPr txBox="1"/>
          <p:nvPr/>
        </p:nvSpPr>
        <p:spPr>
          <a:xfrm>
            <a:off x="10001250" y="5895975"/>
            <a:ext cx="4819650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475"/>
              </a:lnSpc>
            </a:pPr>
            <a:r>
              <a:rPr lang="zh-CN" sz="1725">
                <a:solidFill>
                  <a:srgbClr val="C9D6E3"/>
                </a:solidFill>
                <a:latin typeface="Noto Sans SC"/>
                <a:ea typeface="Noto Sans SC"/>
                <a:cs typeface="Noto Sans SC"/>
              </a:rPr>
              <a:t>接触检测靠双阈值，需按机型与噪声水平重新标定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9486900" y="6819900"/>
            <a:ext cx="25146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FFB020"/>
                </a:solidFill>
                <a:latin typeface="JetBrains Mono Bold"/>
                <a:ea typeface="JetBrains Mono Bold"/>
                <a:cs typeface="JetBrains Mono Bold"/>
              </a:rPr>
              <a:t>04</a:t>
            </a:r>
          </a:p>
        </p:txBody>
      </p:sp>
      <p:sp>
        <p:nvSpPr>
          <p:cNvPr id="27" name="TextBox"/>
          <p:cNvSpPr txBox="1"/>
          <p:nvPr/>
        </p:nvSpPr>
        <p:spPr>
          <a:xfrm>
            <a:off x="10001250" y="6819900"/>
            <a:ext cx="6134100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475"/>
              </a:lnSpc>
            </a:pPr>
            <a:r>
              <a:rPr lang="zh-CN" sz="1725">
                <a:solidFill>
                  <a:srgbClr val="C9D6E3"/>
                </a:solidFill>
                <a:latin typeface="Noto Sans SC"/>
                <a:ea typeface="Noto Sans SC"/>
                <a:cs typeface="Noto Sans SC"/>
              </a:rPr>
              <a:t>估的是关节空间力矩，不是末端六维力，阻抗控制要雅可比映射</a:t>
            </a:r>
          </a:p>
        </p:txBody>
      </p:sp>
      <p:sp>
        <p:nvSpPr>
          <p:cNvPr id="28" name="TextBox"/>
          <p:cNvSpPr txBox="1"/>
          <p:nvPr/>
        </p:nvSpPr>
        <p:spPr>
          <a:xfrm>
            <a:off x="9486900" y="7743825"/>
            <a:ext cx="251460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FFB020"/>
                </a:solidFill>
                <a:latin typeface="JetBrains Mono Bold"/>
                <a:ea typeface="JetBrains Mono Bold"/>
                <a:cs typeface="JetBrains Mono Bold"/>
              </a:rPr>
              <a:t>05</a:t>
            </a:r>
          </a:p>
        </p:txBody>
      </p:sp>
      <p:sp>
        <p:nvSpPr>
          <p:cNvPr id="29" name="TextBox"/>
          <p:cNvSpPr txBox="1"/>
          <p:nvPr/>
        </p:nvSpPr>
        <p:spPr>
          <a:xfrm>
            <a:off x="10001250" y="7743825"/>
            <a:ext cx="4381500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475"/>
              </a:lnSpc>
            </a:pPr>
            <a:r>
              <a:rPr lang="zh-CN" sz="1725">
                <a:solidFill>
                  <a:srgbClr val="C9D6E3"/>
                </a:solidFill>
                <a:latin typeface="Noto Sans SC"/>
                <a:ea typeface="Noto Sans SC"/>
                <a:cs typeface="Noto Sans SC"/>
              </a:rPr>
              <a:t>任务进度靠人工划分阶段，跨任务不完全可比</a:t>
            </a:r>
          </a:p>
        </p:txBody>
      </p:sp>
      <p:sp>
        <p:nvSpPr>
          <p:cNvPr id="30" name="TextBox"/>
          <p:cNvSpPr txBox="1"/>
          <p:nvPr/>
        </p:nvSpPr>
        <p:spPr>
          <a:xfrm>
            <a:off x="1143000" y="9429750"/>
            <a:ext cx="316336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8B9AA8"/>
                </a:solidFill>
                <a:latin typeface="Noto Sans SC"/>
                <a:ea typeface="Noto Sans SC"/>
                <a:cs typeface="Noto Sans SC"/>
              </a:rPr>
              <a:t>FACTR 2 · 论文解析与 Piper </a:t>
            </a:r>
          </a:p>
        </p:txBody>
      </p:sp>
      <p:sp>
        <p:nvSpPr>
          <p:cNvPr id="31" name="TextBox"/>
          <p:cNvSpPr txBox="1"/>
          <p:nvPr/>
        </p:nvSpPr>
        <p:spPr>
          <a:xfrm>
            <a:off x="16383000" y="9429750"/>
            <a:ext cx="647477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8B9AA8"/>
                </a:solidFill>
                <a:latin typeface="Inter"/>
                <a:ea typeface="Inter"/>
                <a:cs typeface="Inter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152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2857500"/>
            <a:ext cx="1273597" cy="2762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 spc="450">
                <a:solidFill>
                  <a:srgbClr val="00C2A8"/>
                </a:solidFill>
                <a:latin typeface="Inter Bold"/>
                <a:ea typeface="Inter Bold"/>
                <a:cs typeface="Inter Bold"/>
              </a:rPr>
              <a:t>PART 02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04900" y="3390900"/>
            <a:ext cx="12564752" cy="1133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6150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 Piper 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143000" y="4629150"/>
            <a:ext cx="8333326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250">
                <a:solidFill>
                  <a:srgbClr val="9FB2C4"/>
                </a:solidFill>
                <a:latin typeface="Noto Sans SC"/>
                <a:ea typeface="Noto Sans SC"/>
                <a:cs typeface="Noto Sans SC"/>
              </a:rPr>
              <a:t>AgileX Piper 标准版  ·  6 DOF  ·  1.5 kg 负载  ·  </a:t>
            </a:r>
          </a:p>
        </p:txBody>
      </p:sp>
      <p:sp>
        <p:nvSpPr>
          <p:cNvPr id="6" name="Rectangle"/>
          <p:cNvSpPr/>
          <p:nvPr/>
        </p:nvSpPr>
        <p:spPr>
          <a:xfrm>
            <a:off x="1143000" y="5429250"/>
            <a:ext cx="7239000" cy="9525"/>
          </a:xfrm>
          <a:prstGeom prst="rect">
            <a:avLst/>
          </a:prstGeom>
          <a:solidFill>
            <a:srgbClr val="26455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"/>
          <p:cNvSpPr txBox="1"/>
          <p:nvPr/>
        </p:nvSpPr>
        <p:spPr>
          <a:xfrm>
            <a:off x="1143000" y="5715000"/>
            <a:ext cx="4703217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00">
                <a:solidFill>
                  <a:srgbClr val="7F94A8"/>
                </a:solidFill>
                <a:latin typeface="Noto Sans SC"/>
                <a:ea typeface="Noto Sans SC"/>
                <a:cs typeface="Noto Sans SC"/>
              </a:rPr>
              <a:t>6 个阶段  ·  最小闭环约 3 天  ·  </a:t>
            </a:r>
          </a:p>
        </p:txBody>
      </p:sp>
      <p:sp>
        <p:nvSpPr>
          <p:cNvPr id="8" name="Path"/>
          <p:cNvSpPr/>
          <p:nvPr/>
        </p:nvSpPr>
        <p:spPr>
          <a:xfrm>
            <a:off x="10467975" y="2381250"/>
            <a:ext cx="5734050" cy="4762500"/>
          </a:xfrm>
          <a:custGeom>
            <a:avLst/>
            <a:gdLst/>
            <a:ahLst/>
            <a:cxnLst/>
            <a:rect l="0" t="0" r="r" b="b"/>
            <a:pathLst>
              <a:path w="5734050" h="4762500">
                <a:moveTo>
                  <a:pt x="2305050" y="4762500"/>
                </a:moveTo>
                <a:lnTo>
                  <a:pt x="2305050" y="0"/>
                </a:lnTo>
                <a:lnTo>
                  <a:pt x="2286000" y="0"/>
                </a:lnTo>
                <a:lnTo>
                  <a:pt x="2286000" y="4762500"/>
                </a:lnTo>
                <a:lnTo>
                  <a:pt x="2305050" y="4762500"/>
                </a:lnTo>
                <a:close/>
                <a:moveTo>
                  <a:pt x="19050" y="4762500"/>
                </a:moveTo>
                <a:lnTo>
                  <a:pt x="19050" y="190500"/>
                </a:lnTo>
                <a:lnTo>
                  <a:pt x="0" y="190500"/>
                </a:lnTo>
                <a:lnTo>
                  <a:pt x="0" y="4762500"/>
                </a:lnTo>
                <a:lnTo>
                  <a:pt x="19050" y="4762500"/>
                </a:lnTo>
                <a:close/>
                <a:moveTo>
                  <a:pt x="4591050" y="4762500"/>
                </a:moveTo>
                <a:lnTo>
                  <a:pt x="4591050" y="190500"/>
                </a:lnTo>
                <a:lnTo>
                  <a:pt x="4572000" y="190500"/>
                </a:lnTo>
                <a:lnTo>
                  <a:pt x="4572000" y="4762500"/>
                </a:lnTo>
                <a:lnTo>
                  <a:pt x="4591050" y="4762500"/>
                </a:lnTo>
                <a:close/>
                <a:moveTo>
                  <a:pt x="3448050" y="4762500"/>
                </a:moveTo>
                <a:lnTo>
                  <a:pt x="3448050" y="571500"/>
                </a:lnTo>
                <a:lnTo>
                  <a:pt x="3429000" y="571500"/>
                </a:lnTo>
                <a:lnTo>
                  <a:pt x="3429000" y="4762500"/>
                </a:lnTo>
                <a:lnTo>
                  <a:pt x="3448050" y="4762500"/>
                </a:lnTo>
                <a:close/>
                <a:moveTo>
                  <a:pt x="1162050" y="4762500"/>
                </a:moveTo>
                <a:lnTo>
                  <a:pt x="1162050" y="762000"/>
                </a:lnTo>
                <a:lnTo>
                  <a:pt x="1143000" y="762000"/>
                </a:lnTo>
                <a:lnTo>
                  <a:pt x="1143000" y="4762500"/>
                </a:lnTo>
                <a:lnTo>
                  <a:pt x="1162050" y="4762500"/>
                </a:lnTo>
                <a:close/>
                <a:moveTo>
                  <a:pt x="5734050" y="4762500"/>
                </a:moveTo>
                <a:lnTo>
                  <a:pt x="5734050" y="952500"/>
                </a:lnTo>
                <a:lnTo>
                  <a:pt x="5715000" y="952500"/>
                </a:lnTo>
                <a:lnTo>
                  <a:pt x="5715000" y="4762500"/>
                </a:lnTo>
                <a:lnTo>
                  <a:pt x="5734050" y="4762500"/>
                </a:lnTo>
                <a:close/>
              </a:path>
            </a:pathLst>
          </a:custGeom>
          <a:solidFill>
            <a:srgbClr val="2A4A6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Path"/>
          <p:cNvSpPr/>
          <p:nvPr/>
        </p:nvSpPr>
        <p:spPr>
          <a:xfrm>
            <a:off x="10267720" y="3123970"/>
            <a:ext cx="6134559" cy="1753060"/>
          </a:xfrm>
          <a:custGeom>
            <a:avLst/>
            <a:gdLst/>
            <a:ahLst/>
            <a:cxnLst/>
            <a:rect l="0" t="0" r="r" b="b"/>
            <a:pathLst>
              <a:path w="6134559" h="1753060">
                <a:moveTo>
                  <a:pt x="400280" y="230"/>
                </a:moveTo>
                <a:lnTo>
                  <a:pt x="19280" y="230"/>
                </a:lnTo>
                <a:quadBezTo>
                  <a:pt x="11294" y="0"/>
                  <a:pt x="5809" y="5809"/>
                </a:quadBezTo>
                <a:quadBezTo>
                  <a:pt x="0" y="11294"/>
                  <a:pt x="230" y="19280"/>
                </a:quadBezTo>
                <a:quadBezTo>
                  <a:pt x="0" y="27266"/>
                  <a:pt x="5809" y="32750"/>
                </a:quadBezTo>
                <a:quadBezTo>
                  <a:pt x="11294" y="38560"/>
                  <a:pt x="19280" y="38330"/>
                </a:quadBezTo>
                <a:lnTo>
                  <a:pt x="400280" y="38330"/>
                </a:lnTo>
                <a:quadBezTo>
                  <a:pt x="408266" y="38560"/>
                  <a:pt x="413750" y="32750"/>
                </a:quadBezTo>
                <a:quadBezTo>
                  <a:pt x="419560" y="27266"/>
                  <a:pt x="419330" y="19280"/>
                </a:quadBezTo>
                <a:quadBezTo>
                  <a:pt x="419560" y="11294"/>
                  <a:pt x="413750" y="5809"/>
                </a:quadBezTo>
                <a:quadBezTo>
                  <a:pt x="408266" y="0"/>
                  <a:pt x="400280" y="230"/>
                </a:quadBezTo>
                <a:close/>
                <a:moveTo>
                  <a:pt x="4972280" y="190730"/>
                </a:moveTo>
                <a:lnTo>
                  <a:pt x="4591280" y="190730"/>
                </a:lnTo>
                <a:quadBezTo>
                  <a:pt x="4583294" y="190500"/>
                  <a:pt x="4577810" y="196309"/>
                </a:quadBezTo>
                <a:quadBezTo>
                  <a:pt x="4572000" y="201794"/>
                  <a:pt x="4572230" y="209780"/>
                </a:quadBezTo>
                <a:quadBezTo>
                  <a:pt x="4572000" y="217766"/>
                  <a:pt x="4577810" y="223250"/>
                </a:quadBezTo>
                <a:quadBezTo>
                  <a:pt x="4583294" y="229060"/>
                  <a:pt x="4591280" y="228830"/>
                </a:quadBezTo>
                <a:lnTo>
                  <a:pt x="4972280" y="228830"/>
                </a:lnTo>
                <a:quadBezTo>
                  <a:pt x="4980266" y="229060"/>
                  <a:pt x="4985750" y="223250"/>
                </a:quadBezTo>
                <a:quadBezTo>
                  <a:pt x="4991559" y="217766"/>
                  <a:pt x="4991330" y="209780"/>
                </a:quadBezTo>
                <a:quadBezTo>
                  <a:pt x="4991559" y="201794"/>
                  <a:pt x="4985750" y="196309"/>
                </a:quadBezTo>
                <a:quadBezTo>
                  <a:pt x="4980266" y="190500"/>
                  <a:pt x="4972280" y="190730"/>
                </a:quadBezTo>
                <a:close/>
                <a:moveTo>
                  <a:pt x="2686280" y="381230"/>
                </a:moveTo>
                <a:lnTo>
                  <a:pt x="2305280" y="381230"/>
                </a:lnTo>
                <a:quadBezTo>
                  <a:pt x="2297294" y="381000"/>
                  <a:pt x="2291810" y="386809"/>
                </a:quadBezTo>
                <a:quadBezTo>
                  <a:pt x="2286000" y="392294"/>
                  <a:pt x="2286230" y="400280"/>
                </a:quadBezTo>
                <a:quadBezTo>
                  <a:pt x="2286000" y="408266"/>
                  <a:pt x="2291810" y="413750"/>
                </a:quadBezTo>
                <a:quadBezTo>
                  <a:pt x="2297294" y="419560"/>
                  <a:pt x="2305280" y="419330"/>
                </a:quadBezTo>
                <a:lnTo>
                  <a:pt x="2686280" y="419330"/>
                </a:lnTo>
                <a:quadBezTo>
                  <a:pt x="2694266" y="419560"/>
                  <a:pt x="2699750" y="413750"/>
                </a:quadBezTo>
                <a:quadBezTo>
                  <a:pt x="2705560" y="408266"/>
                  <a:pt x="2705330" y="400280"/>
                </a:quadBezTo>
                <a:quadBezTo>
                  <a:pt x="2705560" y="392294"/>
                  <a:pt x="2699750" y="386809"/>
                </a:quadBezTo>
                <a:quadBezTo>
                  <a:pt x="2694266" y="381000"/>
                  <a:pt x="2686280" y="381230"/>
                </a:quadBezTo>
                <a:close/>
                <a:moveTo>
                  <a:pt x="1543280" y="857480"/>
                </a:moveTo>
                <a:lnTo>
                  <a:pt x="1162280" y="857480"/>
                </a:lnTo>
                <a:quadBezTo>
                  <a:pt x="1154294" y="857250"/>
                  <a:pt x="1148809" y="863059"/>
                </a:quadBezTo>
                <a:quadBezTo>
                  <a:pt x="1143000" y="868544"/>
                  <a:pt x="1143230" y="876530"/>
                </a:quadBezTo>
                <a:quadBezTo>
                  <a:pt x="1143000" y="884516"/>
                  <a:pt x="1148809" y="890000"/>
                </a:quadBezTo>
                <a:quadBezTo>
                  <a:pt x="1154294" y="895810"/>
                  <a:pt x="1162280" y="895580"/>
                </a:quadBezTo>
                <a:lnTo>
                  <a:pt x="1543280" y="895580"/>
                </a:lnTo>
                <a:quadBezTo>
                  <a:pt x="1551266" y="895810"/>
                  <a:pt x="1556750" y="890000"/>
                </a:quadBezTo>
                <a:quadBezTo>
                  <a:pt x="1562560" y="884516"/>
                  <a:pt x="1562330" y="876530"/>
                </a:quadBezTo>
                <a:quadBezTo>
                  <a:pt x="1562560" y="868544"/>
                  <a:pt x="1556750" y="863059"/>
                </a:quadBezTo>
                <a:quadBezTo>
                  <a:pt x="1551266" y="857250"/>
                  <a:pt x="1543280" y="857480"/>
                </a:quadBezTo>
                <a:close/>
                <a:moveTo>
                  <a:pt x="3829280" y="1238480"/>
                </a:moveTo>
                <a:lnTo>
                  <a:pt x="3448280" y="1238480"/>
                </a:lnTo>
                <a:quadBezTo>
                  <a:pt x="3440294" y="1238250"/>
                  <a:pt x="3434810" y="1244060"/>
                </a:quadBezTo>
                <a:quadBezTo>
                  <a:pt x="3429000" y="1249544"/>
                  <a:pt x="3429230" y="1257530"/>
                </a:quadBezTo>
                <a:quadBezTo>
                  <a:pt x="3429000" y="1265516"/>
                  <a:pt x="3434810" y="1271000"/>
                </a:quadBezTo>
                <a:quadBezTo>
                  <a:pt x="3440294" y="1276810"/>
                  <a:pt x="3448280" y="1276580"/>
                </a:quadBezTo>
                <a:lnTo>
                  <a:pt x="3829280" y="1276580"/>
                </a:lnTo>
                <a:quadBezTo>
                  <a:pt x="3837266" y="1276810"/>
                  <a:pt x="3842750" y="1271000"/>
                </a:quadBezTo>
                <a:quadBezTo>
                  <a:pt x="3848560" y="1265516"/>
                  <a:pt x="3848330" y="1257530"/>
                </a:quadBezTo>
                <a:quadBezTo>
                  <a:pt x="3848560" y="1249544"/>
                  <a:pt x="3842750" y="1244060"/>
                </a:quadBezTo>
                <a:quadBezTo>
                  <a:pt x="3837266" y="1238250"/>
                  <a:pt x="3829280" y="1238480"/>
                </a:quadBezTo>
                <a:close/>
                <a:moveTo>
                  <a:pt x="6115280" y="1714730"/>
                </a:moveTo>
                <a:lnTo>
                  <a:pt x="5734280" y="1714730"/>
                </a:lnTo>
                <a:quadBezTo>
                  <a:pt x="5726293" y="1714500"/>
                  <a:pt x="5720809" y="1720309"/>
                </a:quadBezTo>
                <a:quadBezTo>
                  <a:pt x="5715000" y="1725794"/>
                  <a:pt x="5715230" y="1733780"/>
                </a:quadBezTo>
                <a:quadBezTo>
                  <a:pt x="5715000" y="1741766"/>
                  <a:pt x="5720809" y="1747250"/>
                </a:quadBezTo>
                <a:quadBezTo>
                  <a:pt x="5726293" y="1753060"/>
                  <a:pt x="5734280" y="1752830"/>
                </a:quadBezTo>
                <a:lnTo>
                  <a:pt x="6115280" y="1752830"/>
                </a:lnTo>
                <a:quadBezTo>
                  <a:pt x="6123265" y="1753060"/>
                  <a:pt x="6128750" y="1747250"/>
                </a:quadBezTo>
                <a:quadBezTo>
                  <a:pt x="6134559" y="1741766"/>
                  <a:pt x="6134330" y="1733780"/>
                </a:quadBezTo>
                <a:quadBezTo>
                  <a:pt x="6134559" y="1725794"/>
                  <a:pt x="6128750" y="1720309"/>
                </a:quadBezTo>
                <a:quadBezTo>
                  <a:pt x="6123265" y="1714500"/>
                  <a:pt x="6115280" y="1714730"/>
                </a:quadBezTo>
                <a:close/>
              </a:path>
            </a:pathLst>
          </a:custGeom>
          <a:solidFill>
            <a:srgbClr val="00C2A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Path"/>
          <p:cNvSpPr/>
          <p:nvPr/>
        </p:nvSpPr>
        <p:spPr>
          <a:xfrm>
            <a:off x="10267720" y="4647970"/>
            <a:ext cx="6134559" cy="1753060"/>
          </a:xfrm>
          <a:custGeom>
            <a:avLst/>
            <a:gdLst/>
            <a:ahLst/>
            <a:cxnLst/>
            <a:rect l="0" t="0" r="r" b="b"/>
            <a:pathLst>
              <a:path w="6134559" h="1753060">
                <a:moveTo>
                  <a:pt x="400280" y="230"/>
                </a:moveTo>
                <a:lnTo>
                  <a:pt x="19280" y="230"/>
                </a:lnTo>
                <a:quadBezTo>
                  <a:pt x="11294" y="0"/>
                  <a:pt x="5809" y="5809"/>
                </a:quadBezTo>
                <a:quadBezTo>
                  <a:pt x="0" y="11294"/>
                  <a:pt x="230" y="19280"/>
                </a:quadBezTo>
                <a:quadBezTo>
                  <a:pt x="0" y="27266"/>
                  <a:pt x="5809" y="32750"/>
                </a:quadBezTo>
                <a:quadBezTo>
                  <a:pt x="11294" y="38560"/>
                  <a:pt x="19280" y="38330"/>
                </a:quadBezTo>
                <a:lnTo>
                  <a:pt x="400280" y="38330"/>
                </a:lnTo>
                <a:quadBezTo>
                  <a:pt x="408266" y="38560"/>
                  <a:pt x="413750" y="32750"/>
                </a:quadBezTo>
                <a:quadBezTo>
                  <a:pt x="419560" y="27266"/>
                  <a:pt x="419330" y="19280"/>
                </a:quadBezTo>
                <a:quadBezTo>
                  <a:pt x="419560" y="11294"/>
                  <a:pt x="413750" y="5809"/>
                </a:quadBezTo>
                <a:quadBezTo>
                  <a:pt x="408266" y="0"/>
                  <a:pt x="400280" y="230"/>
                </a:quadBezTo>
                <a:close/>
                <a:moveTo>
                  <a:pt x="4972280" y="381230"/>
                </a:moveTo>
                <a:lnTo>
                  <a:pt x="4591280" y="381230"/>
                </a:lnTo>
                <a:quadBezTo>
                  <a:pt x="4583294" y="381000"/>
                  <a:pt x="4577810" y="386809"/>
                </a:quadBezTo>
                <a:quadBezTo>
                  <a:pt x="4572000" y="392294"/>
                  <a:pt x="4572230" y="400280"/>
                </a:quadBezTo>
                <a:quadBezTo>
                  <a:pt x="4572000" y="408266"/>
                  <a:pt x="4577810" y="413750"/>
                </a:quadBezTo>
                <a:quadBezTo>
                  <a:pt x="4583294" y="419560"/>
                  <a:pt x="4591280" y="419330"/>
                </a:quadBezTo>
                <a:lnTo>
                  <a:pt x="4972280" y="419330"/>
                </a:lnTo>
                <a:quadBezTo>
                  <a:pt x="4980266" y="419560"/>
                  <a:pt x="4985750" y="413750"/>
                </a:quadBezTo>
                <a:quadBezTo>
                  <a:pt x="4991559" y="408266"/>
                  <a:pt x="4991330" y="400280"/>
                </a:quadBezTo>
                <a:quadBezTo>
                  <a:pt x="4991559" y="392294"/>
                  <a:pt x="4985750" y="386809"/>
                </a:quadBezTo>
                <a:quadBezTo>
                  <a:pt x="4980266" y="381000"/>
                  <a:pt x="4972280" y="381230"/>
                </a:quadBezTo>
                <a:close/>
                <a:moveTo>
                  <a:pt x="2686280" y="476480"/>
                </a:moveTo>
                <a:lnTo>
                  <a:pt x="2305280" y="476480"/>
                </a:lnTo>
                <a:quadBezTo>
                  <a:pt x="2297294" y="476250"/>
                  <a:pt x="2291810" y="482059"/>
                </a:quadBezTo>
                <a:quadBezTo>
                  <a:pt x="2286000" y="487544"/>
                  <a:pt x="2286230" y="495530"/>
                </a:quadBezTo>
                <a:quadBezTo>
                  <a:pt x="2286000" y="503516"/>
                  <a:pt x="2291810" y="509000"/>
                </a:quadBezTo>
                <a:quadBezTo>
                  <a:pt x="2297294" y="514810"/>
                  <a:pt x="2305280" y="514580"/>
                </a:quadBezTo>
                <a:lnTo>
                  <a:pt x="2686280" y="514580"/>
                </a:lnTo>
                <a:quadBezTo>
                  <a:pt x="2694266" y="514810"/>
                  <a:pt x="2699750" y="509000"/>
                </a:quadBezTo>
                <a:quadBezTo>
                  <a:pt x="2705560" y="503516"/>
                  <a:pt x="2705330" y="495530"/>
                </a:quadBezTo>
                <a:quadBezTo>
                  <a:pt x="2705560" y="487544"/>
                  <a:pt x="2699750" y="482059"/>
                </a:quadBezTo>
                <a:quadBezTo>
                  <a:pt x="2694266" y="476250"/>
                  <a:pt x="2686280" y="476480"/>
                </a:quadBezTo>
                <a:close/>
                <a:moveTo>
                  <a:pt x="1543280" y="952730"/>
                </a:moveTo>
                <a:lnTo>
                  <a:pt x="1162280" y="952730"/>
                </a:lnTo>
                <a:quadBezTo>
                  <a:pt x="1154294" y="952500"/>
                  <a:pt x="1148809" y="958309"/>
                </a:quadBezTo>
                <a:quadBezTo>
                  <a:pt x="1143000" y="963794"/>
                  <a:pt x="1143230" y="971780"/>
                </a:quadBezTo>
                <a:quadBezTo>
                  <a:pt x="1143000" y="979766"/>
                  <a:pt x="1148809" y="985250"/>
                </a:quadBezTo>
                <a:quadBezTo>
                  <a:pt x="1154294" y="991060"/>
                  <a:pt x="1162280" y="990830"/>
                </a:quadBezTo>
                <a:lnTo>
                  <a:pt x="1543280" y="990830"/>
                </a:lnTo>
                <a:quadBezTo>
                  <a:pt x="1551266" y="991060"/>
                  <a:pt x="1556750" y="985250"/>
                </a:quadBezTo>
                <a:quadBezTo>
                  <a:pt x="1562560" y="979766"/>
                  <a:pt x="1562330" y="971780"/>
                </a:quadBezTo>
                <a:quadBezTo>
                  <a:pt x="1562560" y="963794"/>
                  <a:pt x="1556750" y="958309"/>
                </a:quadBezTo>
                <a:quadBezTo>
                  <a:pt x="1551266" y="952500"/>
                  <a:pt x="1543280" y="952730"/>
                </a:quadBezTo>
                <a:close/>
                <a:moveTo>
                  <a:pt x="3829280" y="1333730"/>
                </a:moveTo>
                <a:lnTo>
                  <a:pt x="3448280" y="1333730"/>
                </a:lnTo>
                <a:quadBezTo>
                  <a:pt x="3440294" y="1333500"/>
                  <a:pt x="3434810" y="1339310"/>
                </a:quadBezTo>
                <a:quadBezTo>
                  <a:pt x="3429000" y="1344794"/>
                  <a:pt x="3429230" y="1352780"/>
                </a:quadBezTo>
                <a:quadBezTo>
                  <a:pt x="3429000" y="1360766"/>
                  <a:pt x="3434810" y="1366250"/>
                </a:quadBezTo>
                <a:quadBezTo>
                  <a:pt x="3440294" y="1372060"/>
                  <a:pt x="3448280" y="1371830"/>
                </a:quadBezTo>
                <a:lnTo>
                  <a:pt x="3829280" y="1371830"/>
                </a:lnTo>
                <a:quadBezTo>
                  <a:pt x="3837266" y="1372060"/>
                  <a:pt x="3842750" y="1366250"/>
                </a:quadBezTo>
                <a:quadBezTo>
                  <a:pt x="3848560" y="1360766"/>
                  <a:pt x="3848330" y="1352780"/>
                </a:quadBezTo>
                <a:quadBezTo>
                  <a:pt x="3848560" y="1344794"/>
                  <a:pt x="3842750" y="1339310"/>
                </a:quadBezTo>
                <a:quadBezTo>
                  <a:pt x="3837266" y="1333500"/>
                  <a:pt x="3829280" y="1333730"/>
                </a:quadBezTo>
                <a:close/>
                <a:moveTo>
                  <a:pt x="6115280" y="1714730"/>
                </a:moveTo>
                <a:lnTo>
                  <a:pt x="5734280" y="1714730"/>
                </a:lnTo>
                <a:quadBezTo>
                  <a:pt x="5726293" y="1714500"/>
                  <a:pt x="5720809" y="1720309"/>
                </a:quadBezTo>
                <a:quadBezTo>
                  <a:pt x="5715000" y="1725794"/>
                  <a:pt x="5715230" y="1733780"/>
                </a:quadBezTo>
                <a:quadBezTo>
                  <a:pt x="5715000" y="1741766"/>
                  <a:pt x="5720809" y="1747250"/>
                </a:quadBezTo>
                <a:quadBezTo>
                  <a:pt x="5726293" y="1753060"/>
                  <a:pt x="5734280" y="1752830"/>
                </a:quadBezTo>
                <a:lnTo>
                  <a:pt x="6115280" y="1752830"/>
                </a:lnTo>
                <a:quadBezTo>
                  <a:pt x="6123265" y="1753060"/>
                  <a:pt x="6128750" y="1747250"/>
                </a:quadBezTo>
                <a:quadBezTo>
                  <a:pt x="6134559" y="1741766"/>
                  <a:pt x="6134330" y="1733780"/>
                </a:quadBezTo>
                <a:quadBezTo>
                  <a:pt x="6134559" y="1725794"/>
                  <a:pt x="6128750" y="1720309"/>
                </a:quadBezTo>
                <a:quadBezTo>
                  <a:pt x="6123265" y="1714500"/>
                  <a:pt x="6115280" y="1714730"/>
                </a:quadBezTo>
                <a:close/>
              </a:path>
            </a:pathLst>
          </a:custGeom>
          <a:solidFill>
            <a:srgbClr val="00C2A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Path"/>
          <p:cNvSpPr/>
          <p:nvPr/>
        </p:nvSpPr>
        <p:spPr>
          <a:xfrm>
            <a:off x="10267720" y="6171970"/>
            <a:ext cx="3848560" cy="800560"/>
          </a:xfrm>
          <a:custGeom>
            <a:avLst/>
            <a:gdLst/>
            <a:ahLst/>
            <a:cxnLst/>
            <a:rect l="0" t="0" r="r" b="b"/>
            <a:pathLst>
              <a:path w="3848560" h="800560">
                <a:moveTo>
                  <a:pt x="400280" y="230"/>
                </a:moveTo>
                <a:lnTo>
                  <a:pt x="19280" y="230"/>
                </a:lnTo>
                <a:quadBezTo>
                  <a:pt x="11294" y="0"/>
                  <a:pt x="5809" y="5809"/>
                </a:quadBezTo>
                <a:quadBezTo>
                  <a:pt x="0" y="11294"/>
                  <a:pt x="230" y="19280"/>
                </a:quadBezTo>
                <a:quadBezTo>
                  <a:pt x="0" y="27266"/>
                  <a:pt x="5809" y="32750"/>
                </a:quadBezTo>
                <a:quadBezTo>
                  <a:pt x="11294" y="38560"/>
                  <a:pt x="19280" y="38330"/>
                </a:quadBezTo>
                <a:lnTo>
                  <a:pt x="400280" y="38330"/>
                </a:lnTo>
                <a:quadBezTo>
                  <a:pt x="408266" y="38560"/>
                  <a:pt x="413750" y="32750"/>
                </a:quadBezTo>
                <a:quadBezTo>
                  <a:pt x="419560" y="27266"/>
                  <a:pt x="419330" y="19280"/>
                </a:quadBezTo>
                <a:quadBezTo>
                  <a:pt x="419560" y="11294"/>
                  <a:pt x="413750" y="5809"/>
                </a:quadBezTo>
                <a:quadBezTo>
                  <a:pt x="408266" y="0"/>
                  <a:pt x="400280" y="230"/>
                </a:quadBezTo>
                <a:close/>
                <a:moveTo>
                  <a:pt x="3829280" y="762230"/>
                </a:moveTo>
                <a:lnTo>
                  <a:pt x="3448280" y="762230"/>
                </a:lnTo>
                <a:quadBezTo>
                  <a:pt x="3440294" y="762000"/>
                  <a:pt x="3434810" y="767809"/>
                </a:quadBezTo>
                <a:quadBezTo>
                  <a:pt x="3429000" y="773294"/>
                  <a:pt x="3429230" y="781280"/>
                </a:quadBezTo>
                <a:quadBezTo>
                  <a:pt x="3429000" y="789266"/>
                  <a:pt x="3434810" y="794750"/>
                </a:quadBezTo>
                <a:quadBezTo>
                  <a:pt x="3440294" y="800560"/>
                  <a:pt x="3448280" y="800330"/>
                </a:quadBezTo>
                <a:lnTo>
                  <a:pt x="3829280" y="800330"/>
                </a:lnTo>
                <a:quadBezTo>
                  <a:pt x="3837266" y="800560"/>
                  <a:pt x="3842750" y="794750"/>
                </a:quadBezTo>
                <a:quadBezTo>
                  <a:pt x="3848560" y="789266"/>
                  <a:pt x="3848330" y="781280"/>
                </a:quadBezTo>
                <a:quadBezTo>
                  <a:pt x="3848560" y="773294"/>
                  <a:pt x="3842750" y="767809"/>
                </a:quadBezTo>
                <a:quadBezTo>
                  <a:pt x="3837266" y="762000"/>
                  <a:pt x="3829280" y="762230"/>
                </a:quadBezTo>
                <a:close/>
              </a:path>
            </a:pathLst>
          </a:custGeom>
          <a:solidFill>
            <a:srgbClr val="FFB02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"/>
          <p:cNvSpPr txBox="1"/>
          <p:nvPr/>
        </p:nvSpPr>
        <p:spPr>
          <a:xfrm>
            <a:off x="16383000" y="9429750"/>
            <a:ext cx="651774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4E6478"/>
                </a:solidFill>
                <a:latin typeface="Inter"/>
                <a:ea typeface="Inter"/>
                <a:cs typeface="Inter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914400"/>
            <a:ext cx="148611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 spc="225">
                <a:solidFill>
                  <a:srgbClr val="00806F"/>
                </a:solidFill>
                <a:latin typeface="Noto Sans SC Bold"/>
                <a:ea typeface="Noto Sans SC Bold"/>
                <a:cs typeface="Noto Sans SC Bold"/>
              </a:rPr>
              <a:t>12 / 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390650"/>
            <a:ext cx="7010400" cy="885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4800">
                <a:solidFill>
                  <a:srgbClr val="0F1B2A"/>
                </a:solidFill>
                <a:latin typeface="Noto Sans SC Bold"/>
                <a:ea typeface="Noto Sans SC Bold"/>
                <a:cs typeface="Noto Sans SC Bold"/>
              </a:rPr>
              <a:t> CAN </a:t>
            </a:r>
          </a:p>
        </p:txBody>
      </p:sp>
      <p:sp>
        <p:nvSpPr>
          <p:cNvPr id="5" name="Rectangle"/>
          <p:cNvSpPr/>
          <p:nvPr/>
        </p:nvSpPr>
        <p:spPr>
          <a:xfrm>
            <a:off x="1143000" y="3048000"/>
            <a:ext cx="2381250" cy="40005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"/>
          <p:cNvSpPr/>
          <p:nvPr/>
        </p:nvSpPr>
        <p:spPr>
          <a:xfrm>
            <a:off x="1390650" y="3295650"/>
            <a:ext cx="381000" cy="381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"/>
          <p:cNvSpPr txBox="1"/>
          <p:nvPr/>
        </p:nvSpPr>
        <p:spPr>
          <a:xfrm>
            <a:off x="1390650" y="3467100"/>
            <a:ext cx="27432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00A88F"/>
                </a:solidFill>
                <a:latin typeface="JetBrains Mono Bold"/>
                <a:ea typeface="JetBrains Mono Bold"/>
                <a:cs typeface="JetBrains Mono Bold"/>
              </a:rPr>
              <a:t>P0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390650" y="3905250"/>
            <a:ext cx="1333500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850"/>
              </a:lnSpc>
            </a:pPr>
            <a:r>
              <a:rPr lang="zh-CN" sz="2100">
                <a:solidFill>
                  <a:srgbClr val="0F1B2A"/>
                </a:solidFill>
                <a:latin typeface="Noto Sans SC Bold"/>
                <a:ea typeface="Noto Sans SC Bold"/>
                <a:cs typeface="Noto Sans SC Bold"/>
              </a:rPr>
              <a:t>信号链自检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1390650" y="4400550"/>
            <a:ext cx="1716843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2400"/>
              </a:lnSpc>
            </a:pPr>
            <a:r>
              <a:rPr lang="en-US" sz="1650">
                <a:solidFill>
                  <a:srgbClr val="5D6F80"/>
                </a:solidFill>
                <a:latin typeface="Noto Sans SC"/>
                <a:ea typeface="Noto Sans SC"/>
                <a:cs typeface="Noto Sans SC"/>
              </a:rPr>
              <a:t>CAN 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1390650" y="5143500"/>
            <a:ext cx="532667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575">
                <a:solidFill>
                  <a:srgbClr val="C97A00"/>
                </a:solidFill>
                <a:latin typeface="Noto Sans SC"/>
                <a:ea typeface="Noto Sans SC"/>
                <a:cs typeface="Noto Sans SC"/>
              </a:rPr>
              <a:t>0.5 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1390650" y="5562600"/>
            <a:ext cx="14668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zh-CN" sz="1650">
                <a:solidFill>
                  <a:srgbClr val="A0AEBB"/>
                </a:solidFill>
                <a:latin typeface="Noto Sans SC"/>
                <a:ea typeface="Noto Sans SC"/>
                <a:cs typeface="Noto Sans SC"/>
              </a:rPr>
              <a:t>产出：采集脚本</a:t>
            </a:r>
          </a:p>
        </p:txBody>
      </p:sp>
      <p:sp>
        <p:nvSpPr>
          <p:cNvPr id="12" name="Rectangle"/>
          <p:cNvSpPr/>
          <p:nvPr/>
        </p:nvSpPr>
        <p:spPr>
          <a:xfrm>
            <a:off x="1147763" y="3052763"/>
            <a:ext cx="2371725" cy="3990975"/>
          </a:xfrm>
          <a:prstGeom prst="roundRect">
            <a:avLst>
              <a:gd name="adj" fmla="val 6224"/>
            </a:avLst>
          </a:prstGeom>
          <a:noFill/>
          <a:ln w="9525">
            <a:solidFill>
              <a:srgbClr val="E6EA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"/>
          <p:cNvSpPr/>
          <p:nvPr/>
        </p:nvSpPr>
        <p:spPr>
          <a:xfrm>
            <a:off x="3771900" y="3048000"/>
            <a:ext cx="2381250" cy="40005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"/>
          <p:cNvSpPr/>
          <p:nvPr/>
        </p:nvSpPr>
        <p:spPr>
          <a:xfrm>
            <a:off x="4019550" y="3295650"/>
            <a:ext cx="381000" cy="381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"/>
          <p:cNvSpPr txBox="1"/>
          <p:nvPr/>
        </p:nvSpPr>
        <p:spPr>
          <a:xfrm>
            <a:off x="4019550" y="3467100"/>
            <a:ext cx="27432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00A88F"/>
                </a:solidFill>
                <a:latin typeface="JetBrains Mono Bold"/>
                <a:ea typeface="JetBrains Mono Bold"/>
                <a:cs typeface="JetBrains Mono Bold"/>
              </a:rPr>
              <a:t>P1</a:t>
            </a:r>
          </a:p>
        </p:txBody>
      </p:sp>
      <p:sp>
        <p:nvSpPr>
          <p:cNvPr id="16" name="TextBox"/>
          <p:cNvSpPr txBox="1"/>
          <p:nvPr/>
        </p:nvSpPr>
        <p:spPr>
          <a:xfrm>
            <a:off x="4019550" y="3905250"/>
            <a:ext cx="1502588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850"/>
              </a:lnSpc>
            </a:pPr>
            <a:r>
              <a:rPr lang="en-US" sz="2100">
                <a:solidFill>
                  <a:srgbClr val="0F1B2A"/>
                </a:solidFill>
                <a:latin typeface="Noto Sans SC Bold"/>
                <a:ea typeface="Noto Sans SC Bold"/>
                <a:cs typeface="Noto Sans SC Bold"/>
              </a:rPr>
              <a:t> 10 </a:t>
            </a:r>
          </a:p>
        </p:txBody>
      </p:sp>
      <p:sp>
        <p:nvSpPr>
          <p:cNvPr id="17" name="TextBox"/>
          <p:cNvSpPr txBox="1"/>
          <p:nvPr/>
        </p:nvSpPr>
        <p:spPr>
          <a:xfrm>
            <a:off x="4019550" y="4400550"/>
            <a:ext cx="188595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2400"/>
              </a:lnSpc>
            </a:pPr>
            <a:r>
              <a:rPr lang="zh-CN" sz="1650">
                <a:solidFill>
                  <a:srgbClr val="5D6F80"/>
                </a:solidFill>
                <a:latin typeface="Noto Sans SC"/>
                <a:ea typeface="Noto Sans SC"/>
                <a:cs typeface="Noto Sans SC"/>
              </a:rPr>
              <a:t>三类轨迹覆盖全工作空间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4019550" y="5143500"/>
            <a:ext cx="35904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575">
                <a:solidFill>
                  <a:srgbClr val="C97A00"/>
                </a:solidFill>
                <a:latin typeface="Noto Sans SC"/>
                <a:ea typeface="Noto Sans SC"/>
                <a:cs typeface="Noto Sans SC"/>
              </a:rPr>
              <a:t>1 </a:t>
            </a:r>
          </a:p>
        </p:txBody>
      </p:sp>
      <p:sp>
        <p:nvSpPr>
          <p:cNvPr id="19" name="TextBox"/>
          <p:cNvSpPr txBox="1"/>
          <p:nvPr/>
        </p:nvSpPr>
        <p:spPr>
          <a:xfrm>
            <a:off x="4019550" y="5562600"/>
            <a:ext cx="1630089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en-US" sz="1650">
                <a:solidFill>
                  <a:srgbClr val="A0AEBB"/>
                </a:solidFill>
                <a:latin typeface="Noto Sans SC"/>
                <a:ea typeface="Noto Sans SC"/>
                <a:cs typeface="Noto Sans SC"/>
              </a:rPr>
              <a:t>6 </a:t>
            </a:r>
          </a:p>
        </p:txBody>
      </p:sp>
      <p:sp>
        <p:nvSpPr>
          <p:cNvPr id="20" name="Rectangle"/>
          <p:cNvSpPr/>
          <p:nvPr/>
        </p:nvSpPr>
        <p:spPr>
          <a:xfrm>
            <a:off x="3776663" y="3052763"/>
            <a:ext cx="2371725" cy="3990975"/>
          </a:xfrm>
          <a:prstGeom prst="roundRect">
            <a:avLst>
              <a:gd name="adj" fmla="val 6224"/>
            </a:avLst>
          </a:prstGeom>
          <a:noFill/>
          <a:ln w="9525">
            <a:solidFill>
              <a:srgbClr val="E6EA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"/>
          <p:cNvSpPr/>
          <p:nvPr/>
        </p:nvSpPr>
        <p:spPr>
          <a:xfrm>
            <a:off x="6400800" y="3048000"/>
            <a:ext cx="2381250" cy="40005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"/>
          <p:cNvSpPr/>
          <p:nvPr/>
        </p:nvSpPr>
        <p:spPr>
          <a:xfrm>
            <a:off x="6648450" y="3295650"/>
            <a:ext cx="381000" cy="381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Box"/>
          <p:cNvSpPr txBox="1"/>
          <p:nvPr/>
        </p:nvSpPr>
        <p:spPr>
          <a:xfrm>
            <a:off x="6648450" y="3467100"/>
            <a:ext cx="27432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00A88F"/>
                </a:solidFill>
                <a:latin typeface="JetBrains Mono Bold"/>
                <a:ea typeface="JetBrains Mono Bold"/>
                <a:cs typeface="JetBrains Mono Bold"/>
              </a:rPr>
              <a:t>P2</a:t>
            </a:r>
          </a:p>
        </p:txBody>
      </p:sp>
      <p:sp>
        <p:nvSpPr>
          <p:cNvPr id="24" name="TextBox"/>
          <p:cNvSpPr txBox="1"/>
          <p:nvPr/>
        </p:nvSpPr>
        <p:spPr>
          <a:xfrm>
            <a:off x="6648450" y="3905250"/>
            <a:ext cx="1284161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850"/>
              </a:lnSpc>
            </a:pPr>
            <a:r>
              <a:rPr lang="en-US" sz="2100">
                <a:solidFill>
                  <a:srgbClr val="0F1B2A"/>
                </a:solidFill>
                <a:latin typeface="Noto Sans SC Bold"/>
                <a:ea typeface="Noto Sans SC Bold"/>
                <a:cs typeface="Noto Sans SC Bold"/>
              </a:rPr>
              <a:t> NEXT</a:t>
            </a:r>
          </a:p>
        </p:txBody>
      </p:sp>
      <p:sp>
        <p:nvSpPr>
          <p:cNvPr id="25" name="TextBox"/>
          <p:cNvSpPr txBox="1"/>
          <p:nvPr/>
        </p:nvSpPr>
        <p:spPr>
          <a:xfrm>
            <a:off x="6648450" y="4400550"/>
            <a:ext cx="17323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2400"/>
              </a:lnSpc>
            </a:pPr>
            <a:r>
              <a:rPr lang="zh-CN" sz="1650">
                <a:solidFill>
                  <a:srgbClr val="5D6F80"/>
                </a:solidFill>
                <a:latin typeface="Noto Sans SC"/>
                <a:ea typeface="Noto Sans SC"/>
                <a:cs typeface="Noto Sans SC"/>
              </a:rPr>
              <a:t>LSTM + MLP，1 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6648450" y="5143500"/>
            <a:ext cx="532667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575">
                <a:solidFill>
                  <a:srgbClr val="C97A00"/>
                </a:solidFill>
                <a:latin typeface="Noto Sans SC"/>
                <a:ea typeface="Noto Sans SC"/>
                <a:cs typeface="Noto Sans SC"/>
              </a:rPr>
              <a:t>0.5 </a:t>
            </a:r>
          </a:p>
        </p:txBody>
      </p:sp>
      <p:sp>
        <p:nvSpPr>
          <p:cNvPr id="27" name="TextBox"/>
          <p:cNvSpPr txBox="1"/>
          <p:nvPr/>
        </p:nvSpPr>
        <p:spPr>
          <a:xfrm>
            <a:off x="6648450" y="5562600"/>
            <a:ext cx="138764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en-US" sz="1650">
                <a:solidFill>
                  <a:srgbClr val="A0AEBB"/>
                </a:solidFill>
                <a:latin typeface="Noto Sans SC"/>
                <a:ea typeface="Noto Sans SC"/>
                <a:cs typeface="Noto Sans SC"/>
              </a:rPr>
              <a:t>τ_f </a:t>
            </a:r>
          </a:p>
        </p:txBody>
      </p:sp>
      <p:sp>
        <p:nvSpPr>
          <p:cNvPr id="28" name="Rectangle"/>
          <p:cNvSpPr/>
          <p:nvPr/>
        </p:nvSpPr>
        <p:spPr>
          <a:xfrm>
            <a:off x="6405563" y="3052763"/>
            <a:ext cx="2371725" cy="3990975"/>
          </a:xfrm>
          <a:prstGeom prst="roundRect">
            <a:avLst>
              <a:gd name="adj" fmla="val 6224"/>
            </a:avLst>
          </a:prstGeom>
          <a:noFill/>
          <a:ln w="9525">
            <a:solidFill>
              <a:srgbClr val="E6EA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"/>
          <p:cNvSpPr/>
          <p:nvPr/>
        </p:nvSpPr>
        <p:spPr>
          <a:xfrm>
            <a:off x="9029700" y="3048000"/>
            <a:ext cx="2381250" cy="4000500"/>
          </a:xfrm>
          <a:prstGeom prst="roundRect">
            <a:avLst>
              <a:gd name="adj" fmla="val 6400"/>
            </a:avLst>
          </a:prstGeom>
          <a:solidFill>
            <a:srgbClr val="0F1B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"/>
          <p:cNvSpPr/>
          <p:nvPr/>
        </p:nvSpPr>
        <p:spPr>
          <a:xfrm>
            <a:off x="9277350" y="3295650"/>
            <a:ext cx="381000" cy="38100"/>
          </a:xfrm>
          <a:prstGeom prst="rect">
            <a:avLst/>
          </a:prstGeom>
          <a:solidFill>
            <a:srgbClr val="FFB02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Box"/>
          <p:cNvSpPr txBox="1"/>
          <p:nvPr/>
        </p:nvSpPr>
        <p:spPr>
          <a:xfrm>
            <a:off x="9277350" y="3467100"/>
            <a:ext cx="27432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FFB020"/>
                </a:solidFill>
                <a:latin typeface="JetBrains Mono Bold"/>
                <a:ea typeface="JetBrains Mono Bold"/>
                <a:cs typeface="JetBrains Mono Bold"/>
              </a:rPr>
              <a:t>P3</a:t>
            </a:r>
          </a:p>
        </p:txBody>
      </p:sp>
      <p:sp>
        <p:nvSpPr>
          <p:cNvPr id="32" name="TextBox"/>
          <p:cNvSpPr txBox="1"/>
          <p:nvPr/>
        </p:nvSpPr>
        <p:spPr>
          <a:xfrm>
            <a:off x="9277350" y="3905250"/>
            <a:ext cx="1600200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850"/>
              </a:lnSpc>
            </a:pPr>
            <a:r>
              <a:rPr lang="zh-CN" sz="2100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自由空间验收</a:t>
            </a:r>
          </a:p>
        </p:txBody>
      </p:sp>
      <p:sp>
        <p:nvSpPr>
          <p:cNvPr id="33" name="TextBox"/>
          <p:cNvSpPr txBox="1"/>
          <p:nvPr/>
        </p:nvSpPr>
        <p:spPr>
          <a:xfrm>
            <a:off x="9277350" y="4400550"/>
            <a:ext cx="1770278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2400"/>
              </a:lnSpc>
            </a:pPr>
            <a:r>
              <a:rPr lang="en-US" sz="1650">
                <a:solidFill>
                  <a:srgbClr val="A9BACB"/>
                </a:solidFill>
                <a:latin typeface="Noto Sans SC"/>
                <a:ea typeface="Noto Sans SC"/>
                <a:cs typeface="Noto Sans SC"/>
              </a:rPr>
              <a:t> ≤ 0.05 Nm</a:t>
            </a:r>
          </a:p>
        </p:txBody>
      </p:sp>
      <p:sp>
        <p:nvSpPr>
          <p:cNvPr id="34" name="TextBox"/>
          <p:cNvSpPr txBox="1"/>
          <p:nvPr/>
        </p:nvSpPr>
        <p:spPr>
          <a:xfrm>
            <a:off x="9277350" y="5143500"/>
            <a:ext cx="532667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575">
                <a:solidFill>
                  <a:srgbClr val="FFB020"/>
                </a:solidFill>
                <a:latin typeface="Noto Sans SC"/>
                <a:ea typeface="Noto Sans SC"/>
                <a:cs typeface="Noto Sans SC"/>
              </a:rPr>
              <a:t>0.5 </a:t>
            </a:r>
          </a:p>
        </p:txBody>
      </p:sp>
      <p:sp>
        <p:nvSpPr>
          <p:cNvPr id="35" name="TextBox"/>
          <p:cNvSpPr txBox="1"/>
          <p:nvPr/>
        </p:nvSpPr>
        <p:spPr>
          <a:xfrm>
            <a:off x="9277350" y="5562600"/>
            <a:ext cx="14668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zh-CN" sz="1650">
                <a:solidFill>
                  <a:srgbClr val="8FA6BA"/>
                </a:solidFill>
                <a:latin typeface="Noto Sans SC"/>
                <a:ea typeface="Noto Sans SC"/>
                <a:cs typeface="Noto Sans SC"/>
              </a:rPr>
              <a:t>产出：验收记录</a:t>
            </a:r>
          </a:p>
        </p:txBody>
      </p:sp>
      <p:sp>
        <p:nvSpPr>
          <p:cNvPr id="36" name="Rectangle"/>
          <p:cNvSpPr/>
          <p:nvPr/>
        </p:nvSpPr>
        <p:spPr>
          <a:xfrm>
            <a:off x="11658600" y="3048000"/>
            <a:ext cx="2381250" cy="40005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"/>
          <p:cNvSpPr/>
          <p:nvPr/>
        </p:nvSpPr>
        <p:spPr>
          <a:xfrm>
            <a:off x="11906250" y="3295650"/>
            <a:ext cx="381000" cy="381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Box"/>
          <p:cNvSpPr txBox="1"/>
          <p:nvPr/>
        </p:nvSpPr>
        <p:spPr>
          <a:xfrm>
            <a:off x="11906250" y="3467100"/>
            <a:ext cx="27432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00A88F"/>
                </a:solidFill>
                <a:latin typeface="JetBrains Mono Bold"/>
                <a:ea typeface="JetBrains Mono Bold"/>
                <a:cs typeface="JetBrains Mono Bold"/>
              </a:rPr>
              <a:t>P4</a:t>
            </a:r>
          </a:p>
        </p:txBody>
      </p:sp>
      <p:sp>
        <p:nvSpPr>
          <p:cNvPr id="39" name="TextBox"/>
          <p:cNvSpPr txBox="1"/>
          <p:nvPr/>
        </p:nvSpPr>
        <p:spPr>
          <a:xfrm>
            <a:off x="11906250" y="3905250"/>
            <a:ext cx="1339901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850"/>
              </a:lnSpc>
            </a:pPr>
            <a:r>
              <a:rPr lang="en-US" sz="2100">
                <a:solidFill>
                  <a:srgbClr val="0F1B2A"/>
                </a:solidFill>
                <a:latin typeface="Noto Sans SC Bold"/>
                <a:ea typeface="Noto Sans SC Bold"/>
                <a:cs typeface="Noto Sans SC Bold"/>
              </a:rPr>
              <a:t> FIRST</a:t>
            </a:r>
          </a:p>
        </p:txBody>
      </p:sp>
      <p:sp>
        <p:nvSpPr>
          <p:cNvPr id="40" name="TextBox"/>
          <p:cNvSpPr txBox="1"/>
          <p:nvPr/>
        </p:nvSpPr>
        <p:spPr>
          <a:xfrm>
            <a:off x="11906250" y="4400550"/>
            <a:ext cx="188595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2400"/>
              </a:lnSpc>
            </a:pPr>
            <a:r>
              <a:rPr lang="zh-CN" sz="1650">
                <a:solidFill>
                  <a:srgbClr val="5D6F80"/>
                </a:solidFill>
                <a:latin typeface="Noto Sans SC"/>
                <a:ea typeface="Noto Sans SC"/>
                <a:cs typeface="Noto Sans SC"/>
              </a:rPr>
              <a:t>双阈值切相位，加权采样</a:t>
            </a:r>
          </a:p>
        </p:txBody>
      </p:sp>
      <p:sp>
        <p:nvSpPr>
          <p:cNvPr id="41" name="TextBox"/>
          <p:cNvSpPr txBox="1"/>
          <p:nvPr/>
        </p:nvSpPr>
        <p:spPr>
          <a:xfrm>
            <a:off x="11906250" y="5143500"/>
            <a:ext cx="35904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575">
                <a:solidFill>
                  <a:srgbClr val="C97A00"/>
                </a:solidFill>
                <a:latin typeface="Noto Sans SC"/>
                <a:ea typeface="Noto Sans SC"/>
                <a:cs typeface="Noto Sans SC"/>
              </a:rPr>
              <a:t>1 </a:t>
            </a:r>
          </a:p>
        </p:txBody>
      </p:sp>
      <p:sp>
        <p:nvSpPr>
          <p:cNvPr id="42" name="TextBox"/>
          <p:cNvSpPr txBox="1"/>
          <p:nvPr/>
        </p:nvSpPr>
        <p:spPr>
          <a:xfrm>
            <a:off x="11906250" y="5562600"/>
            <a:ext cx="14668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zh-CN" sz="1650">
                <a:solidFill>
                  <a:srgbClr val="A0AEBB"/>
                </a:solidFill>
                <a:latin typeface="Noto Sans SC"/>
                <a:ea typeface="Noto Sans SC"/>
                <a:cs typeface="Noto Sans SC"/>
              </a:rPr>
              <a:t>产出：相位标签</a:t>
            </a:r>
          </a:p>
        </p:txBody>
      </p:sp>
      <p:sp>
        <p:nvSpPr>
          <p:cNvPr id="43" name="Rectangle"/>
          <p:cNvSpPr/>
          <p:nvPr/>
        </p:nvSpPr>
        <p:spPr>
          <a:xfrm>
            <a:off x="11663363" y="3052763"/>
            <a:ext cx="2371725" cy="3990975"/>
          </a:xfrm>
          <a:prstGeom prst="roundRect">
            <a:avLst>
              <a:gd name="adj" fmla="val 6224"/>
            </a:avLst>
          </a:prstGeom>
          <a:noFill/>
          <a:ln w="9525">
            <a:solidFill>
              <a:srgbClr val="E6EA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"/>
          <p:cNvSpPr/>
          <p:nvPr/>
        </p:nvSpPr>
        <p:spPr>
          <a:xfrm>
            <a:off x="14287500" y="3048000"/>
            <a:ext cx="2381250" cy="40005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"/>
          <p:cNvSpPr/>
          <p:nvPr/>
        </p:nvSpPr>
        <p:spPr>
          <a:xfrm>
            <a:off x="14535150" y="3295650"/>
            <a:ext cx="381000" cy="381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Box"/>
          <p:cNvSpPr txBox="1"/>
          <p:nvPr/>
        </p:nvSpPr>
        <p:spPr>
          <a:xfrm>
            <a:off x="14535150" y="3467100"/>
            <a:ext cx="27432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00A88F"/>
                </a:solidFill>
                <a:latin typeface="JetBrains Mono Bold"/>
                <a:ea typeface="JetBrains Mono Bold"/>
                <a:cs typeface="JetBrains Mono Bold"/>
              </a:rPr>
              <a:t>P5</a:t>
            </a:r>
          </a:p>
        </p:txBody>
      </p:sp>
      <p:sp>
        <p:nvSpPr>
          <p:cNvPr id="47" name="TextBox"/>
          <p:cNvSpPr txBox="1"/>
          <p:nvPr/>
        </p:nvSpPr>
        <p:spPr>
          <a:xfrm>
            <a:off x="14535150" y="3905250"/>
            <a:ext cx="1866900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850"/>
              </a:lnSpc>
            </a:pPr>
            <a:r>
              <a:rPr lang="zh-CN" sz="2100">
                <a:solidFill>
                  <a:srgbClr val="0F1B2A"/>
                </a:solidFill>
                <a:latin typeface="Noto Sans SC Bold"/>
                <a:ea typeface="Noto Sans SC Bold"/>
                <a:cs typeface="Noto Sans SC Bold"/>
              </a:rPr>
              <a:t>策略训练与评测</a:t>
            </a:r>
          </a:p>
        </p:txBody>
      </p:sp>
      <p:sp>
        <p:nvSpPr>
          <p:cNvPr id="48" name="TextBox"/>
          <p:cNvSpPr txBox="1"/>
          <p:nvPr/>
        </p:nvSpPr>
        <p:spPr>
          <a:xfrm>
            <a:off x="14535150" y="4400550"/>
            <a:ext cx="1683944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2400"/>
              </a:lnSpc>
            </a:pPr>
            <a:r>
              <a:rPr lang="zh-CN" sz="1650">
                <a:solidFill>
                  <a:srgbClr val="5D6F80"/>
                </a:solidFill>
                <a:latin typeface="Noto Sans SC"/>
                <a:ea typeface="Noto Sans SC"/>
                <a:cs typeface="Noto Sans SC"/>
              </a:rPr>
              <a:t>ACT 起步，单臂 1 </a:t>
            </a:r>
          </a:p>
        </p:txBody>
      </p:sp>
      <p:sp>
        <p:nvSpPr>
          <p:cNvPr id="49" name="TextBox"/>
          <p:cNvSpPr txBox="1"/>
          <p:nvPr/>
        </p:nvSpPr>
        <p:spPr>
          <a:xfrm>
            <a:off x="14535150" y="5143500"/>
            <a:ext cx="581073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575">
                <a:solidFill>
                  <a:srgbClr val="C97A00"/>
                </a:solidFill>
                <a:latin typeface="Noto Sans SC"/>
                <a:ea typeface="Noto Sans SC"/>
                <a:cs typeface="Noto Sans SC"/>
              </a:rPr>
              <a:t>2–4 </a:t>
            </a:r>
          </a:p>
        </p:txBody>
      </p:sp>
      <p:sp>
        <p:nvSpPr>
          <p:cNvPr id="50" name="TextBox"/>
          <p:cNvSpPr txBox="1"/>
          <p:nvPr/>
        </p:nvSpPr>
        <p:spPr>
          <a:xfrm>
            <a:off x="14535150" y="5562600"/>
            <a:ext cx="14668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zh-CN" sz="1650">
                <a:solidFill>
                  <a:srgbClr val="A0AEBB"/>
                </a:solidFill>
                <a:latin typeface="Noto Sans SC"/>
                <a:ea typeface="Noto Sans SC"/>
                <a:cs typeface="Noto Sans SC"/>
              </a:rPr>
              <a:t>产出：对比曲线</a:t>
            </a:r>
          </a:p>
        </p:txBody>
      </p:sp>
      <p:sp>
        <p:nvSpPr>
          <p:cNvPr id="51" name="Rectangle"/>
          <p:cNvSpPr/>
          <p:nvPr/>
        </p:nvSpPr>
        <p:spPr>
          <a:xfrm>
            <a:off x="14292263" y="3052763"/>
            <a:ext cx="2371725" cy="3990975"/>
          </a:xfrm>
          <a:prstGeom prst="roundRect">
            <a:avLst>
              <a:gd name="adj" fmla="val 6224"/>
            </a:avLst>
          </a:prstGeom>
          <a:noFill/>
          <a:ln w="9525">
            <a:solidFill>
              <a:srgbClr val="E6EA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"/>
          <p:cNvSpPr/>
          <p:nvPr/>
        </p:nvSpPr>
        <p:spPr>
          <a:xfrm>
            <a:off x="1143000" y="7581900"/>
            <a:ext cx="15525750" cy="9525"/>
          </a:xfrm>
          <a:prstGeom prst="rect">
            <a:avLst/>
          </a:prstGeom>
          <a:solidFill>
            <a:srgbClr val="DDE3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Box"/>
          <p:cNvSpPr txBox="1"/>
          <p:nvPr/>
        </p:nvSpPr>
        <p:spPr>
          <a:xfrm>
            <a:off x="1143000" y="7867650"/>
            <a:ext cx="5503031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950">
                <a:solidFill>
                  <a:srgbClr val="0F1B2A"/>
                </a:solidFill>
                <a:latin typeface="Noto Sans SC"/>
                <a:ea typeface="Noto Sans SC"/>
                <a:cs typeface="Noto Sans SC"/>
              </a:rPr>
              <a:t> P0–P3：约 3 </a:t>
            </a:r>
          </a:p>
        </p:txBody>
      </p:sp>
      <p:sp>
        <p:nvSpPr>
          <p:cNvPr id="54" name="TextBox"/>
          <p:cNvSpPr txBox="1"/>
          <p:nvPr/>
        </p:nvSpPr>
        <p:spPr>
          <a:xfrm>
            <a:off x="14456512" y="7905750"/>
            <a:ext cx="2307489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7A8B9B"/>
                </a:solidFill>
                <a:latin typeface="Noto Sans SC"/>
                <a:ea typeface="Noto Sans SC"/>
                <a:cs typeface="Noto Sans SC"/>
              </a:rPr>
              <a:t> 3–5 </a:t>
            </a:r>
          </a:p>
        </p:txBody>
      </p:sp>
      <p:sp>
        <p:nvSpPr>
          <p:cNvPr id="55" name="TextBox"/>
          <p:cNvSpPr txBox="1"/>
          <p:nvPr/>
        </p:nvSpPr>
        <p:spPr>
          <a:xfrm>
            <a:off x="1143000" y="9429750"/>
            <a:ext cx="316336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8B9AA8"/>
                </a:solidFill>
                <a:latin typeface="Noto Sans SC"/>
                <a:ea typeface="Noto Sans SC"/>
                <a:cs typeface="Noto Sans SC"/>
              </a:rPr>
              <a:t>FACTR 2 · 论文解析与 Piper </a:t>
            </a:r>
          </a:p>
        </p:txBody>
      </p:sp>
      <p:sp>
        <p:nvSpPr>
          <p:cNvPr id="56" name="TextBox"/>
          <p:cNvSpPr txBox="1"/>
          <p:nvPr/>
        </p:nvSpPr>
        <p:spPr>
          <a:xfrm>
            <a:off x="16383000" y="9429750"/>
            <a:ext cx="657504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8B9AA8"/>
                </a:solidFill>
                <a:latin typeface="Inter"/>
                <a:ea typeface="Inter"/>
                <a:cs typeface="Inter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914400"/>
            <a:ext cx="259047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 spc="225">
                <a:solidFill>
                  <a:srgbClr val="00806F"/>
                </a:solidFill>
                <a:latin typeface="Noto Sans SC Bold"/>
                <a:ea typeface="Noto Sans SC Bold"/>
                <a:cs typeface="Noto Sans SC Bold"/>
              </a:rPr>
              <a:t>13 / 复现 · 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390650"/>
            <a:ext cx="9197035" cy="885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4800">
                <a:solidFill>
                  <a:srgbClr val="0F1B2A"/>
                </a:solidFill>
                <a:latin typeface="Noto Sans SC Bold"/>
                <a:ea typeface="Noto Sans SC Bold"/>
                <a:cs typeface="Noto Sans SC Bold"/>
              </a:rPr>
              <a:t> Piper </a:t>
            </a:r>
          </a:p>
        </p:txBody>
      </p:sp>
      <p:sp>
        <p:nvSpPr>
          <p:cNvPr id="5" name="Rectangle"/>
          <p:cNvSpPr/>
          <p:nvPr/>
        </p:nvSpPr>
        <p:spPr>
          <a:xfrm>
            <a:off x="1143000" y="2857500"/>
            <a:ext cx="7429500" cy="49530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"/>
          <p:cNvSpPr txBox="1"/>
          <p:nvPr/>
        </p:nvSpPr>
        <p:spPr>
          <a:xfrm>
            <a:off x="1485900" y="3200400"/>
            <a:ext cx="2615184" cy="4095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250">
                <a:solidFill>
                  <a:srgbClr val="0F1B2A"/>
                </a:solidFill>
                <a:latin typeface="Noto Sans SC Bold"/>
                <a:ea typeface="Noto Sans SC Bold"/>
                <a:cs typeface="Noto Sans SC Bold"/>
              </a:rPr>
              <a:t>AgileX Piper 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1485900" y="3838575"/>
            <a:ext cx="3290011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575">
                <a:solidFill>
                  <a:srgbClr val="8B9AA8"/>
                </a:solidFill>
                <a:latin typeface="Noto Sans SC"/>
                <a:ea typeface="Noto Sans SC"/>
                <a:cs typeface="Noto Sans SC"/>
              </a:rPr>
              <a:t> · 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485900" y="4352925"/>
            <a:ext cx="820973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250">
                <a:solidFill>
                  <a:srgbClr val="0F1B2A"/>
                </a:solidFill>
                <a:latin typeface="Inter Bold"/>
                <a:ea typeface="Inter Bold"/>
                <a:cs typeface="Inter Bold"/>
              </a:rPr>
              <a:t>6 DOF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1485900" y="4714875"/>
            <a:ext cx="60007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575">
                <a:solidFill>
                  <a:srgbClr val="8B9AA8"/>
                </a:solidFill>
                <a:latin typeface="Noto Sans SC"/>
                <a:ea typeface="Noto Sans SC"/>
                <a:cs typeface="Noto Sans SC"/>
              </a:rPr>
              <a:t>自由度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5048250" y="4352925"/>
            <a:ext cx="741443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250">
                <a:solidFill>
                  <a:srgbClr val="0F1B2A"/>
                </a:solidFill>
                <a:latin typeface="Inter Bold"/>
                <a:ea typeface="Inter Bold"/>
                <a:cs typeface="Inter Bold"/>
              </a:rPr>
              <a:t>1.5 kg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5048250" y="4714875"/>
            <a:ext cx="8001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575">
                <a:solidFill>
                  <a:srgbClr val="8B9AA8"/>
                </a:solidFill>
                <a:latin typeface="Noto Sans SC"/>
                <a:ea typeface="Noto Sans SC"/>
                <a:cs typeface="Noto Sans SC"/>
              </a:rPr>
              <a:t>额定负载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1485900" y="5210175"/>
            <a:ext cx="1479538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250">
                <a:solidFill>
                  <a:srgbClr val="0F1B2A"/>
                </a:solidFill>
                <a:latin typeface="Inter Bold"/>
                <a:ea typeface="Inter Bold"/>
                <a:cs typeface="Inter Bold"/>
              </a:rPr>
              <a:t>626.75 mm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485900" y="5572125"/>
            <a:ext cx="8001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575">
                <a:solidFill>
                  <a:srgbClr val="8B9AA8"/>
                </a:solidFill>
                <a:latin typeface="Noto Sans SC"/>
                <a:ea typeface="Noto Sans SC"/>
                <a:cs typeface="Noto Sans SC"/>
              </a:rPr>
              <a:t>工作半径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5048250" y="5210175"/>
            <a:ext cx="108984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250">
                <a:solidFill>
                  <a:srgbClr val="0F1B2A"/>
                </a:solidFill>
                <a:latin typeface="Inter Bold"/>
                <a:ea typeface="Inter Bold"/>
                <a:cs typeface="Inter Bold"/>
              </a:rPr>
              <a:t>±0.1 mm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5048250" y="5572125"/>
            <a:ext cx="12001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575">
                <a:solidFill>
                  <a:srgbClr val="8B9AA8"/>
                </a:solidFill>
                <a:latin typeface="Noto Sans SC"/>
                <a:ea typeface="Noto Sans SC"/>
                <a:cs typeface="Noto Sans SC"/>
              </a:rPr>
              <a:t>重复定位精度</a:t>
            </a:r>
          </a:p>
        </p:txBody>
      </p:sp>
      <p:sp>
        <p:nvSpPr>
          <p:cNvPr id="16" name="TextBox"/>
          <p:cNvSpPr txBox="1"/>
          <p:nvPr/>
        </p:nvSpPr>
        <p:spPr>
          <a:xfrm>
            <a:off x="1485900" y="6067425"/>
            <a:ext cx="809672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250">
                <a:solidFill>
                  <a:srgbClr val="0F1B2A"/>
                </a:solidFill>
                <a:latin typeface="Inter Bold"/>
                <a:ea typeface="Inter Bold"/>
                <a:cs typeface="Inter Bold"/>
              </a:rPr>
              <a:t>4.2 kg</a:t>
            </a:r>
          </a:p>
        </p:txBody>
      </p:sp>
      <p:sp>
        <p:nvSpPr>
          <p:cNvPr id="17" name="TextBox"/>
          <p:cNvSpPr txBox="1"/>
          <p:nvPr/>
        </p:nvSpPr>
        <p:spPr>
          <a:xfrm>
            <a:off x="1485900" y="6429375"/>
            <a:ext cx="8001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575">
                <a:solidFill>
                  <a:srgbClr val="8B9AA8"/>
                </a:solidFill>
                <a:latin typeface="Noto Sans SC"/>
                <a:ea typeface="Noto Sans SC"/>
                <a:cs typeface="Noto Sans SC"/>
              </a:rPr>
              <a:t>本体重量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5048250" y="6067425"/>
            <a:ext cx="613916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250">
                <a:solidFill>
                  <a:srgbClr val="0F1B2A"/>
                </a:solidFill>
                <a:latin typeface="Inter Bold"/>
                <a:ea typeface="Inter Bold"/>
                <a:cs typeface="Inter Bold"/>
              </a:rPr>
              <a:t>CAN</a:t>
            </a:r>
          </a:p>
        </p:txBody>
      </p:sp>
      <p:sp>
        <p:nvSpPr>
          <p:cNvPr id="19" name="TextBox"/>
          <p:cNvSpPr txBox="1"/>
          <p:nvPr/>
        </p:nvSpPr>
        <p:spPr>
          <a:xfrm>
            <a:off x="5048250" y="6429375"/>
            <a:ext cx="8001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575">
                <a:solidFill>
                  <a:srgbClr val="8B9AA8"/>
                </a:solidFill>
                <a:latin typeface="Noto Sans SC"/>
                <a:ea typeface="Noto Sans SC"/>
                <a:cs typeface="Noto Sans SC"/>
              </a:rPr>
              <a:t>通信方式</a:t>
            </a:r>
          </a:p>
        </p:txBody>
      </p:sp>
      <p:sp>
        <p:nvSpPr>
          <p:cNvPr id="20" name="TextBox"/>
          <p:cNvSpPr txBox="1"/>
          <p:nvPr/>
        </p:nvSpPr>
        <p:spPr>
          <a:xfrm>
            <a:off x="1485900" y="6924675"/>
            <a:ext cx="1029705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250">
                <a:solidFill>
                  <a:srgbClr val="0F1B2A"/>
                </a:solidFill>
                <a:latin typeface="Inter Bold"/>
                <a:ea typeface="Inter Bold"/>
                <a:cs typeface="Inter Bold"/>
              </a:rPr>
              <a:t>DC 24V</a:t>
            </a:r>
          </a:p>
        </p:txBody>
      </p:sp>
      <p:sp>
        <p:nvSpPr>
          <p:cNvPr id="21" name="TextBox"/>
          <p:cNvSpPr txBox="1"/>
          <p:nvPr/>
        </p:nvSpPr>
        <p:spPr>
          <a:xfrm>
            <a:off x="1485900" y="7286625"/>
            <a:ext cx="1381973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575">
                <a:solidFill>
                  <a:srgbClr val="8B9AA8"/>
                </a:solidFill>
                <a:latin typeface="Noto Sans SC"/>
                <a:ea typeface="Noto Sans SC"/>
                <a:cs typeface="Noto Sans SC"/>
              </a:rPr>
              <a:t>≤ 26V</a:t>
            </a:r>
          </a:p>
        </p:txBody>
      </p:sp>
      <p:sp>
        <p:nvSpPr>
          <p:cNvPr id="22" name="TextBox"/>
          <p:cNvSpPr txBox="1"/>
          <p:nvPr/>
        </p:nvSpPr>
        <p:spPr>
          <a:xfrm>
            <a:off x="5048250" y="6924675"/>
            <a:ext cx="1292991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250">
                <a:solidFill>
                  <a:srgbClr val="0F1B2A"/>
                </a:solidFill>
                <a:latin typeface="Inter Bold"/>
                <a:ea typeface="Inter Bold"/>
                <a:cs typeface="Inter Bold"/>
              </a:rPr>
              <a:t>piper_sdk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5048250" y="7286625"/>
            <a:ext cx="2018252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575">
                <a:solidFill>
                  <a:srgbClr val="8B9AA8"/>
                </a:solidFill>
                <a:latin typeface="Noto Sans SC"/>
                <a:ea typeface="Noto Sans SC"/>
                <a:cs typeface="Noto Sans SC"/>
              </a:rPr>
              <a:t>Python / ROS1 / ROS2</a:t>
            </a:r>
          </a:p>
        </p:txBody>
      </p:sp>
      <p:sp>
        <p:nvSpPr>
          <p:cNvPr id="24" name="Rectangle"/>
          <p:cNvSpPr/>
          <p:nvPr/>
        </p:nvSpPr>
        <p:spPr>
          <a:xfrm>
            <a:off x="1147763" y="2862263"/>
            <a:ext cx="7419975" cy="4943475"/>
          </a:xfrm>
          <a:prstGeom prst="roundRect">
            <a:avLst>
              <a:gd name="adj" fmla="val 3757"/>
            </a:avLst>
          </a:prstGeom>
          <a:noFill/>
          <a:ln w="9525">
            <a:solidFill>
              <a:srgbClr val="E6EA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"/>
          <p:cNvSpPr txBox="1"/>
          <p:nvPr/>
        </p:nvSpPr>
        <p:spPr>
          <a:xfrm>
            <a:off x="9334500" y="2857500"/>
            <a:ext cx="8953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 spc="150">
                <a:solidFill>
                  <a:srgbClr val="00806F"/>
                </a:solidFill>
                <a:latin typeface="Noto Sans SC Bold"/>
                <a:ea typeface="Noto Sans SC Bold"/>
                <a:cs typeface="Noto Sans SC Bold"/>
              </a:rPr>
              <a:t>数据链路</a:t>
            </a:r>
          </a:p>
        </p:txBody>
      </p:sp>
      <p:sp>
        <p:nvSpPr>
          <p:cNvPr id="26" name="Rectangle"/>
          <p:cNvSpPr/>
          <p:nvPr/>
        </p:nvSpPr>
        <p:spPr>
          <a:xfrm>
            <a:off x="9334500" y="33337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0F1B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Box"/>
          <p:cNvSpPr txBox="1"/>
          <p:nvPr/>
        </p:nvSpPr>
        <p:spPr>
          <a:xfrm>
            <a:off x="9500820" y="3333750"/>
            <a:ext cx="8646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lang="en-US" sz="165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1</a:t>
            </a:r>
          </a:p>
        </p:txBody>
      </p:sp>
      <p:sp>
        <p:nvSpPr>
          <p:cNvPr id="28" name="TextBox"/>
          <p:cNvSpPr txBox="1"/>
          <p:nvPr/>
        </p:nvSpPr>
        <p:spPr>
          <a:xfrm>
            <a:off x="9944100" y="3333750"/>
            <a:ext cx="2337092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0F1B2A"/>
                </a:solidFill>
                <a:latin typeface="Noto Sans SC Bold"/>
                <a:ea typeface="Noto Sans SC Bold"/>
                <a:cs typeface="Noto Sans SC Bold"/>
              </a:rPr>
              <a:t>CAN → USB </a:t>
            </a:r>
          </a:p>
        </p:txBody>
      </p:sp>
      <p:sp>
        <p:nvSpPr>
          <p:cNvPr id="29" name="TextBox"/>
          <p:cNvSpPr txBox="1"/>
          <p:nvPr/>
        </p:nvSpPr>
        <p:spPr>
          <a:xfrm>
            <a:off x="9944100" y="3762375"/>
            <a:ext cx="406338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400"/>
              </a:lnSpc>
            </a:pPr>
            <a:r>
              <a:rPr lang="en-US" sz="1650">
                <a:solidFill>
                  <a:srgbClr val="5D6F80"/>
                </a:solidFill>
                <a:latin typeface="Noto Sans SC"/>
                <a:ea typeface="Noto Sans SC"/>
                <a:cs typeface="Noto Sans SC"/>
              </a:rPr>
              <a:t>CAN_H / CAN_L </a:t>
            </a:r>
          </a:p>
        </p:txBody>
      </p:sp>
      <p:sp>
        <p:nvSpPr>
          <p:cNvPr id="30" name="Rectangle"/>
          <p:cNvSpPr/>
          <p:nvPr/>
        </p:nvSpPr>
        <p:spPr>
          <a:xfrm>
            <a:off x="9334500" y="44005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0F1B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Box"/>
          <p:cNvSpPr txBox="1"/>
          <p:nvPr/>
        </p:nvSpPr>
        <p:spPr>
          <a:xfrm>
            <a:off x="9479538" y="4400550"/>
            <a:ext cx="129025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lang="en-US" sz="165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2</a:t>
            </a:r>
          </a:p>
        </p:txBody>
      </p:sp>
      <p:sp>
        <p:nvSpPr>
          <p:cNvPr id="32" name="TextBox"/>
          <p:cNvSpPr txBox="1"/>
          <p:nvPr/>
        </p:nvSpPr>
        <p:spPr>
          <a:xfrm>
            <a:off x="9944100" y="4400550"/>
            <a:ext cx="2706205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0F1B2A"/>
                </a:solidFill>
                <a:latin typeface="Noto Sans SC Bold"/>
                <a:ea typeface="Noto Sans SC Bold"/>
                <a:cs typeface="Noto Sans SC Bold"/>
              </a:rPr>
              <a:t>piper_sdk </a:t>
            </a:r>
          </a:p>
        </p:txBody>
      </p:sp>
      <p:sp>
        <p:nvSpPr>
          <p:cNvPr id="33" name="TextBox"/>
          <p:cNvSpPr txBox="1"/>
          <p:nvPr/>
        </p:nvSpPr>
        <p:spPr>
          <a:xfrm>
            <a:off x="9944100" y="4829175"/>
            <a:ext cx="444455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400"/>
              </a:lnSpc>
            </a:pPr>
            <a:r>
              <a:rPr lang="zh-CN" sz="1650">
                <a:solidFill>
                  <a:srgbClr val="5D6F80"/>
                </a:solidFill>
                <a:latin typeface="Noto Sans SC"/>
                <a:ea typeface="Noto Sans SC"/>
                <a:cs typeface="Noto Sans SC"/>
              </a:rPr>
              <a:t> q、角速度 q̇、电机电流 i、指令位置 q_d</a:t>
            </a:r>
          </a:p>
        </p:txBody>
      </p:sp>
      <p:sp>
        <p:nvSpPr>
          <p:cNvPr id="34" name="Rectangle"/>
          <p:cNvSpPr/>
          <p:nvPr/>
        </p:nvSpPr>
        <p:spPr>
          <a:xfrm>
            <a:off x="9334500" y="54673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0F1B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Box"/>
          <p:cNvSpPr txBox="1"/>
          <p:nvPr/>
        </p:nvSpPr>
        <p:spPr>
          <a:xfrm>
            <a:off x="9477645" y="5467350"/>
            <a:ext cx="132810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lang="en-US" sz="165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3</a:t>
            </a:r>
          </a:p>
        </p:txBody>
      </p:sp>
      <p:sp>
        <p:nvSpPr>
          <p:cNvPr id="36" name="TextBox"/>
          <p:cNvSpPr txBox="1"/>
          <p:nvPr/>
        </p:nvSpPr>
        <p:spPr>
          <a:xfrm>
            <a:off x="9944100" y="5467350"/>
            <a:ext cx="1866900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0F1B2A"/>
                </a:solidFill>
                <a:latin typeface="Noto Sans SC Bold"/>
                <a:ea typeface="Noto Sans SC Bold"/>
                <a:cs typeface="Noto Sans SC Bold"/>
              </a:rPr>
              <a:t>换算成电机力矩</a:t>
            </a:r>
          </a:p>
        </p:txBody>
      </p:sp>
      <p:sp>
        <p:nvSpPr>
          <p:cNvPr id="37" name="TextBox"/>
          <p:cNvSpPr txBox="1"/>
          <p:nvPr/>
        </p:nvSpPr>
        <p:spPr>
          <a:xfrm>
            <a:off x="9944100" y="5895975"/>
            <a:ext cx="36597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400"/>
              </a:lnSpc>
            </a:pPr>
            <a:r>
              <a:rPr lang="zh-CN" sz="1650">
                <a:solidFill>
                  <a:srgbClr val="5D6F80"/>
                </a:solidFill>
                <a:latin typeface="Noto Sans SC"/>
                <a:ea typeface="Noto Sans SC"/>
                <a:cs typeface="Noto Sans SC"/>
              </a:rPr>
              <a:t> τ_m = K · i，K </a:t>
            </a:r>
          </a:p>
        </p:txBody>
      </p:sp>
      <p:sp>
        <p:nvSpPr>
          <p:cNvPr id="38" name="Rectangle"/>
          <p:cNvSpPr/>
          <p:nvPr/>
        </p:nvSpPr>
        <p:spPr>
          <a:xfrm>
            <a:off x="9334500" y="65341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00A88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Box"/>
          <p:cNvSpPr txBox="1"/>
          <p:nvPr/>
        </p:nvSpPr>
        <p:spPr>
          <a:xfrm>
            <a:off x="9474115" y="6534150"/>
            <a:ext cx="139871" cy="419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r>
              <a:rPr lang="en-US" sz="1650">
                <a:solidFill>
                  <a:srgbClr val="FFFFFF"/>
                </a:solidFill>
                <a:latin typeface="Inter Bold"/>
                <a:ea typeface="Inter Bold"/>
                <a:cs typeface="Inter Bold"/>
              </a:rPr>
              <a:t>4</a:t>
            </a:r>
          </a:p>
        </p:txBody>
      </p:sp>
      <p:sp>
        <p:nvSpPr>
          <p:cNvPr id="40" name="TextBox"/>
          <p:cNvSpPr txBox="1"/>
          <p:nvPr/>
        </p:nvSpPr>
        <p:spPr>
          <a:xfrm>
            <a:off x="9944100" y="6534150"/>
            <a:ext cx="1998116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0F1B2A"/>
                </a:solidFill>
                <a:latin typeface="Noto Sans SC Bold"/>
                <a:ea typeface="Noto Sans SC Bold"/>
                <a:cs typeface="Noto Sans SC Bold"/>
              </a:rPr>
              <a:t>100 Hz </a:t>
            </a:r>
          </a:p>
        </p:txBody>
      </p:sp>
      <p:sp>
        <p:nvSpPr>
          <p:cNvPr id="41" name="TextBox"/>
          <p:cNvSpPr txBox="1"/>
          <p:nvPr/>
        </p:nvSpPr>
        <p:spPr>
          <a:xfrm>
            <a:off x="9944100" y="6962775"/>
            <a:ext cx="466248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400"/>
              </a:lnSpc>
            </a:pPr>
            <a:r>
              <a:rPr lang="en-US" sz="1650">
                <a:solidFill>
                  <a:srgbClr val="5D6F80"/>
                </a:solidFill>
                <a:latin typeface="Noto Sans SC"/>
                <a:ea typeface="Noto Sans SC"/>
                <a:cs typeface="Noto Sans SC"/>
              </a:rPr>
              <a:t> HDF5 / Parquet</a:t>
            </a:r>
          </a:p>
        </p:txBody>
      </p:sp>
      <p:sp>
        <p:nvSpPr>
          <p:cNvPr id="42" name="TextBox"/>
          <p:cNvSpPr txBox="1"/>
          <p:nvPr/>
        </p:nvSpPr>
        <p:spPr>
          <a:xfrm>
            <a:off x="9334500" y="7677150"/>
            <a:ext cx="6604025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C97A00"/>
                </a:solidFill>
                <a:latin typeface="Noto Sans SC"/>
                <a:ea typeface="Noto Sans SC"/>
                <a:cs typeface="Noto Sans SC"/>
              </a:rPr>
              <a:t>K </a:t>
            </a:r>
          </a:p>
        </p:txBody>
      </p:sp>
      <p:sp>
        <p:nvSpPr>
          <p:cNvPr id="43" name="TextBox"/>
          <p:cNvSpPr txBox="1"/>
          <p:nvPr/>
        </p:nvSpPr>
        <p:spPr>
          <a:xfrm>
            <a:off x="1143000" y="9429750"/>
            <a:ext cx="316336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8B9AA8"/>
                </a:solidFill>
                <a:latin typeface="Noto Sans SC"/>
                <a:ea typeface="Noto Sans SC"/>
                <a:cs typeface="Noto Sans SC"/>
              </a:rPr>
              <a:t>FACTR 2 · 论文解析与 Piper </a:t>
            </a:r>
          </a:p>
        </p:txBody>
      </p:sp>
      <p:sp>
        <p:nvSpPr>
          <p:cNvPr id="44" name="TextBox"/>
          <p:cNvSpPr txBox="1"/>
          <p:nvPr/>
        </p:nvSpPr>
        <p:spPr>
          <a:xfrm>
            <a:off x="16383000" y="9429750"/>
            <a:ext cx="646965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8B9AA8"/>
                </a:solidFill>
                <a:latin typeface="Inter"/>
                <a:ea typeface="Inter"/>
                <a:cs typeface="Inter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914400"/>
            <a:ext cx="235235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 spc="225">
                <a:solidFill>
                  <a:srgbClr val="00806F"/>
                </a:solidFill>
                <a:latin typeface="Noto Sans SC Bold"/>
                <a:ea typeface="Noto Sans SC Bold"/>
                <a:cs typeface="Noto Sans SC Bold"/>
              </a:rPr>
              <a:t>14 / 复现 · 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390650"/>
            <a:ext cx="8233600" cy="8286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4500">
                <a:solidFill>
                  <a:srgbClr val="0F1B2A"/>
                </a:solidFill>
                <a:latin typeface="Noto Sans SC Bold"/>
                <a:ea typeface="Noto Sans SC Bold"/>
                <a:cs typeface="Noto Sans SC Bold"/>
              </a:rPr>
              <a:t>10 </a:t>
            </a:r>
          </a:p>
        </p:txBody>
      </p:sp>
      <p:sp>
        <p:nvSpPr>
          <p:cNvPr id="5" name="TextBox"/>
          <p:cNvSpPr txBox="1"/>
          <p:nvPr/>
        </p:nvSpPr>
        <p:spPr>
          <a:xfrm>
            <a:off x="1143000" y="2762250"/>
            <a:ext cx="20383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 spc="150">
                <a:solidFill>
                  <a:srgbClr val="00806F"/>
                </a:solidFill>
                <a:latin typeface="Noto Sans SC Bold"/>
                <a:ea typeface="Noto Sans SC Bold"/>
                <a:cs typeface="Noto Sans SC Bold"/>
              </a:rPr>
              <a:t>三类轨迹，缺一不可</a:t>
            </a:r>
          </a:p>
        </p:txBody>
      </p:sp>
      <p:sp>
        <p:nvSpPr>
          <p:cNvPr id="6" name="TextBox"/>
          <p:cNvSpPr txBox="1"/>
          <p:nvPr/>
        </p:nvSpPr>
        <p:spPr>
          <a:xfrm>
            <a:off x="1143000" y="3200400"/>
            <a:ext cx="27432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00A88F"/>
                </a:solidFill>
                <a:latin typeface="JetBrains Mono Bold"/>
                <a:ea typeface="JetBrains Mono Bold"/>
                <a:cs typeface="JetBrains Mono Bold"/>
              </a:rPr>
              <a:t>01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1733550" y="3200400"/>
            <a:ext cx="1543050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025">
                <a:solidFill>
                  <a:srgbClr val="0F1B2A"/>
                </a:solidFill>
                <a:latin typeface="Noto Sans SC Bold"/>
                <a:ea typeface="Noto Sans SC Bold"/>
                <a:cs typeface="Noto Sans SC Bold"/>
              </a:rPr>
              <a:t>单关节全行程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733550" y="3590925"/>
            <a:ext cx="471110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400"/>
              </a:lnSpc>
            </a:pPr>
            <a:r>
              <a:rPr lang="zh-CN" sz="1650">
                <a:solidFill>
                  <a:srgbClr val="5D6F80"/>
                </a:solidFill>
                <a:latin typeface="Noto Sans SC"/>
                <a:ea typeface="Noto Sans SC"/>
                <a:cs typeface="Noto Sans SC"/>
              </a:rPr>
              <a:t> 80% 行程，慢速 + 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1143000" y="4191000"/>
            <a:ext cx="27432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00A88F"/>
                </a:solidFill>
                <a:latin typeface="JetBrains Mono Bold"/>
                <a:ea typeface="JetBrains Mono Bold"/>
                <a:cs typeface="JetBrains Mono Bold"/>
              </a:rPr>
              <a:t>02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1733550" y="4191000"/>
            <a:ext cx="1800225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025">
                <a:solidFill>
                  <a:srgbClr val="0F1B2A"/>
                </a:solidFill>
                <a:latin typeface="Noto Sans SC Bold"/>
                <a:ea typeface="Noto Sans SC Bold"/>
                <a:cs typeface="Noto Sans SC Bold"/>
              </a:rPr>
              <a:t>多关节类笛卡尔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1733550" y="4581525"/>
            <a:ext cx="435423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400"/>
              </a:lnSpc>
            </a:pPr>
            <a:r>
              <a:rPr lang="en-US" sz="1650">
                <a:solidFill>
                  <a:srgbClr val="5D6F80"/>
                </a:solidFill>
                <a:latin typeface="Noto Sans SC"/>
                <a:ea typeface="Noto Sans SC"/>
                <a:cs typeface="Noto Sans SC"/>
              </a:rPr>
              <a:t>8 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1143000" y="5181600"/>
            <a:ext cx="27432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00">
                <a:solidFill>
                  <a:srgbClr val="00A88F"/>
                </a:solidFill>
                <a:latin typeface="JetBrains Mono Bold"/>
                <a:ea typeface="JetBrains Mono Bold"/>
                <a:cs typeface="JetBrains Mono Bold"/>
              </a:rPr>
              <a:t>03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733550" y="5181600"/>
            <a:ext cx="1285875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025">
                <a:solidFill>
                  <a:srgbClr val="0F1B2A"/>
                </a:solidFill>
                <a:latin typeface="Noto Sans SC Bold"/>
                <a:ea typeface="Noto Sans SC Bold"/>
                <a:cs typeface="Noto Sans SC Bold"/>
              </a:rPr>
              <a:t>快慢速重复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1733550" y="5572125"/>
            <a:ext cx="517001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400"/>
              </a:lnSpc>
            </a:pPr>
            <a:r>
              <a:rPr lang="zh-CN" sz="1650">
                <a:solidFill>
                  <a:srgbClr val="5D6F80"/>
                </a:solidFill>
                <a:latin typeface="Noto Sans SC"/>
                <a:ea typeface="Noto Sans SC"/>
                <a:cs typeface="Noto Sans SC"/>
              </a:rPr>
              <a:t> 0.3× 到 1.0× </a:t>
            </a:r>
          </a:p>
        </p:txBody>
      </p:sp>
      <p:sp>
        <p:nvSpPr>
          <p:cNvPr id="15" name="Rectangle"/>
          <p:cNvSpPr/>
          <p:nvPr/>
        </p:nvSpPr>
        <p:spPr>
          <a:xfrm>
            <a:off x="1143000" y="6210300"/>
            <a:ext cx="7620000" cy="9525"/>
          </a:xfrm>
          <a:prstGeom prst="rect">
            <a:avLst/>
          </a:prstGeom>
          <a:solidFill>
            <a:srgbClr val="DDE3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"/>
          <p:cNvSpPr txBox="1"/>
          <p:nvPr/>
        </p:nvSpPr>
        <p:spPr>
          <a:xfrm>
            <a:off x="1143000" y="6419850"/>
            <a:ext cx="8953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 spc="150">
                <a:solidFill>
                  <a:srgbClr val="00806F"/>
                </a:solidFill>
                <a:latin typeface="Noto Sans SC Bold"/>
                <a:ea typeface="Noto Sans SC Bold"/>
                <a:cs typeface="Noto Sans SC Bold"/>
              </a:rPr>
              <a:t>采集规范</a:t>
            </a:r>
          </a:p>
        </p:txBody>
      </p:sp>
      <p:sp>
        <p:nvSpPr>
          <p:cNvPr id="17" name="TextBox"/>
          <p:cNvSpPr txBox="1"/>
          <p:nvPr/>
        </p:nvSpPr>
        <p:spPr>
          <a:xfrm>
            <a:off x="1143000" y="6781800"/>
            <a:ext cx="5869534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00">
                <a:solidFill>
                  <a:srgbClr val="22394D"/>
                </a:solidFill>
                <a:latin typeface="Noto Sans SC"/>
                <a:ea typeface="Noto Sans SC"/>
                <a:cs typeface="Noto Sans SC"/>
              </a:rPr>
              <a:t>100 Hz  ·  全程无接触  ·  空载  ·  桌面清空  ·  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1143000" y="7315200"/>
            <a:ext cx="5915025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725">
                <a:solidFill>
                  <a:srgbClr val="C97A00"/>
                </a:solidFill>
                <a:latin typeface="Noto Sans SC"/>
                <a:ea typeface="Noto Sans SC"/>
                <a:cs typeface="Noto Sans SC"/>
              </a:rPr>
              <a:t>反例：一次轻微擦碰，就会让「自由空间」标签带上假外力。</a:t>
            </a:r>
          </a:p>
        </p:txBody>
      </p:sp>
      <p:pic>
        <p:nvPicPr>
          <p:cNvPr id="19" name="Image"/>
          <p:cNvPicPr>
            <a:picLocks noChangeAspect="1"/>
          </p:cNvPicPr>
          <p:nvPr/>
        </p:nvPicPr>
        <p:blipFill>
          <a:blip r:embed="rId2"/>
          <a:srcRect t="36" b="36"/>
          <a:stretch>
            <a:fillRect/>
          </a:stretch>
        </p:blipFill>
        <p:spPr>
          <a:xfrm>
            <a:off x="9334500" y="2857500"/>
            <a:ext cx="7620000" cy="4352925"/>
          </a:xfrm>
          <a:prstGeom prst="rect">
            <a:avLst/>
          </a:prstGeom>
        </p:spPr>
      </p:pic>
      <p:sp>
        <p:nvSpPr>
          <p:cNvPr id="20" name="TextBox"/>
          <p:cNvSpPr txBox="1"/>
          <p:nvPr/>
        </p:nvSpPr>
        <p:spPr>
          <a:xfrm>
            <a:off x="9353549" y="7353300"/>
            <a:ext cx="474190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7A8B9B"/>
                </a:solidFill>
                <a:latin typeface="Noto Sans SC"/>
                <a:ea typeface="Noto Sans SC"/>
                <a:cs typeface="Noto Sans SC"/>
              </a:rPr>
              <a:t>Figure 8 · 论文在 Piper 上采集的 10 </a:t>
            </a:r>
          </a:p>
        </p:txBody>
      </p:sp>
      <p:sp>
        <p:nvSpPr>
          <p:cNvPr id="21" name="TextBox"/>
          <p:cNvSpPr txBox="1"/>
          <p:nvPr/>
        </p:nvSpPr>
        <p:spPr>
          <a:xfrm>
            <a:off x="1143000" y="9429750"/>
            <a:ext cx="316336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8B9AA8"/>
                </a:solidFill>
                <a:latin typeface="Noto Sans SC"/>
                <a:ea typeface="Noto Sans SC"/>
                <a:cs typeface="Noto Sans SC"/>
              </a:rPr>
              <a:t>FACTR 2 · 论文解析与 Piper </a:t>
            </a:r>
          </a:p>
        </p:txBody>
      </p:sp>
      <p:sp>
        <p:nvSpPr>
          <p:cNvPr id="22" name="TextBox"/>
          <p:cNvSpPr txBox="1"/>
          <p:nvPr/>
        </p:nvSpPr>
        <p:spPr>
          <a:xfrm>
            <a:off x="16383000" y="9429750"/>
            <a:ext cx="651058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8B9AA8"/>
                </a:solidFill>
                <a:latin typeface="Inter"/>
                <a:ea typeface="Inter"/>
                <a:cs typeface="Inter"/>
              </a:rPr>
              <a:t>16 / 20</a:t>
            </a:r>
          </a:p>
        </p:txBody>
      </p:sp>
      <p:sp>
        <p:nvSpPr>
          <p:cNvPr id="23" name="Rectangle"/>
          <p:cNvSpPr/>
          <p:nvPr/>
        </p:nvSpPr>
        <p:spPr>
          <a:xfrm>
            <a:off x="1143000" y="8210550"/>
            <a:ext cx="38100" cy="571500"/>
          </a:xfrm>
          <a:prstGeom prst="rect">
            <a:avLst/>
          </a:prstGeom>
          <a:solidFill>
            <a:srgbClr val="00A88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Box"/>
          <p:cNvSpPr txBox="1"/>
          <p:nvPr/>
        </p:nvSpPr>
        <p:spPr>
          <a:xfrm>
            <a:off x="1409700" y="8286750"/>
            <a:ext cx="8552592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950">
                <a:solidFill>
                  <a:srgbClr val="22394D"/>
                </a:solidFill>
                <a:latin typeface="Noto Sans SC"/>
                <a:ea typeface="Noto Sans SC"/>
                <a:cs typeface="Noto Sans SC"/>
              </a:rPr>
              <a:t>Δq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914400"/>
            <a:ext cx="259047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 spc="225">
                <a:solidFill>
                  <a:srgbClr val="00806F"/>
                </a:solidFill>
                <a:latin typeface="Noto Sans SC Bold"/>
                <a:ea typeface="Noto Sans SC Bold"/>
                <a:cs typeface="Noto Sans SC Bold"/>
              </a:rPr>
              <a:t>15 / 复现 · 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390650"/>
            <a:ext cx="9610916" cy="8286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4500">
                <a:solidFill>
                  <a:srgbClr val="0F1B2A"/>
                </a:solidFill>
                <a:latin typeface="Noto Sans SC Bold"/>
                <a:ea typeface="Noto Sans SC Bold"/>
                <a:cs typeface="Noto Sans SC Bold"/>
              </a:rPr>
              <a:t>1 </a:t>
            </a:r>
          </a:p>
        </p:txBody>
      </p:sp>
      <p:sp>
        <p:nvSpPr>
          <p:cNvPr id="5" name="Rectangle"/>
          <p:cNvSpPr/>
          <p:nvPr/>
        </p:nvSpPr>
        <p:spPr>
          <a:xfrm>
            <a:off x="1143000" y="2857500"/>
            <a:ext cx="7810500" cy="49530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"/>
          <p:cNvSpPr txBox="1"/>
          <p:nvPr/>
        </p:nvSpPr>
        <p:spPr>
          <a:xfrm>
            <a:off x="1485900" y="3200400"/>
            <a:ext cx="3397758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950">
                <a:solidFill>
                  <a:srgbClr val="0F1B2A"/>
                </a:solidFill>
                <a:latin typeface="Noto Sans SC Bold"/>
                <a:ea typeface="Noto Sans SC Bold"/>
                <a:cs typeface="Noto Sans SC Bold"/>
              </a:rPr>
              <a:t> Table 3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1485900" y="3743325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7A8B9B"/>
                </a:solidFill>
                <a:latin typeface="Noto Sans SC"/>
                <a:ea typeface="Noto Sans SC"/>
                <a:cs typeface="Noto Sans SC"/>
              </a:rPr>
              <a:t>训练数据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5962650" y="3733800"/>
            <a:ext cx="2640730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725">
                <a:solidFill>
                  <a:srgbClr val="0F1B2A"/>
                </a:solidFill>
                <a:latin typeface="Noto Sans SC"/>
                <a:ea typeface="Noto Sans SC"/>
                <a:cs typeface="Noto Sans SC"/>
              </a:rPr>
              <a:t>10 min @ 100 Hz ≈ 6 </a:t>
            </a:r>
          </a:p>
        </p:txBody>
      </p:sp>
      <p:sp>
        <p:nvSpPr>
          <p:cNvPr id="9" name="Rectangle"/>
          <p:cNvSpPr/>
          <p:nvPr/>
        </p:nvSpPr>
        <p:spPr>
          <a:xfrm>
            <a:off x="1485900" y="4219575"/>
            <a:ext cx="7124700" cy="9525"/>
          </a:xfrm>
          <a:prstGeom prst="rect">
            <a:avLst/>
          </a:prstGeom>
          <a:solidFill>
            <a:srgbClr val="EDF1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"/>
          <p:cNvSpPr txBox="1"/>
          <p:nvPr/>
        </p:nvSpPr>
        <p:spPr>
          <a:xfrm>
            <a:off x="1485900" y="4410075"/>
            <a:ext cx="4191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7A8B9B"/>
                </a:solidFill>
                <a:latin typeface="Noto Sans SC"/>
                <a:ea typeface="Noto Sans SC"/>
                <a:cs typeface="Noto Sans SC"/>
              </a:rPr>
              <a:t>输入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6000750" y="4400550"/>
            <a:ext cx="2604363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725">
                <a:solidFill>
                  <a:srgbClr val="0F1B2A"/>
                </a:solidFill>
                <a:latin typeface="Noto Sans SC"/>
                <a:ea typeface="Noto Sans SC"/>
                <a:cs typeface="Noto Sans SC"/>
              </a:rPr>
              <a:t>q、q̇、Δq_d，历史 H = 50</a:t>
            </a:r>
          </a:p>
        </p:txBody>
      </p:sp>
      <p:sp>
        <p:nvSpPr>
          <p:cNvPr id="12" name="Rectangle"/>
          <p:cNvSpPr/>
          <p:nvPr/>
        </p:nvSpPr>
        <p:spPr>
          <a:xfrm>
            <a:off x="1485900" y="4886325"/>
            <a:ext cx="7124700" cy="9525"/>
          </a:xfrm>
          <a:prstGeom prst="rect">
            <a:avLst/>
          </a:prstGeom>
          <a:solidFill>
            <a:srgbClr val="EDF1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"/>
          <p:cNvSpPr txBox="1"/>
          <p:nvPr/>
        </p:nvSpPr>
        <p:spPr>
          <a:xfrm>
            <a:off x="1485900" y="5076825"/>
            <a:ext cx="4191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7A8B9B"/>
                </a:solidFill>
                <a:latin typeface="Noto Sans SC"/>
                <a:ea typeface="Noto Sans SC"/>
                <a:cs typeface="Noto Sans SC"/>
              </a:rPr>
              <a:t>网络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5648325" y="5067300"/>
            <a:ext cx="2961018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725">
                <a:solidFill>
                  <a:srgbClr val="0F1B2A"/>
                </a:solidFill>
                <a:latin typeface="Noto Sans SC"/>
                <a:ea typeface="Noto Sans SC"/>
                <a:cs typeface="Noto Sans SC"/>
              </a:rPr>
              <a:t>LSTM 128 × 2 + MLP 256 × 2</a:t>
            </a:r>
          </a:p>
        </p:txBody>
      </p:sp>
      <p:sp>
        <p:nvSpPr>
          <p:cNvPr id="15" name="Rectangle"/>
          <p:cNvSpPr/>
          <p:nvPr/>
        </p:nvSpPr>
        <p:spPr>
          <a:xfrm>
            <a:off x="1485900" y="5553075"/>
            <a:ext cx="7124700" cy="9525"/>
          </a:xfrm>
          <a:prstGeom prst="rect">
            <a:avLst/>
          </a:prstGeom>
          <a:solidFill>
            <a:srgbClr val="EDF1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"/>
          <p:cNvSpPr txBox="1"/>
          <p:nvPr/>
        </p:nvSpPr>
        <p:spPr>
          <a:xfrm>
            <a:off x="1485900" y="5743575"/>
            <a:ext cx="4191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7A8B9B"/>
                </a:solidFill>
                <a:latin typeface="Noto Sans SC"/>
                <a:ea typeface="Noto Sans SC"/>
                <a:cs typeface="Noto Sans SC"/>
              </a:rPr>
              <a:t>优化</a:t>
            </a:r>
          </a:p>
        </p:txBody>
      </p:sp>
      <p:sp>
        <p:nvSpPr>
          <p:cNvPr id="17" name="TextBox"/>
          <p:cNvSpPr txBox="1"/>
          <p:nvPr/>
        </p:nvSpPr>
        <p:spPr>
          <a:xfrm>
            <a:off x="5105400" y="5734050"/>
            <a:ext cx="3504980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725">
                <a:solidFill>
                  <a:srgbClr val="0F1B2A"/>
                </a:solidFill>
                <a:latin typeface="Noto Sans SC"/>
                <a:ea typeface="Noto Sans SC"/>
                <a:cs typeface="Noto Sans SC"/>
              </a:rPr>
              <a:t>AdamW 1e-3 · wd 1e-6 · clip 1.0</a:t>
            </a:r>
          </a:p>
        </p:txBody>
      </p:sp>
      <p:sp>
        <p:nvSpPr>
          <p:cNvPr id="18" name="Rectangle"/>
          <p:cNvSpPr/>
          <p:nvPr/>
        </p:nvSpPr>
        <p:spPr>
          <a:xfrm>
            <a:off x="1485900" y="6219825"/>
            <a:ext cx="7124700" cy="9525"/>
          </a:xfrm>
          <a:prstGeom prst="rect">
            <a:avLst/>
          </a:prstGeom>
          <a:solidFill>
            <a:srgbClr val="EDF1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"/>
          <p:cNvSpPr txBox="1"/>
          <p:nvPr/>
        </p:nvSpPr>
        <p:spPr>
          <a:xfrm>
            <a:off x="1485900" y="6410325"/>
            <a:ext cx="4191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7A8B9B"/>
                </a:solidFill>
                <a:latin typeface="Noto Sans SC"/>
                <a:ea typeface="Noto Sans SC"/>
                <a:cs typeface="Noto Sans SC"/>
              </a:rPr>
              <a:t>正则</a:t>
            </a:r>
          </a:p>
        </p:txBody>
      </p:sp>
      <p:sp>
        <p:nvSpPr>
          <p:cNvPr id="20" name="TextBox"/>
          <p:cNvSpPr txBox="1"/>
          <p:nvPr/>
        </p:nvSpPr>
        <p:spPr>
          <a:xfrm>
            <a:off x="5391150" y="6400800"/>
            <a:ext cx="3219088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725">
                <a:solidFill>
                  <a:srgbClr val="0F1B2A"/>
                </a:solidFill>
                <a:latin typeface="Noto Sans SC"/>
                <a:ea typeface="Noto Sans SC"/>
                <a:cs typeface="Noto Sans SC"/>
              </a:rPr>
              <a:t>dropout 0.1 · 早停 patience 20</a:t>
            </a:r>
          </a:p>
        </p:txBody>
      </p:sp>
      <p:sp>
        <p:nvSpPr>
          <p:cNvPr id="21" name="Rectangle"/>
          <p:cNvSpPr/>
          <p:nvPr/>
        </p:nvSpPr>
        <p:spPr>
          <a:xfrm>
            <a:off x="1485900" y="6886575"/>
            <a:ext cx="7124700" cy="9525"/>
          </a:xfrm>
          <a:prstGeom prst="rect">
            <a:avLst/>
          </a:prstGeom>
          <a:solidFill>
            <a:srgbClr val="EDF1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"/>
          <p:cNvSpPr txBox="1"/>
          <p:nvPr/>
        </p:nvSpPr>
        <p:spPr>
          <a:xfrm>
            <a:off x="1485900" y="7077075"/>
            <a:ext cx="838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7A8B9B"/>
                </a:solidFill>
                <a:latin typeface="Noto Sans SC"/>
                <a:ea typeface="Noto Sans SC"/>
                <a:cs typeface="Noto Sans SC"/>
              </a:rPr>
              <a:t>监督目标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5972175" y="7067550"/>
            <a:ext cx="2636348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725">
                <a:solidFill>
                  <a:srgbClr val="0F1B2A"/>
                </a:solidFill>
                <a:latin typeface="Noto Sans SC"/>
                <a:ea typeface="Noto Sans SC"/>
                <a:cs typeface="Noto Sans SC"/>
              </a:rPr>
              <a:t>τ_m</a:t>
            </a:r>
          </a:p>
        </p:txBody>
      </p:sp>
      <p:sp>
        <p:nvSpPr>
          <p:cNvPr id="24" name="Rectangle"/>
          <p:cNvSpPr/>
          <p:nvPr/>
        </p:nvSpPr>
        <p:spPr>
          <a:xfrm>
            <a:off x="1147763" y="2862263"/>
            <a:ext cx="7800975" cy="4943475"/>
          </a:xfrm>
          <a:prstGeom prst="roundRect">
            <a:avLst>
              <a:gd name="adj" fmla="val 3757"/>
            </a:avLst>
          </a:prstGeom>
          <a:noFill/>
          <a:ln w="9525">
            <a:solidFill>
              <a:srgbClr val="E6EA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"/>
          <p:cNvSpPr/>
          <p:nvPr/>
        </p:nvSpPr>
        <p:spPr>
          <a:xfrm>
            <a:off x="9334500" y="2857500"/>
            <a:ext cx="7429500" cy="4953000"/>
          </a:xfrm>
          <a:prstGeom prst="roundRect">
            <a:avLst>
              <a:gd name="adj" fmla="val 3846"/>
            </a:avLst>
          </a:prstGeom>
          <a:solidFill>
            <a:srgbClr val="0F1B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Box"/>
          <p:cNvSpPr txBox="1"/>
          <p:nvPr/>
        </p:nvSpPr>
        <p:spPr>
          <a:xfrm>
            <a:off x="9677399" y="3200400"/>
            <a:ext cx="3150851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950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 · Go / No-Go</a:t>
            </a:r>
          </a:p>
        </p:txBody>
      </p:sp>
      <p:sp>
        <p:nvSpPr>
          <p:cNvPr id="27" name="Rectangle"/>
          <p:cNvSpPr/>
          <p:nvPr/>
        </p:nvSpPr>
        <p:spPr>
          <a:xfrm>
            <a:off x="9677400" y="3752850"/>
            <a:ext cx="76200" cy="41910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Box"/>
          <p:cNvSpPr txBox="1"/>
          <p:nvPr/>
        </p:nvSpPr>
        <p:spPr>
          <a:xfrm>
            <a:off x="9906000" y="3752850"/>
            <a:ext cx="4381939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475"/>
              </a:lnSpc>
            </a:pPr>
            <a:r>
              <a:rPr lang="zh-CN" sz="1725">
                <a:solidFill>
                  <a:srgbClr val="ECF2F7"/>
                </a:solidFill>
                <a:latin typeface="Noto Sans SC"/>
                <a:ea typeface="Noto Sans SC"/>
                <a:cs typeface="Noto Sans SC"/>
              </a:rPr>
              <a:t> L1 ≤ 0.05 Nm（论文 Piper 0.018</a:t>
            </a:r>
          </a:p>
        </p:txBody>
      </p:sp>
      <p:sp>
        <p:nvSpPr>
          <p:cNvPr id="29" name="Rectangle"/>
          <p:cNvSpPr/>
          <p:nvPr/>
        </p:nvSpPr>
        <p:spPr>
          <a:xfrm>
            <a:off x="9677400" y="4362450"/>
            <a:ext cx="76200" cy="41910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Box"/>
          <p:cNvSpPr txBox="1"/>
          <p:nvPr/>
        </p:nvSpPr>
        <p:spPr>
          <a:xfrm>
            <a:off x="9906000" y="4362450"/>
            <a:ext cx="3286125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475"/>
              </a:lnSpc>
            </a:pPr>
            <a:r>
              <a:rPr lang="zh-CN" sz="1725">
                <a:solidFill>
                  <a:srgbClr val="ECF2F7"/>
                </a:solidFill>
                <a:latin typeface="Noto Sans SC"/>
                <a:ea typeface="Noto Sans SC"/>
                <a:cs typeface="Noto Sans SC"/>
              </a:rPr>
              <a:t>六个关节在任意静态姿态都贴近零</a:t>
            </a:r>
          </a:p>
        </p:txBody>
      </p:sp>
      <p:sp>
        <p:nvSpPr>
          <p:cNvPr id="31" name="Rectangle"/>
          <p:cNvSpPr/>
          <p:nvPr/>
        </p:nvSpPr>
        <p:spPr>
          <a:xfrm>
            <a:off x="9677400" y="4972050"/>
            <a:ext cx="76200" cy="419100"/>
          </a:xfrm>
          <a:prstGeom prst="roundRect">
            <a:avLst>
              <a:gd name="adj" fmla="val 50000"/>
            </a:avLst>
          </a:prstGeom>
          <a:solidFill>
            <a:srgbClr val="00C2A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Box"/>
          <p:cNvSpPr txBox="1"/>
          <p:nvPr/>
        </p:nvSpPr>
        <p:spPr>
          <a:xfrm>
            <a:off x="9906000" y="4972050"/>
            <a:ext cx="3883323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475"/>
              </a:lnSpc>
            </a:pPr>
            <a:r>
              <a:rPr lang="en-US" sz="1725">
                <a:solidFill>
                  <a:srgbClr val="ECF2F7"/>
                </a:solidFill>
                <a:latin typeface="Noto Sans SC"/>
                <a:ea typeface="Noto Sans SC"/>
                <a:cs typeface="Noto Sans SC"/>
              </a:rPr>
              <a:t> 1 N</a:t>
            </a:r>
          </a:p>
        </p:txBody>
      </p:sp>
      <p:sp>
        <p:nvSpPr>
          <p:cNvPr id="33" name="Rectangle"/>
          <p:cNvSpPr/>
          <p:nvPr/>
        </p:nvSpPr>
        <p:spPr>
          <a:xfrm>
            <a:off x="9677400" y="5581650"/>
            <a:ext cx="76200" cy="419100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Box"/>
          <p:cNvSpPr txBox="1"/>
          <p:nvPr/>
        </p:nvSpPr>
        <p:spPr>
          <a:xfrm>
            <a:off x="9906000" y="5581650"/>
            <a:ext cx="4056393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475"/>
              </a:lnSpc>
            </a:pPr>
            <a:r>
              <a:rPr lang="zh-CN" sz="1725">
                <a:solidFill>
                  <a:srgbClr val="ECF2F7"/>
                </a:solidFill>
                <a:latin typeface="Noto Sans SC"/>
                <a:ea typeface="Noto Sans SC"/>
                <a:cs typeface="Noto Sans SC"/>
              </a:rPr>
              <a:t> &lt; 10 ms（模型本身 1.76 ms</a:t>
            </a:r>
          </a:p>
        </p:txBody>
      </p:sp>
      <p:sp>
        <p:nvSpPr>
          <p:cNvPr id="35" name="TextBox"/>
          <p:cNvSpPr txBox="1"/>
          <p:nvPr/>
        </p:nvSpPr>
        <p:spPr>
          <a:xfrm>
            <a:off x="9677400" y="6191250"/>
            <a:ext cx="4983223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zh-CN" sz="1575">
                <a:solidFill>
                  <a:srgbClr val="8FA6BA"/>
                </a:solidFill>
                <a:latin typeface="Noto Sans SC"/>
                <a:ea typeface="Noto Sans SC"/>
                <a:cs typeface="Noto Sans SC"/>
              </a:rPr>
              <a:t> τ_ext 应稳定在 0 </a:t>
            </a:r>
          </a:p>
        </p:txBody>
      </p:sp>
      <p:sp>
        <p:nvSpPr>
          <p:cNvPr id="36" name="TextBox"/>
          <p:cNvSpPr txBox="1"/>
          <p:nvPr/>
        </p:nvSpPr>
        <p:spPr>
          <a:xfrm>
            <a:off x="1162050" y="8153400"/>
            <a:ext cx="7543800" cy="333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00">
                <a:solidFill>
                  <a:srgbClr val="22394D"/>
                </a:solidFill>
                <a:latin typeface="Noto Sans SC"/>
                <a:ea typeface="Noto Sans SC"/>
                <a:cs typeface="Noto Sans SC"/>
              </a:rPr>
              <a:t>没有力矩真值的替代标定：已知质量块、弹簧拉力计、与电流法交叉验证。</a:t>
            </a:r>
          </a:p>
        </p:txBody>
      </p:sp>
      <p:sp>
        <p:nvSpPr>
          <p:cNvPr id="37" name="TextBox"/>
          <p:cNvSpPr txBox="1"/>
          <p:nvPr/>
        </p:nvSpPr>
        <p:spPr>
          <a:xfrm>
            <a:off x="1143000" y="9429750"/>
            <a:ext cx="316336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8B9AA8"/>
                </a:solidFill>
                <a:latin typeface="Noto Sans SC"/>
                <a:ea typeface="Noto Sans SC"/>
                <a:cs typeface="Noto Sans SC"/>
              </a:rPr>
              <a:t>FACTR 2 · 论文解析与 Piper </a:t>
            </a:r>
          </a:p>
        </p:txBody>
      </p:sp>
      <p:sp>
        <p:nvSpPr>
          <p:cNvPr id="38" name="TextBox"/>
          <p:cNvSpPr txBox="1"/>
          <p:nvPr/>
        </p:nvSpPr>
        <p:spPr>
          <a:xfrm>
            <a:off x="16383000" y="9429750"/>
            <a:ext cx="637961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8B9AA8"/>
                </a:solidFill>
                <a:latin typeface="Inter"/>
                <a:ea typeface="Inter"/>
                <a:cs typeface="Inter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914400"/>
            <a:ext cx="290950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 spc="225">
                <a:solidFill>
                  <a:srgbClr val="00806F"/>
                </a:solidFill>
                <a:latin typeface="Noto Sans SC Bold"/>
                <a:ea typeface="Noto Sans SC Bold"/>
                <a:cs typeface="Noto Sans SC Bold"/>
              </a:rPr>
              <a:t>16 / 复现 · FIRST 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390650"/>
            <a:ext cx="8572500" cy="8286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4500">
                <a:solidFill>
                  <a:srgbClr val="0F1B2A"/>
                </a:solidFill>
                <a:latin typeface="Noto Sans SC Bold"/>
                <a:ea typeface="Noto Sans SC Bold"/>
                <a:cs typeface="Noto Sans SC Bold"/>
              </a:rPr>
              <a:t>采样器改三行，策略只多一路输入</a:t>
            </a:r>
          </a:p>
        </p:txBody>
      </p:sp>
      <p:sp>
        <p:nvSpPr>
          <p:cNvPr id="5" name="Rectangle"/>
          <p:cNvSpPr/>
          <p:nvPr/>
        </p:nvSpPr>
        <p:spPr>
          <a:xfrm>
            <a:off x="1143000" y="2857500"/>
            <a:ext cx="7620000" cy="4762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"/>
          <p:cNvSpPr txBox="1"/>
          <p:nvPr/>
        </p:nvSpPr>
        <p:spPr>
          <a:xfrm>
            <a:off x="1485900" y="3200400"/>
            <a:ext cx="1873301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2100">
                <a:solidFill>
                  <a:srgbClr val="0F1B2A"/>
                </a:solidFill>
                <a:latin typeface="Noto Sans SC Bold"/>
                <a:ea typeface="Noto Sans SC Bold"/>
                <a:cs typeface="Noto Sans SC Bold"/>
              </a:rPr>
              <a:t>FIRST 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1485900" y="3905250"/>
            <a:ext cx="4191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00806F"/>
                </a:solidFill>
                <a:latin typeface="Noto Sans SC Bold"/>
                <a:ea typeface="Noto Sans SC Bold"/>
                <a:cs typeface="Noto Sans SC Bold"/>
              </a:rPr>
              <a:t>阈值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2514600" y="3905250"/>
            <a:ext cx="458348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400"/>
              </a:lnSpc>
            </a:pPr>
            <a:r>
              <a:rPr lang="zh-CN" sz="1650">
                <a:solidFill>
                  <a:srgbClr val="22394D"/>
                </a:solidFill>
                <a:latin typeface="Noto Sans SC"/>
                <a:ea typeface="Noto Sans SC"/>
                <a:cs typeface="Noto Sans SC"/>
              </a:rPr>
              <a:t>T_low = 自由空间噪声 P99，T_high = 2 × T_low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1485900" y="4514850"/>
            <a:ext cx="4191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00806F"/>
                </a:solidFill>
                <a:latin typeface="Noto Sans SC Bold"/>
                <a:ea typeface="Noto Sans SC Bold"/>
                <a:cs typeface="Noto Sans SC Bold"/>
              </a:rPr>
              <a:t>滞回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2514600" y="4514850"/>
            <a:ext cx="387877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400"/>
              </a:lnSpc>
            </a:pPr>
            <a:r>
              <a:rPr lang="zh-CN" sz="1650">
                <a:solidFill>
                  <a:srgbClr val="22394D"/>
                </a:solidFill>
                <a:latin typeface="Noto Sans SC"/>
                <a:ea typeface="Noto Sans SC"/>
                <a:cs typeface="Noto Sans SC"/>
              </a:rPr>
              <a:t> / 低阈值时翻转 c_t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1485900" y="5133975"/>
            <a:ext cx="6286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00806F"/>
                </a:solidFill>
                <a:latin typeface="Noto Sans SC Bold"/>
                <a:ea typeface="Noto Sans SC Bold"/>
                <a:cs typeface="Noto Sans SC Bold"/>
              </a:rPr>
              <a:t>接触前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2514600" y="5133975"/>
            <a:ext cx="343201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400"/>
              </a:lnSpc>
            </a:pPr>
            <a:r>
              <a:rPr lang="zh-CN" sz="1650">
                <a:solidFill>
                  <a:srgbClr val="22394D"/>
                </a:solidFill>
                <a:latin typeface="Noto Sans SC"/>
                <a:ea typeface="Noto Sans SC"/>
                <a:cs typeface="Noto Sans SC"/>
              </a:rPr>
              <a:t> 100 帧（1 秒 @ 100 Hz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485900" y="5743575"/>
            <a:ext cx="4191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00806F"/>
                </a:solidFill>
                <a:latin typeface="Noto Sans SC Bold"/>
                <a:ea typeface="Noto Sans SC Bold"/>
                <a:cs typeface="Noto Sans SC Bold"/>
              </a:rPr>
              <a:t>权重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2514600" y="5743575"/>
            <a:ext cx="302967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400"/>
              </a:lnSpc>
            </a:pPr>
            <a:r>
              <a:rPr lang="zh-CN" sz="1650">
                <a:solidFill>
                  <a:srgbClr val="22394D"/>
                </a:solidFill>
                <a:latin typeface="Noto Sans SC"/>
                <a:ea typeface="Noto Sans SC"/>
                <a:cs typeface="Noto Sans SC"/>
              </a:rPr>
              <a:t>1 : 5 : 1；持续接触任务改 1 : 3 : 3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1485900" y="6362700"/>
            <a:ext cx="4191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00806F"/>
                </a:solidFill>
                <a:latin typeface="Noto Sans SC Bold"/>
                <a:ea typeface="Noto Sans SC Bold"/>
                <a:cs typeface="Noto Sans SC Bold"/>
              </a:rPr>
              <a:t>实现</a:t>
            </a:r>
          </a:p>
        </p:txBody>
      </p:sp>
      <p:sp>
        <p:nvSpPr>
          <p:cNvPr id="16" name="TextBox"/>
          <p:cNvSpPr txBox="1"/>
          <p:nvPr/>
        </p:nvSpPr>
        <p:spPr>
          <a:xfrm>
            <a:off x="2514600" y="6362700"/>
            <a:ext cx="488146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400"/>
              </a:lnSpc>
            </a:pPr>
            <a:r>
              <a:rPr lang="en-US" sz="1650">
                <a:solidFill>
                  <a:srgbClr val="22394D"/>
                </a:solidFill>
                <a:latin typeface="Noto Sans SC"/>
                <a:ea typeface="Noto Sans SC"/>
                <a:cs typeface="Noto Sans SC"/>
              </a:rPr>
              <a:t>WeightedRandomSampler</a:t>
            </a:r>
          </a:p>
        </p:txBody>
      </p:sp>
      <p:sp>
        <p:nvSpPr>
          <p:cNvPr id="17" name="TextBox"/>
          <p:cNvSpPr txBox="1"/>
          <p:nvPr/>
        </p:nvSpPr>
        <p:spPr>
          <a:xfrm>
            <a:off x="1485900" y="6972300"/>
            <a:ext cx="4191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00806F"/>
                </a:solidFill>
                <a:latin typeface="Noto Sans SC Bold"/>
                <a:ea typeface="Noto Sans SC Bold"/>
                <a:cs typeface="Noto Sans SC Bold"/>
              </a:rPr>
              <a:t>校验</a:t>
            </a:r>
          </a:p>
        </p:txBody>
      </p:sp>
      <p:sp>
        <p:nvSpPr>
          <p:cNvPr id="18" name="TextBox"/>
          <p:cNvSpPr txBox="1"/>
          <p:nvPr/>
        </p:nvSpPr>
        <p:spPr>
          <a:xfrm>
            <a:off x="2514600" y="6972300"/>
            <a:ext cx="346972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400"/>
              </a:lnSpc>
            </a:pPr>
            <a:r>
              <a:rPr lang="en-US" sz="1650">
                <a:solidFill>
                  <a:srgbClr val="22394D"/>
                </a:solidFill>
                <a:latin typeface="Noto Sans SC"/>
                <a:ea typeface="Noto Sans SC"/>
                <a:cs typeface="Noto Sans SC"/>
              </a:rPr>
              <a:t> 20 </a:t>
            </a:r>
          </a:p>
        </p:txBody>
      </p:sp>
      <p:sp>
        <p:nvSpPr>
          <p:cNvPr id="19" name="Rectangle"/>
          <p:cNvSpPr/>
          <p:nvPr/>
        </p:nvSpPr>
        <p:spPr>
          <a:xfrm>
            <a:off x="1147763" y="2862263"/>
            <a:ext cx="7610475" cy="4752975"/>
          </a:xfrm>
          <a:prstGeom prst="roundRect">
            <a:avLst>
              <a:gd name="adj" fmla="val 3907"/>
            </a:avLst>
          </a:prstGeom>
          <a:noFill/>
          <a:ln w="9525">
            <a:solidFill>
              <a:srgbClr val="E6EA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"/>
          <p:cNvSpPr/>
          <p:nvPr/>
        </p:nvSpPr>
        <p:spPr>
          <a:xfrm>
            <a:off x="9144000" y="2857500"/>
            <a:ext cx="7620000" cy="4762500"/>
          </a:xfrm>
          <a:prstGeom prst="roundRect">
            <a:avLst>
              <a:gd name="adj" fmla="val 4000"/>
            </a:avLst>
          </a:prstGeom>
          <a:solidFill>
            <a:srgbClr val="0F1B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"/>
          <p:cNvSpPr txBox="1"/>
          <p:nvPr/>
        </p:nvSpPr>
        <p:spPr>
          <a:xfrm>
            <a:off x="9486900" y="3200400"/>
            <a:ext cx="1333500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策略侧改动</a:t>
            </a:r>
          </a:p>
        </p:txBody>
      </p:sp>
      <p:sp>
        <p:nvSpPr>
          <p:cNvPr id="22" name="TextBox"/>
          <p:cNvSpPr txBox="1"/>
          <p:nvPr/>
        </p:nvSpPr>
        <p:spPr>
          <a:xfrm>
            <a:off x="9486900" y="3905250"/>
            <a:ext cx="4191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00C2A8"/>
                </a:solidFill>
                <a:latin typeface="Noto Sans SC Bold"/>
                <a:ea typeface="Noto Sans SC Bold"/>
                <a:cs typeface="Noto Sans SC Bold"/>
              </a:rPr>
              <a:t>观测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10515600" y="3905250"/>
            <a:ext cx="404997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400"/>
              </a:lnSpc>
            </a:pPr>
            <a:r>
              <a:rPr lang="zh-CN" sz="1650">
                <a:solidFill>
                  <a:srgbClr val="C9D6E3"/>
                </a:solidFill>
                <a:latin typeface="Noto Sans SC"/>
                <a:ea typeface="Noto Sans SC"/>
                <a:cs typeface="Noto Sans SC"/>
              </a:rPr>
              <a:t>M 路 RGB, q, τ_ext</a:t>
            </a:r>
          </a:p>
        </p:txBody>
      </p:sp>
      <p:sp>
        <p:nvSpPr>
          <p:cNvPr id="24" name="TextBox"/>
          <p:cNvSpPr txBox="1"/>
          <p:nvPr/>
        </p:nvSpPr>
        <p:spPr>
          <a:xfrm>
            <a:off x="9486900" y="4524375"/>
            <a:ext cx="4191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00C2A8"/>
                </a:solidFill>
                <a:latin typeface="Noto Sans SC Bold"/>
                <a:ea typeface="Noto Sans SC Bold"/>
                <a:cs typeface="Noto Sans SC Bold"/>
              </a:rPr>
              <a:t>动作</a:t>
            </a:r>
          </a:p>
        </p:txBody>
      </p:sp>
      <p:sp>
        <p:nvSpPr>
          <p:cNvPr id="25" name="TextBox"/>
          <p:cNvSpPr txBox="1"/>
          <p:nvPr/>
        </p:nvSpPr>
        <p:spPr>
          <a:xfrm>
            <a:off x="10515600" y="4524375"/>
            <a:ext cx="360887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400"/>
              </a:lnSpc>
            </a:pPr>
            <a:r>
              <a:rPr lang="zh-CN" sz="1650">
                <a:solidFill>
                  <a:srgbClr val="C9D6E3"/>
                </a:solidFill>
                <a:latin typeface="Noto Sans SC"/>
                <a:ea typeface="Noto Sans SC"/>
                <a:cs typeface="Noto Sans SC"/>
              </a:rPr>
              <a:t> 30，flow matching 或 ACT</a:t>
            </a:r>
          </a:p>
        </p:txBody>
      </p:sp>
      <p:sp>
        <p:nvSpPr>
          <p:cNvPr id="26" name="TextBox"/>
          <p:cNvSpPr txBox="1"/>
          <p:nvPr/>
        </p:nvSpPr>
        <p:spPr>
          <a:xfrm>
            <a:off x="9486900" y="5133975"/>
            <a:ext cx="4191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00C2A8"/>
                </a:solidFill>
                <a:latin typeface="Noto Sans SC Bold"/>
                <a:ea typeface="Noto Sans SC Bold"/>
                <a:cs typeface="Noto Sans SC Bold"/>
              </a:rPr>
              <a:t>起步</a:t>
            </a:r>
          </a:p>
        </p:txBody>
      </p:sp>
      <p:sp>
        <p:nvSpPr>
          <p:cNvPr id="27" name="TextBox"/>
          <p:cNvSpPr txBox="1"/>
          <p:nvPr/>
        </p:nvSpPr>
        <p:spPr>
          <a:xfrm>
            <a:off x="10515600" y="5133975"/>
            <a:ext cx="337228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400"/>
              </a:lnSpc>
            </a:pPr>
            <a:r>
              <a:rPr lang="zh-CN" sz="1650">
                <a:solidFill>
                  <a:srgbClr val="C9D6E3"/>
                </a:solidFill>
                <a:latin typeface="Noto Sans SC"/>
                <a:ea typeface="Noto Sans SC"/>
                <a:cs typeface="Noto Sans SC"/>
              </a:rPr>
              <a:t> 1 个任务，100–250 </a:t>
            </a:r>
          </a:p>
        </p:txBody>
      </p:sp>
      <p:sp>
        <p:nvSpPr>
          <p:cNvPr id="28" name="TextBox"/>
          <p:cNvSpPr txBox="1"/>
          <p:nvPr/>
        </p:nvSpPr>
        <p:spPr>
          <a:xfrm>
            <a:off x="9486900" y="5753100"/>
            <a:ext cx="4191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00C2A8"/>
                </a:solidFill>
                <a:latin typeface="Noto Sans SC Bold"/>
                <a:ea typeface="Noto Sans SC Bold"/>
                <a:cs typeface="Noto Sans SC Bold"/>
              </a:rPr>
              <a:t>评测</a:t>
            </a:r>
          </a:p>
        </p:txBody>
      </p:sp>
      <p:sp>
        <p:nvSpPr>
          <p:cNvPr id="29" name="TextBox"/>
          <p:cNvSpPr txBox="1"/>
          <p:nvPr/>
        </p:nvSpPr>
        <p:spPr>
          <a:xfrm>
            <a:off x="10515600" y="5753100"/>
            <a:ext cx="370819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400"/>
              </a:lnSpc>
            </a:pPr>
            <a:r>
              <a:rPr lang="zh-CN" sz="1650">
                <a:solidFill>
                  <a:srgbClr val="C9D6E3"/>
                </a:solidFill>
                <a:latin typeface="Noto Sans SC"/>
                <a:ea typeface="Noto Sans SC"/>
                <a:cs typeface="Noto Sans SC"/>
              </a:rPr>
              <a:t>20 次 rollout</a:t>
            </a:r>
          </a:p>
        </p:txBody>
      </p:sp>
      <p:sp>
        <p:nvSpPr>
          <p:cNvPr id="30" name="TextBox"/>
          <p:cNvSpPr txBox="1"/>
          <p:nvPr/>
        </p:nvSpPr>
        <p:spPr>
          <a:xfrm>
            <a:off x="9486900" y="6372225"/>
            <a:ext cx="4191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00C2A8"/>
                </a:solidFill>
                <a:latin typeface="Noto Sans SC Bold"/>
                <a:ea typeface="Noto Sans SC Bold"/>
                <a:cs typeface="Noto Sans SC Bold"/>
              </a:rPr>
              <a:t>对照</a:t>
            </a:r>
          </a:p>
        </p:txBody>
      </p:sp>
      <p:sp>
        <p:nvSpPr>
          <p:cNvPr id="31" name="TextBox"/>
          <p:cNvSpPr txBox="1"/>
          <p:nvPr/>
        </p:nvSpPr>
        <p:spPr>
          <a:xfrm>
            <a:off x="10515600" y="6372225"/>
            <a:ext cx="369164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400"/>
              </a:lnSpc>
            </a:pPr>
            <a:r>
              <a:rPr lang="en-US" sz="1650">
                <a:solidFill>
                  <a:srgbClr val="C9D6E3"/>
                </a:solidFill>
                <a:latin typeface="Noto Sans SC"/>
                <a:ea typeface="Noto Sans SC"/>
                <a:cs typeface="Noto Sans SC"/>
              </a:rPr>
              <a:t>Base / +Torque / FIRST </a:t>
            </a:r>
          </a:p>
        </p:txBody>
      </p:sp>
      <p:sp>
        <p:nvSpPr>
          <p:cNvPr id="32" name="TextBox"/>
          <p:cNvSpPr txBox="1"/>
          <p:nvPr/>
        </p:nvSpPr>
        <p:spPr>
          <a:xfrm>
            <a:off x="9486899" y="6991350"/>
            <a:ext cx="4905213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pPr>
              <a:lnSpc>
                <a:spcPts val="2250"/>
              </a:lnSpc>
            </a:pPr>
            <a:r>
              <a:rPr lang="zh-CN" sz="1575">
                <a:solidFill>
                  <a:srgbClr val="8FA6BA"/>
                </a:solidFill>
                <a:latin typeface="Noto Sans SC"/>
                <a:ea typeface="Noto Sans SC"/>
                <a:cs typeface="Noto Sans SC"/>
              </a:rPr>
              <a:t> Base 与 Base + Torque 两条基线，再加 FIRST</a:t>
            </a:r>
          </a:p>
        </p:txBody>
      </p:sp>
      <p:sp>
        <p:nvSpPr>
          <p:cNvPr id="33" name="TextBox"/>
          <p:cNvSpPr txBox="1"/>
          <p:nvPr/>
        </p:nvSpPr>
        <p:spPr>
          <a:xfrm>
            <a:off x="1162050" y="8096250"/>
            <a:ext cx="7890872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950">
                <a:solidFill>
                  <a:srgbClr val="22394D"/>
                </a:solidFill>
                <a:latin typeface="Noto Sans SC"/>
                <a:ea typeface="Noto Sans SC"/>
                <a:cs typeface="Noto Sans SC"/>
              </a:rPr>
              <a:t> NEXT 离线切相位，ACT 也能从 0.220 涨到 0.360</a:t>
            </a:r>
          </a:p>
        </p:txBody>
      </p:sp>
      <p:sp>
        <p:nvSpPr>
          <p:cNvPr id="34" name="TextBox"/>
          <p:cNvSpPr txBox="1"/>
          <p:nvPr/>
        </p:nvSpPr>
        <p:spPr>
          <a:xfrm>
            <a:off x="1143000" y="9429750"/>
            <a:ext cx="316336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8B9AA8"/>
                </a:solidFill>
                <a:latin typeface="Noto Sans SC"/>
                <a:ea typeface="Noto Sans SC"/>
                <a:cs typeface="Noto Sans SC"/>
              </a:rPr>
              <a:t>FACTR 2 · 论文解析与 Piper </a:t>
            </a:r>
          </a:p>
        </p:txBody>
      </p:sp>
      <p:sp>
        <p:nvSpPr>
          <p:cNvPr id="35" name="TextBox"/>
          <p:cNvSpPr txBox="1"/>
          <p:nvPr/>
        </p:nvSpPr>
        <p:spPr>
          <a:xfrm>
            <a:off x="16383000" y="9429750"/>
            <a:ext cx="650853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8B9AA8"/>
                </a:solidFill>
                <a:latin typeface="Inter"/>
                <a:ea typeface="Inter"/>
                <a:cs typeface="Inter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6F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Box"/>
          <p:cNvSpPr txBox="1"/>
          <p:nvPr/>
        </p:nvSpPr>
        <p:spPr>
          <a:xfrm>
            <a:off x="1143000" y="914400"/>
            <a:ext cx="187610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 spc="225">
                <a:solidFill>
                  <a:srgbClr val="00806F"/>
                </a:solidFill>
                <a:latin typeface="Noto Sans SC Bold"/>
                <a:ea typeface="Noto Sans SC Bold"/>
                <a:cs typeface="Noto Sans SC Bold"/>
              </a:rPr>
              <a:t>17 / 复现 · </a:t>
            </a:r>
          </a:p>
        </p:txBody>
      </p:sp>
      <p:sp>
        <p:nvSpPr>
          <p:cNvPr id="4" name="TextBox"/>
          <p:cNvSpPr txBox="1"/>
          <p:nvPr/>
        </p:nvSpPr>
        <p:spPr>
          <a:xfrm>
            <a:off x="1143000" y="1390650"/>
            <a:ext cx="4876800" cy="885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4800">
                <a:solidFill>
                  <a:srgbClr val="0F1B2A"/>
                </a:solidFill>
                <a:latin typeface="Noto Sans SC Bold"/>
                <a:ea typeface="Noto Sans SC Bold"/>
                <a:cs typeface="Noto Sans SC Bold"/>
              </a:rPr>
              <a:t>五个最容易踩的坑</a:t>
            </a:r>
          </a:p>
        </p:txBody>
      </p:sp>
      <p:sp>
        <p:nvSpPr>
          <p:cNvPr id="5" name="Rectangle"/>
          <p:cNvSpPr/>
          <p:nvPr/>
        </p:nvSpPr>
        <p:spPr>
          <a:xfrm>
            <a:off x="1143000" y="2667000"/>
            <a:ext cx="16002000" cy="5715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"/>
          <p:cNvSpPr txBox="1"/>
          <p:nvPr/>
        </p:nvSpPr>
        <p:spPr>
          <a:xfrm>
            <a:off x="1524000" y="3028950"/>
            <a:ext cx="20002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575">
                <a:solidFill>
                  <a:srgbClr val="8B9AA8"/>
                </a:solidFill>
                <a:latin typeface="Noto Sans SC Bold"/>
                <a:ea typeface="Noto Sans SC Bold"/>
                <a:cs typeface="Noto Sans SC Bold"/>
              </a:rPr>
              <a:t>坑</a:t>
            </a:r>
          </a:p>
        </p:txBody>
      </p:sp>
      <p:sp>
        <p:nvSpPr>
          <p:cNvPr id="7" name="TextBox"/>
          <p:cNvSpPr txBox="1"/>
          <p:nvPr/>
        </p:nvSpPr>
        <p:spPr>
          <a:xfrm>
            <a:off x="4572000" y="3028950"/>
            <a:ext cx="4000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575">
                <a:solidFill>
                  <a:srgbClr val="8B9AA8"/>
                </a:solidFill>
                <a:latin typeface="Noto Sans SC Bold"/>
                <a:ea typeface="Noto Sans SC Bold"/>
                <a:cs typeface="Noto Sans SC Bold"/>
              </a:rPr>
              <a:t>现象</a:t>
            </a:r>
          </a:p>
        </p:txBody>
      </p:sp>
      <p:sp>
        <p:nvSpPr>
          <p:cNvPr id="8" name="TextBox"/>
          <p:cNvSpPr txBox="1"/>
          <p:nvPr/>
        </p:nvSpPr>
        <p:spPr>
          <a:xfrm>
            <a:off x="10477500" y="3028950"/>
            <a:ext cx="40005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575">
                <a:solidFill>
                  <a:srgbClr val="8B9AA8"/>
                </a:solidFill>
                <a:latin typeface="Noto Sans SC Bold"/>
                <a:ea typeface="Noto Sans SC Bold"/>
                <a:cs typeface="Noto Sans SC Bold"/>
              </a:rPr>
              <a:t>对策</a:t>
            </a:r>
          </a:p>
        </p:txBody>
      </p:sp>
      <p:sp>
        <p:nvSpPr>
          <p:cNvPr id="9" name="Rectangle"/>
          <p:cNvSpPr/>
          <p:nvPr/>
        </p:nvSpPr>
        <p:spPr>
          <a:xfrm>
            <a:off x="1524000" y="3429000"/>
            <a:ext cx="15240000" cy="9525"/>
          </a:xfrm>
          <a:prstGeom prst="rect">
            <a:avLst/>
          </a:prstGeom>
          <a:solidFill>
            <a:srgbClr val="DDE3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"/>
          <p:cNvSpPr txBox="1"/>
          <p:nvPr/>
        </p:nvSpPr>
        <p:spPr>
          <a:xfrm>
            <a:off x="1524000" y="3657600"/>
            <a:ext cx="1700213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75">
                <a:solidFill>
                  <a:srgbClr val="0F1B2A"/>
                </a:solidFill>
                <a:latin typeface="Noto Sans SC Bold"/>
                <a:ea typeface="Noto Sans SC Bold"/>
                <a:cs typeface="Noto Sans SC Bold"/>
              </a:rPr>
              <a:t> K </a:t>
            </a:r>
          </a:p>
        </p:txBody>
      </p:sp>
      <p:sp>
        <p:nvSpPr>
          <p:cNvPr id="11" name="TextBox"/>
          <p:cNvSpPr txBox="1"/>
          <p:nvPr/>
        </p:nvSpPr>
        <p:spPr>
          <a:xfrm>
            <a:off x="4572000" y="36957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5D6F80"/>
                </a:solidFill>
                <a:latin typeface="Noto Sans SC"/>
                <a:ea typeface="Noto Sans SC"/>
                <a:cs typeface="Noto Sans SC"/>
              </a:rPr>
              <a:t>外力矩整体缩放，接触阈值全部失效</a:t>
            </a:r>
          </a:p>
        </p:txBody>
      </p:sp>
      <p:sp>
        <p:nvSpPr>
          <p:cNvPr id="12" name="TextBox"/>
          <p:cNvSpPr txBox="1"/>
          <p:nvPr/>
        </p:nvSpPr>
        <p:spPr>
          <a:xfrm>
            <a:off x="10477500" y="3695700"/>
            <a:ext cx="27241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00806F"/>
                </a:solidFill>
                <a:latin typeface="Noto Sans SC"/>
                <a:ea typeface="Noto Sans SC"/>
                <a:cs typeface="Noto Sans SC"/>
              </a:rPr>
              <a:t>用已知质量块做整体尺度标定</a:t>
            </a:r>
          </a:p>
        </p:txBody>
      </p:sp>
      <p:sp>
        <p:nvSpPr>
          <p:cNvPr id="13" name="Rectangle"/>
          <p:cNvSpPr/>
          <p:nvPr/>
        </p:nvSpPr>
        <p:spPr>
          <a:xfrm>
            <a:off x="1524000" y="4419600"/>
            <a:ext cx="15240000" cy="9525"/>
          </a:xfrm>
          <a:prstGeom prst="rect">
            <a:avLst/>
          </a:prstGeom>
          <a:solidFill>
            <a:srgbClr val="EDF1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"/>
          <p:cNvSpPr txBox="1"/>
          <p:nvPr/>
        </p:nvSpPr>
        <p:spPr>
          <a:xfrm>
            <a:off x="1524000" y="45339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75">
                <a:solidFill>
                  <a:srgbClr val="0F1B2A"/>
                </a:solidFill>
                <a:latin typeface="Noto Sans SC Bold"/>
                <a:ea typeface="Noto Sans SC Bold"/>
                <a:cs typeface="Noto Sans SC Bold"/>
              </a:rPr>
              <a:t>自由空间混入接触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4572000" y="4572000"/>
            <a:ext cx="35623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5D6F80"/>
                </a:solidFill>
                <a:latin typeface="Noto Sans SC"/>
                <a:ea typeface="Noto Sans SC"/>
                <a:cs typeface="Noto Sans SC"/>
              </a:rPr>
              <a:t>训练标签被污染，残差出现系统性偏置</a:t>
            </a:r>
          </a:p>
        </p:txBody>
      </p:sp>
      <p:sp>
        <p:nvSpPr>
          <p:cNvPr id="16" name="TextBox"/>
          <p:cNvSpPr txBox="1"/>
          <p:nvPr/>
        </p:nvSpPr>
        <p:spPr>
          <a:xfrm>
            <a:off x="10477500" y="4572000"/>
            <a:ext cx="37719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00806F"/>
                </a:solidFill>
                <a:latin typeface="Noto Sans SC"/>
                <a:ea typeface="Noto Sans SC"/>
                <a:cs typeface="Noto Sans SC"/>
              </a:rPr>
              <a:t>采集前清空桌面，抽检残差曲线是否贴零</a:t>
            </a:r>
          </a:p>
        </p:txBody>
      </p:sp>
      <p:sp>
        <p:nvSpPr>
          <p:cNvPr id="17" name="Rectangle"/>
          <p:cNvSpPr/>
          <p:nvPr/>
        </p:nvSpPr>
        <p:spPr>
          <a:xfrm>
            <a:off x="1524000" y="5295900"/>
            <a:ext cx="15240000" cy="9525"/>
          </a:xfrm>
          <a:prstGeom prst="rect">
            <a:avLst/>
          </a:prstGeom>
          <a:solidFill>
            <a:srgbClr val="EDF1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"/>
          <p:cNvSpPr txBox="1"/>
          <p:nvPr/>
        </p:nvSpPr>
        <p:spPr>
          <a:xfrm>
            <a:off x="1524000" y="5410200"/>
            <a:ext cx="1808559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875">
                <a:solidFill>
                  <a:srgbClr val="0F1B2A"/>
                </a:solidFill>
                <a:latin typeface="Noto Sans SC Bold"/>
                <a:ea typeface="Noto Sans SC Bold"/>
                <a:cs typeface="Noto Sans SC Bold"/>
              </a:rPr>
              <a:t> Franka</a:t>
            </a:r>
          </a:p>
        </p:txBody>
      </p:sp>
      <p:sp>
        <p:nvSpPr>
          <p:cNvPr id="19" name="TextBox"/>
          <p:cNvSpPr txBox="1"/>
          <p:nvPr/>
        </p:nvSpPr>
        <p:spPr>
          <a:xfrm>
            <a:off x="4572000" y="5448300"/>
            <a:ext cx="354516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5D6F80"/>
                </a:solidFill>
                <a:latin typeface="Noto Sans SC"/>
                <a:ea typeface="Noto Sans SC"/>
                <a:cs typeface="Noto Sans SC"/>
              </a:rPr>
              <a:t> Piper </a:t>
            </a:r>
          </a:p>
        </p:txBody>
      </p:sp>
      <p:sp>
        <p:nvSpPr>
          <p:cNvPr id="20" name="TextBox"/>
          <p:cNvSpPr txBox="1"/>
          <p:nvPr/>
        </p:nvSpPr>
        <p:spPr>
          <a:xfrm>
            <a:off x="10477500" y="544830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00806F"/>
                </a:solidFill>
                <a:latin typeface="Noto Sans SC"/>
                <a:ea typeface="Noto Sans SC"/>
                <a:cs typeface="Noto Sans SC"/>
              </a:rPr>
              <a:t>用本机自由空间噪声重新标定双阈值</a:t>
            </a:r>
          </a:p>
        </p:txBody>
      </p:sp>
      <p:sp>
        <p:nvSpPr>
          <p:cNvPr id="21" name="Rectangle"/>
          <p:cNvSpPr/>
          <p:nvPr/>
        </p:nvSpPr>
        <p:spPr>
          <a:xfrm>
            <a:off x="1524000" y="6172200"/>
            <a:ext cx="15240000" cy="9525"/>
          </a:xfrm>
          <a:prstGeom prst="rect">
            <a:avLst/>
          </a:prstGeom>
          <a:solidFill>
            <a:srgbClr val="EDF1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"/>
          <p:cNvSpPr txBox="1"/>
          <p:nvPr/>
        </p:nvSpPr>
        <p:spPr>
          <a:xfrm>
            <a:off x="1524000" y="6286500"/>
            <a:ext cx="2143125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75">
                <a:solidFill>
                  <a:srgbClr val="0F1B2A"/>
                </a:solidFill>
                <a:latin typeface="Noto Sans SC Bold"/>
                <a:ea typeface="Noto Sans SC Bold"/>
                <a:cs typeface="Noto Sans SC Bold"/>
              </a:rPr>
              <a:t>把关节力矩当末端力</a:t>
            </a:r>
          </a:p>
        </p:txBody>
      </p:sp>
      <p:sp>
        <p:nvSpPr>
          <p:cNvPr id="23" name="TextBox"/>
          <p:cNvSpPr txBox="1"/>
          <p:nvPr/>
        </p:nvSpPr>
        <p:spPr>
          <a:xfrm>
            <a:off x="4572000" y="6324600"/>
            <a:ext cx="27241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5D6F80"/>
                </a:solidFill>
                <a:latin typeface="Noto Sans SC"/>
                <a:ea typeface="Noto Sans SC"/>
                <a:cs typeface="Noto Sans SC"/>
              </a:rPr>
              <a:t>阻抗控制的方向与量纲都会错</a:t>
            </a:r>
          </a:p>
        </p:txBody>
      </p:sp>
      <p:sp>
        <p:nvSpPr>
          <p:cNvPr id="24" name="TextBox"/>
          <p:cNvSpPr txBox="1"/>
          <p:nvPr/>
        </p:nvSpPr>
        <p:spPr>
          <a:xfrm>
            <a:off x="10477500" y="6324600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00806F"/>
                </a:solidFill>
                <a:latin typeface="Noto Sans SC"/>
                <a:ea typeface="Noto Sans SC"/>
                <a:cs typeface="Noto Sans SC"/>
              </a:rPr>
              <a:t>末端六维力需雅可比映射，或只做力矩级控制</a:t>
            </a:r>
          </a:p>
        </p:txBody>
      </p:sp>
      <p:sp>
        <p:nvSpPr>
          <p:cNvPr id="25" name="Rectangle"/>
          <p:cNvSpPr/>
          <p:nvPr/>
        </p:nvSpPr>
        <p:spPr>
          <a:xfrm>
            <a:off x="1524000" y="7048500"/>
            <a:ext cx="15240000" cy="9525"/>
          </a:xfrm>
          <a:prstGeom prst="rect">
            <a:avLst/>
          </a:prstGeom>
          <a:solidFill>
            <a:srgbClr val="EDF1F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Box"/>
          <p:cNvSpPr txBox="1"/>
          <p:nvPr/>
        </p:nvSpPr>
        <p:spPr>
          <a:xfrm>
            <a:off x="1524000" y="7162800"/>
            <a:ext cx="2143125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875">
                <a:solidFill>
                  <a:srgbClr val="0F1B2A"/>
                </a:solidFill>
                <a:latin typeface="Noto Sans SC Bold"/>
                <a:ea typeface="Noto Sans SC Bold"/>
                <a:cs typeface="Noto Sans SC Bold"/>
              </a:rPr>
              <a:t>任务进度靠人工划分</a:t>
            </a:r>
          </a:p>
        </p:txBody>
      </p:sp>
      <p:sp>
        <p:nvSpPr>
          <p:cNvPr id="27" name="TextBox"/>
          <p:cNvSpPr txBox="1"/>
          <p:nvPr/>
        </p:nvSpPr>
        <p:spPr>
          <a:xfrm>
            <a:off x="4572000" y="7200900"/>
            <a:ext cx="23050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5D6F80"/>
                </a:solidFill>
                <a:latin typeface="Noto Sans SC"/>
                <a:ea typeface="Noto Sans SC"/>
                <a:cs typeface="Noto Sans SC"/>
              </a:rPr>
              <a:t>跨任务、跨标注人不可比</a:t>
            </a:r>
          </a:p>
        </p:txBody>
      </p:sp>
      <p:sp>
        <p:nvSpPr>
          <p:cNvPr id="28" name="TextBox"/>
          <p:cNvSpPr txBox="1"/>
          <p:nvPr/>
        </p:nvSpPr>
        <p:spPr>
          <a:xfrm>
            <a:off x="10477500" y="7200900"/>
            <a:ext cx="35623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00806F"/>
                </a:solidFill>
                <a:latin typeface="Noto Sans SC"/>
                <a:ea typeface="Noto Sans SC"/>
                <a:cs typeface="Noto Sans SC"/>
              </a:rPr>
              <a:t>固定阶段定义与评分表，先对齐再比较</a:t>
            </a:r>
          </a:p>
        </p:txBody>
      </p:sp>
      <p:sp>
        <p:nvSpPr>
          <p:cNvPr id="29" name="Rectangle"/>
          <p:cNvSpPr/>
          <p:nvPr/>
        </p:nvSpPr>
        <p:spPr>
          <a:xfrm>
            <a:off x="1147763" y="2671763"/>
            <a:ext cx="15992475" cy="5705475"/>
          </a:xfrm>
          <a:prstGeom prst="roundRect">
            <a:avLst>
              <a:gd name="adj" fmla="val 3255"/>
            </a:avLst>
          </a:prstGeom>
          <a:noFill/>
          <a:ln w="9525">
            <a:solidFill>
              <a:srgbClr val="E6EAEF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Box"/>
          <p:cNvSpPr txBox="1"/>
          <p:nvPr/>
        </p:nvSpPr>
        <p:spPr>
          <a:xfrm>
            <a:off x="1162050" y="8705850"/>
            <a:ext cx="6191250" cy="3619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950">
                <a:solidFill>
                  <a:srgbClr val="22394D"/>
                </a:solidFill>
                <a:latin typeface="Noto Sans SC"/>
                <a:ea typeface="Noto Sans SC"/>
                <a:cs typeface="Noto Sans SC"/>
              </a:rPr>
              <a:t>前三个坑决定信号能不能用；后两个决定结论能不能信。</a:t>
            </a:r>
          </a:p>
        </p:txBody>
      </p:sp>
      <p:sp>
        <p:nvSpPr>
          <p:cNvPr id="31" name="TextBox"/>
          <p:cNvSpPr txBox="1"/>
          <p:nvPr/>
        </p:nvSpPr>
        <p:spPr>
          <a:xfrm>
            <a:off x="1143000" y="9429750"/>
            <a:ext cx="316336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8B9AA8"/>
                </a:solidFill>
                <a:latin typeface="Noto Sans SC"/>
                <a:ea typeface="Noto Sans SC"/>
                <a:cs typeface="Noto Sans SC"/>
              </a:rPr>
              <a:t>FACTR 2 · 论文解析与 Piper </a:t>
            </a:r>
          </a:p>
        </p:txBody>
      </p:sp>
      <p:sp>
        <p:nvSpPr>
          <p:cNvPr id="32" name="TextBox"/>
          <p:cNvSpPr txBox="1"/>
          <p:nvPr/>
        </p:nvSpPr>
        <p:spPr>
          <a:xfrm>
            <a:off x="16383000" y="9429750"/>
            <a:ext cx="651058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8B9AA8"/>
                </a:solidFill>
                <a:latin typeface="Inter"/>
                <a:ea typeface="Inter"/>
                <a:cs typeface="Inter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152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Ellipse"/>
          <p:cNvSpPr/>
          <p:nvPr/>
        </p:nvSpPr>
        <p:spPr>
          <a:xfrm>
            <a:off x="12382500" y="2286000"/>
            <a:ext cx="5715000" cy="5715000"/>
          </a:xfrm>
          <a:prstGeom prst="ellipse">
            <a:avLst/>
          </a:prstGeom>
          <a:noFill/>
          <a:ln w="9525">
            <a:solidFill>
              <a:srgbClr val="1B3A50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4" name="Ellipse"/>
          <p:cNvSpPr/>
          <p:nvPr/>
        </p:nvSpPr>
        <p:spPr>
          <a:xfrm>
            <a:off x="13335000" y="3238500"/>
            <a:ext cx="3810000" cy="3810000"/>
          </a:xfrm>
          <a:prstGeom prst="ellipse">
            <a:avLst/>
          </a:prstGeom>
          <a:noFill/>
          <a:ln w="9525">
            <a:solidFill>
              <a:srgbClr val="1B3A50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5" name="Ellipse"/>
          <p:cNvSpPr/>
          <p:nvPr/>
        </p:nvSpPr>
        <p:spPr>
          <a:xfrm>
            <a:off x="14287500" y="4191000"/>
            <a:ext cx="1905000" cy="1905000"/>
          </a:xfrm>
          <a:prstGeom prst="ellipse">
            <a:avLst/>
          </a:prstGeom>
          <a:noFill/>
          <a:ln w="9525">
            <a:solidFill>
              <a:srgbClr val="1B3A50"/>
            </a:solidFill>
            <a:miter lim="400000"/>
          </a:ln>
        </p:spPr>
        <p:txBody>
          <a:bodyPr/>
          <a:lstStyle/>
          <a:p>
            <a:endParaRPr lang="en-US"/>
          </a:p>
        </p:txBody>
      </p:sp>
      <p:sp>
        <p:nvSpPr>
          <p:cNvPr id="6" name="Path"/>
          <p:cNvSpPr/>
          <p:nvPr/>
        </p:nvSpPr>
        <p:spPr>
          <a:xfrm>
            <a:off x="9129349" y="3305340"/>
            <a:ext cx="8792456" cy="4138812"/>
          </a:xfrm>
          <a:custGeom>
            <a:avLst/>
            <a:gdLst/>
            <a:ahLst/>
            <a:cxnLst/>
            <a:rect l="0" t="0" r="r" b="b"/>
            <a:pathLst>
              <a:path w="8792456" h="4138812">
                <a:moveTo>
                  <a:pt x="1156467" y="4071804"/>
                </a:moveTo>
                <a:lnTo>
                  <a:pt x="14175" y="4109881"/>
                </a:lnTo>
                <a:quadBezTo>
                  <a:pt x="8184" y="4109908"/>
                  <a:pt x="4218" y="4114399"/>
                </a:quadBezTo>
                <a:quadBezTo>
                  <a:pt x="0" y="4118655"/>
                  <a:pt x="372" y="4124636"/>
                </a:quadBezTo>
                <a:quadBezTo>
                  <a:pt x="399" y="4130628"/>
                  <a:pt x="4891" y="4134594"/>
                </a:quadBezTo>
                <a:quadBezTo>
                  <a:pt x="9147" y="4138812"/>
                  <a:pt x="15127" y="4138440"/>
                </a:quadBezTo>
                <a:lnTo>
                  <a:pt x="1158127" y="4100340"/>
                </a:lnTo>
                <a:lnTo>
                  <a:pt x="1158836" y="4100316"/>
                </a:lnTo>
                <a:lnTo>
                  <a:pt x="2302540" y="3947822"/>
                </a:lnTo>
                <a:lnTo>
                  <a:pt x="2306239" y="3947329"/>
                </a:lnTo>
                <a:lnTo>
                  <a:pt x="3071224" y="3373590"/>
                </a:lnTo>
                <a:lnTo>
                  <a:pt x="3073922" y="3371567"/>
                </a:lnTo>
                <a:lnTo>
                  <a:pt x="3646931" y="2225550"/>
                </a:lnTo>
                <a:lnTo>
                  <a:pt x="3647196" y="2225018"/>
                </a:lnTo>
                <a:lnTo>
                  <a:pt x="4218695" y="796270"/>
                </a:lnTo>
                <a:lnTo>
                  <a:pt x="4588420" y="56821"/>
                </a:lnTo>
                <a:lnTo>
                  <a:pt x="4954455" y="605872"/>
                </a:lnTo>
                <a:lnTo>
                  <a:pt x="5334846" y="2032342"/>
                </a:lnTo>
                <a:lnTo>
                  <a:pt x="5334959" y="2032764"/>
                </a:lnTo>
                <a:lnTo>
                  <a:pt x="5716097" y="3176178"/>
                </a:lnTo>
                <a:lnTo>
                  <a:pt x="5717164" y="3179378"/>
                </a:lnTo>
                <a:lnTo>
                  <a:pt x="6291049" y="3753263"/>
                </a:lnTo>
                <a:lnTo>
                  <a:pt x="6293796" y="3756010"/>
                </a:lnTo>
                <a:lnTo>
                  <a:pt x="7250056" y="4004638"/>
                </a:lnTo>
                <a:lnTo>
                  <a:pt x="7251388" y="4004984"/>
                </a:lnTo>
                <a:lnTo>
                  <a:pt x="8776760" y="4100320"/>
                </a:lnTo>
                <a:quadBezTo>
                  <a:pt x="8782727" y="4100865"/>
                  <a:pt x="8787104" y="4096773"/>
                </a:quadBezTo>
                <a:quadBezTo>
                  <a:pt x="8791709" y="4092940"/>
                  <a:pt x="8791911" y="4086951"/>
                </a:quadBezTo>
                <a:quadBezTo>
                  <a:pt x="8792456" y="4080984"/>
                  <a:pt x="8788364" y="4076607"/>
                </a:quadBezTo>
                <a:quadBezTo>
                  <a:pt x="8784531" y="4072002"/>
                  <a:pt x="8778543" y="4071801"/>
                </a:quadBezTo>
                <a:lnTo>
                  <a:pt x="7255915" y="3976636"/>
                </a:lnTo>
                <a:lnTo>
                  <a:pt x="6308507" y="3730310"/>
                </a:lnTo>
                <a:lnTo>
                  <a:pt x="5742139" y="3163942"/>
                </a:lnTo>
                <a:lnTo>
                  <a:pt x="5362343" y="2024554"/>
                </a:lnTo>
                <a:lnTo>
                  <a:pt x="4980848" y="593949"/>
                </a:lnTo>
                <a:lnTo>
                  <a:pt x="4979539" y="591985"/>
                </a:lnTo>
                <a:lnTo>
                  <a:pt x="4584883" y="0"/>
                </a:lnTo>
                <a:lnTo>
                  <a:pt x="4573872" y="22021"/>
                </a:lnTo>
                <a:lnTo>
                  <a:pt x="4192607" y="784552"/>
                </a:lnTo>
                <a:lnTo>
                  <a:pt x="4192386" y="785104"/>
                </a:lnTo>
                <a:lnTo>
                  <a:pt x="3621107" y="2213300"/>
                </a:lnTo>
                <a:lnTo>
                  <a:pt x="3051381" y="3352754"/>
                </a:lnTo>
                <a:lnTo>
                  <a:pt x="2295064" y="3919991"/>
                </a:lnTo>
                <a:lnTo>
                  <a:pt x="1156467" y="4071804"/>
                </a:lnTo>
                <a:close/>
              </a:path>
            </a:pathLst>
          </a:custGeom>
          <a:solidFill>
            <a:srgbClr val="00C2A8">
              <a:alpha val="7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Ellipse"/>
          <p:cNvSpPr/>
          <p:nvPr/>
        </p:nvSpPr>
        <p:spPr>
          <a:xfrm>
            <a:off x="13649325" y="3267075"/>
            <a:ext cx="133350" cy="133350"/>
          </a:xfrm>
          <a:prstGeom prst="ellipse">
            <a:avLst/>
          </a:prstGeom>
          <a:solidFill>
            <a:srgbClr val="FFB02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"/>
          <p:cNvSpPr txBox="1"/>
          <p:nvPr/>
        </p:nvSpPr>
        <p:spPr>
          <a:xfrm>
            <a:off x="1143000" y="2476500"/>
            <a:ext cx="336196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 spc="300">
                <a:solidFill>
                  <a:srgbClr val="00C2A8"/>
                </a:solidFill>
                <a:latin typeface="Noto Sans SC Bold"/>
                <a:ea typeface="Noto Sans SC Bold"/>
                <a:cs typeface="Noto Sans SC Bold"/>
              </a:rPr>
              <a:t>FACTR 2  ·  </a:t>
            </a:r>
          </a:p>
        </p:txBody>
      </p:sp>
      <p:sp>
        <p:nvSpPr>
          <p:cNvPr id="9" name="TextBox"/>
          <p:cNvSpPr txBox="1"/>
          <p:nvPr/>
        </p:nvSpPr>
        <p:spPr>
          <a:xfrm>
            <a:off x="1104900" y="3048000"/>
            <a:ext cx="9525000" cy="198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ts val="7800"/>
              </a:lnSpc>
            </a:pPr>
            <a:r>
              <a:rPr lang="zh-CN" sz="5850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力的感知，从「买传感器」</a:t>
            </a:r>
          </a:p>
          <a:p>
            <a:pPr>
              <a:lnSpc>
                <a:spcPts val="7800"/>
              </a:lnSpc>
            </a:pPr>
            <a:r>
              <a:rPr lang="zh-CN" sz="5850">
                <a:solidFill>
                  <a:srgbClr val="FFFFFF"/>
                </a:solidFill>
                <a:latin typeface="Noto Sans SC Bold"/>
                <a:ea typeface="Noto Sans SC Bold"/>
                <a:cs typeface="Noto Sans SC Bold"/>
              </a:rPr>
              <a:t>变成「跑一次训练」</a:t>
            </a:r>
          </a:p>
        </p:txBody>
      </p:sp>
      <p:sp>
        <p:nvSpPr>
          <p:cNvPr id="10" name="TextBox"/>
          <p:cNvSpPr txBox="1"/>
          <p:nvPr/>
        </p:nvSpPr>
        <p:spPr>
          <a:xfrm>
            <a:off x="1143000" y="5295900"/>
            <a:ext cx="6085028" cy="3905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2100">
                <a:solidFill>
                  <a:srgbClr val="9FB2C4"/>
                </a:solidFill>
                <a:latin typeface="Noto Sans SC"/>
                <a:ea typeface="Noto Sans SC"/>
                <a:cs typeface="Noto Sans SC"/>
              </a:rPr>
              <a:t> Piper + 10 分钟数据 + 1 分钟训练 + </a:t>
            </a:r>
          </a:p>
        </p:txBody>
      </p:sp>
      <p:sp>
        <p:nvSpPr>
          <p:cNvPr id="11" name="Rectangle"/>
          <p:cNvSpPr/>
          <p:nvPr/>
        </p:nvSpPr>
        <p:spPr>
          <a:xfrm>
            <a:off x="1143000" y="6000750"/>
            <a:ext cx="6286500" cy="9525"/>
          </a:xfrm>
          <a:prstGeom prst="rect">
            <a:avLst/>
          </a:prstGeom>
          <a:solidFill>
            <a:srgbClr val="26455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"/>
          <p:cNvSpPr txBox="1"/>
          <p:nvPr/>
        </p:nvSpPr>
        <p:spPr>
          <a:xfrm>
            <a:off x="1143000" y="6286500"/>
            <a:ext cx="1947342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7F94A8"/>
                </a:solidFill>
                <a:latin typeface="Inter"/>
                <a:ea typeface="Inter"/>
                <a:cs typeface="Inter"/>
              </a:rPr>
              <a:t>arXiv:2606.12406v2</a:t>
            </a:r>
          </a:p>
        </p:txBody>
      </p:sp>
      <p:sp>
        <p:nvSpPr>
          <p:cNvPr id="13" name="TextBox"/>
          <p:cNvSpPr txBox="1"/>
          <p:nvPr/>
        </p:nvSpPr>
        <p:spPr>
          <a:xfrm>
            <a:off x="1143000" y="6667500"/>
            <a:ext cx="2029402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7F94A8"/>
                </a:solidFill>
                <a:latin typeface="Inter"/>
                <a:ea typeface="Inter"/>
                <a:cs typeface="Inter"/>
              </a:rPr>
              <a:t>jasonjzliu.com/factr2</a:t>
            </a:r>
          </a:p>
        </p:txBody>
      </p:sp>
      <p:sp>
        <p:nvSpPr>
          <p:cNvPr id="14" name="TextBox"/>
          <p:cNvSpPr txBox="1"/>
          <p:nvPr/>
        </p:nvSpPr>
        <p:spPr>
          <a:xfrm>
            <a:off x="1143000" y="7048500"/>
            <a:ext cx="403383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zh-CN" sz="1650">
                <a:solidFill>
                  <a:srgbClr val="7F94A8"/>
                </a:solidFill>
                <a:latin typeface="Noto Sans SC"/>
                <a:ea typeface="Noto Sans SC"/>
                <a:cs typeface="Noto Sans SC"/>
              </a:rPr>
              <a:t>FACTR2_论文解析报告.docx / .pdf</a:t>
            </a:r>
          </a:p>
        </p:txBody>
      </p:sp>
      <p:sp>
        <p:nvSpPr>
          <p:cNvPr id="15" name="TextBox"/>
          <p:cNvSpPr txBox="1"/>
          <p:nvPr/>
        </p:nvSpPr>
        <p:spPr>
          <a:xfrm>
            <a:off x="16383000" y="9429750"/>
            <a:ext cx="698023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/>
          <a:lstStyle/>
          <a:p>
            <a:r>
              <a:rPr lang="en-US" sz="1650">
                <a:solidFill>
                  <a:srgbClr val="4E6478"/>
                </a:solidFill>
                <a:latin typeface="Inter"/>
                <a:ea typeface="Inter"/>
                <a:cs typeface="Inter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GX">
  <a:themeElements>
    <a:clrScheme name="PAGX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GX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PAG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PAGX</Application>
  <Paragraphs>0</Paragraphs>
  <Slides>20</Slides>
  <Notes>0</Notes>
  <HiddenSlides>0</HiddenSlides>
  <MMClips>0</MMClip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</cp:coreProperties>
</file>