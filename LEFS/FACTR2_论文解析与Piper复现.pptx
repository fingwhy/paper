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7" Type="http://schemas.openxmlformats.org/officeDocument/2006/relationships/slide" Target="slides/slide17.xml" /><Relationship Id="rId13" Type="http://schemas.openxmlformats.org/officeDocument/2006/relationships/slide" Target="slides/slide13.xml" /><Relationship Id="rId5" Type="http://schemas.openxmlformats.org/officeDocument/2006/relationships/slide" Target="slides/slide5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20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'60px 64px 88px 64px' }}&gt;&#10;    &lt;Box style={{ position: 'absolute', left: 0, top: 0, width: 10, height: 632, background: '#1E4FA8' }} /&gt;&#10;    &lt;Box style={{ position: 'absolute', left: 0, bottom: 0, width: 1280, height: 72, background: '#0E3F8C', padding: '0 64px', flexDirection: 'row', alignItems: 'center', justifyContent: 'space-between' }}&gt;&#10;        &lt;Text style={{ fontSize: 15, color: '#C9D8F0' }}&gt;S. Oh, J. J. Liu, T. Tao, P. Han, K. Shaw, S. Funabashi, R. Salakhutdinov, D. Pathak&lt;/Text&gt;&#10;        &lt;Text style={{ fontSize: 15, color: '#FFFFFF' }}&gt;汇报材料 · 共 19 页&lt;/Text&gt;&#10;    &lt;/Box&gt;&#10;    &lt;Box style={{ flexDirection: 'column', height: '100%', justifyContent: 'space-between' }}&gt;&#10;        &lt;Box style={{ flexDirection: 'column', gap: 16 }}&gt;&#10;            &lt;Text style={{ fontSize: 16, color: '#3D7BD9', letterSpacing: 3 }}&gt;论 文 解 析 · 复 现 评 估 · 2026.10&lt;/Text&gt;&#10;            &lt;Text style={{ fontSize: 96, fontWeight: 'bold', color: '#0E3F8C', lineHeight: 1.05 }}&gt;FACTR 2&lt;/Text&gt;&#10;            &lt;Text style={{ fontSize: 34, fontWeight: 'bold', color: '#1A2230', lineHeight: 1.3 }}&gt;让商品级机械臂学会感知外力，并让策略学得更好&lt;/Text&gt;&#10;            &lt;Text style={{ fontSize: 21, color: '#4A5568', lineHeight: 1.55 }}&gt;Learning External Force Sensing for Commodity Robot Arms Improves Policy Learning&lt;/Text&gt;&#10;            &lt;Text style={{ fontSize: 16, color: '#8B97A8' }}&gt;arXiv:2606.12406v2　·　Carnegie Mellon University × Waseda University&lt;/Text&gt;&#10;            &lt;Box style={{ flexDirection: 'row', gap: 56, marginTop: 14, borderTop: '1px solid #D6DCE5', paddingTop: 20 }}&gt;&#10;                &lt;Box style={{ flexDirection: 'column', gap: 2 }}&gt;&#10;                    &lt;Text style={{ fontSize: 46, fontWeight: 'bold', color: '#1E4FA8', lineHeight: 1.1 }}&gt;0.547 N·m&lt;/Text&gt;&#10;                    &lt;Text style={{ fontSize: 15, color: '#4A5568' }}&gt;Franka 接触段平均 L1 误差&lt;/Text&gt;&#10;                &lt;/Box&gt;&#10;                &lt;Box style={{ flexDirection: 'column', gap: 2 }}&gt;&#10;                    &lt;Text style={{ fontSize: 46, fontWeight: 'bold', color: '#1E4FA8', lineHeight: 1.1 }}&gt;0.018 N·m&lt;/Text&gt;&#10;                    &lt;Text style={{ fontSize: 15, color: '#4A5568' }}&gt;PiPER 自由空间平均 L1 误差&lt;/Text&gt;&#10;                &lt;/Box&gt;&#10;                &lt;Box style={{ flexDirection: 'column', gap: 2 }}&gt;&#10;                    &lt;Text style={{ fontSize: 46, fontWeight: 'bold', color: '#D9534F', lineHeight: 1.1 }}&gt;≥ 17%&lt;/Text&gt;&#10;                    &lt;Text style={{ fontSize: 15, color: '#4A5568' }}&gt;五任务进度相对力感知基线&lt;/Text&gt;&#10;                &lt;/Box&gt;&#10;            &lt;/Box&gt;&#10;        &lt;/Box&gt;&#10;        &lt;Box style={{ flexDirection: 'row', gap: 14 }}&gt;&#10;            &lt;Box style={{ padding: '9px 16px', background: '#E8EFF8', borderRadius: 4 }}&gt;&#10;                &lt;Text style={{ fontSize: 16, color: '#1E4FA8' }}&gt;NEXT　神经外部力矩估计&lt;/Text&gt;&#10;            &lt;/Box&gt;&#10;            &lt;Box style={{ padding: '9px 16px', background: '#E8EFF8', borderRadius: 4 }}&gt;&#10;                &lt;Text style={{ fontSize: 16, color: '#1E4FA8' }}&gt;FIRST　力信息驱动重采样&lt;/Text&gt;&#10;            &lt;/Box&gt;&#10;            &lt;Box style={{ padding: '9px 16px', background: '#E8EFF8', borderRadius: 4 }}&gt;&#10;                &lt;Text style={{ fontSize: 16, color: '#1E4FA8' }}&gt;PiPER　标准版复现路线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论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文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解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析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复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现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评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spc="225">
                <a:solidFill>
                  <a:srgbClr val="3D7BD9"/>
                </a:solidFill>
                <a:latin typeface="Microsoft YaHei"/>
                <a:ea typeface="Microsoft YaHei"/>
              </a:rPr>
              <a:t>估</a:t>
            </a:r>
            <a:r>
              <a:rPr lang="en-US" sz="1200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152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200" b="1">
                <a:solidFill>
                  <a:srgbClr val="0E3F8C"/>
                </a:solidFill>
                <a:latin typeface="Microsoft YaHei"/>
                <a:ea typeface="Microsoft YaHei"/>
              </a:rPr>
              <a:t>FACTR 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让商品级机械臂学会感知外力，并让策略学得更好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Learning External Force Sensing for Commodity Robot Arms Improves Policy Learning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4194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arXiv:2606.12406v2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　·　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Carnegie Mellon University × Waseda University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3895725"/>
            <a:ext cx="10972800" cy="981075"/>
          </a:xfrm>
          <a:custGeom>
            <a:pathLst>
              <a:path w="1152" h="103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2333625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0.547 N·m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6958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Franka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接触段平均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误差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476625" y="4095750"/>
            <a:ext cx="2333625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0.018 N·m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476625" y="4695825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自由空间平均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误差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343650" y="4095750"/>
            <a:ext cx="1714500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D9534F"/>
                </a:solidFill>
                <a:latin typeface="Microsoft YaHei"/>
                <a:ea typeface="Microsoft YaHei"/>
              </a:rPr>
              <a:t>≥ 17%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343650" y="46958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五任务进度相对力感知基线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09600" y="56578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62000" y="5743575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NEXT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　神经外部力矩估计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819400" y="5657850"/>
            <a:ext cx="2085975" cy="36195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971800" y="5743575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FIRST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　力信息驱动重采样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038725" y="5657850"/>
            <a:ext cx="1943100" cy="361950"/>
          </a:xfrm>
          <a:prstGeom prst="roundRect">
            <a:avLst>
              <a:gd name="adj" fmla="val 1052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191125" y="574357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PiPER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　标准版复现路线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0" y="0"/>
            <a:ext cx="95250" cy="6019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0" y="617220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D8F0"/>
                </a:solidFill>
                <a:latin typeface="Microsoft YaHei"/>
                <a:ea typeface="Microsoft YaHei"/>
              </a:rPr>
              <a:t>S. Oh, J. J. Liu, T. Tao, P. Han, K. Shaw, S. Funabashi, R. Salakhutdinov, D. Pathak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353675" y="64293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汇报材料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共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5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2 / 19&lt;/Text&gt;&#10;    &lt;/Box&gt;&#10;    &lt;Box style={{ padding: '96px 64px 32px 64px', flexDirection: 'column', height: 720 }}&gt;&#10;        &lt;Text style={{ fontSize: 36, fontWeight: 'bold', color: '#0E3F8C', lineHeight: 1.25 }}&gt;三个数字，三种口径&lt;/Text&gt;&#10;        &lt;Text style={{ fontSize: 19, color: '#4A5568', marginTop: 10, lineHeight: 1.5 }}&gt;这三个数经常被并排引用，但它们量的根本不是一回事，混着讲就会自相矛盾。&lt;/Text&gt;&#10;        &lt;Box style={{ flexDirection: 'row', gap: 20, marginTop: 28, flex: 1 }}&gt;&#10;            &lt;Box style={{ flex: 1, background: '#F7F9FC', border: '1px solid #D6DCE5', borderRadius: 6, padding: 26, flexDirection: 'column', gap: 10 }}&gt;&#10;                &lt;Text style={{ fontSize: 16, color: '#3D7BD9', letterSpacing: 1 }}&gt;01　估计得准不准&lt;/Text&gt;&#10;                &lt;Text style={{ fontSize: 54, fontWeight: 'bold', color: '#1E4FA8', lineHeight: 1.1 }}&gt;0.547 N·m&lt;/Text&gt;&#10;                &lt;Text style={{ fontSize: 17, color: '#1A2230', lineHeight: 1.55 }}&gt;Franka 接触段的平均 L1 关节力矩误差，真值取自带外力矩估计。&lt;/Text&gt;&#10;                &lt;Text style={{ fontSize: 15, color: '#4A5568', lineHeight: 1.55 }}&gt;同表对照：扰动观测器 1.471、FILIC 4.395。这是&quot;和传感器比&quot;的数。&lt;/Text&gt;&#10;            &lt;/Box&gt;&#10;            &lt;Box style={{ flex: 1, background: '#F7F9FC', border: '1px solid #D6DCE5', borderRadius: 6, padding: 26, flexDirection: 'column', gap: 10 }}&gt;&#10;                &lt;Text style={{ fontSize: 16, color: '#3D7BD9', letterSpacing: 1 }}&gt;02　空载贴不贴零&lt;/Text&gt;&#10;                &lt;Text style={{ fontSize: 54, fontWeight: 'bold', color: '#1E4FA8', lineHeight: 1.1 }}&gt;0.018 N·m&lt;/Text&gt;&#10;                &lt;Text style={{ fontSize: 17, color: '#1A2230', lineHeight: 1.55 }}&gt;PiPER 自由空间的平均 L1 误差，真值按 0 计，不是和传感器比。&lt;/Text&gt;&#10;                &lt;Text style={{ fontSize: 15, color: '#4A5568', lineHeight: 1.55 }}&gt;同表对照：FILIC 0.435、扰动观测器 0.248。它只说明&quot;没人碰时不乱报&quot;。&lt;/Text&gt;&#10;            &lt;/Box&gt;&#10;            &lt;Box style={{ flex: 1, background: '#F0F5FC', border: '1px solid #3D7BD9', borderRadius: 6, padding: 26, flexDirection: 'column', gap: 10 }}&gt;&#10;                &lt;Text style={{ fontSize: 16, color: '#3D7BD9', letterSpacing: 1 }}&gt;03　用起来有没有涨&lt;/Text&gt;&#10;                &lt;Text style={{ fontSize: 54, fontWeight: 'bold', color: '#D9534F', lineHeight: 1.1 }}&gt;≥ 17%&lt;/Text&gt;&#10;                &lt;Text style={{ fontSize: 17, color: '#1A2230', lineHeight: 1.55 }}&gt;五个任务的平均进度相对先前力感知策略的提升，原文用词是 over 17%。&lt;/Text&gt;&#10;                &lt;Text style={{ fontSize: 15, color: '#4A5568', lineHeight: 1.55 }}&gt;它不是相对 Base 的涨幅：Base 44% → FIRST 85% 是从柱状图估读的，口径不同。&lt;/Text&gt;&#10;            &lt;/Box&gt;&#10;        &lt;/Box&gt;&#10;        &lt;Box style={{ flexDirection: 'row', background: '#E8EFF8', borderRadius: 6, padding: '16px 22px', marginTop: 20 }}&gt;&#10;            &lt;Text style={{ fontSize: 18, color: '#0E3F8C', lineHeight: 1.5 }}&gt;三个数回答三个问题：估得准不准、空载贴不贴零、用起来有没有涨。任何一个都不能替另外两个背书。&lt;/Text&gt;&#10;        &lt;/Box&gt;&#10;        &lt;Box style={{ flexDirection: 'row', justifyContent: 'space-between', borderTop: '1px solid #D6DCE5', paddingTop: 10, marginTop: 16 }}&gt;&#10;            &lt;Text style={{ fontSize: 14, color: '#8B97A8' }}&gt;来源：论文 Table 1、Table 5、摘要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三个数字，三种口径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这三个数经常被并排引用，但它们量的根本不是一回事，混着讲就会自相矛盾。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2124075"/>
            <a:ext cx="3533775" cy="3200400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57250" y="2371725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r>
              <a:rPr lang="zh-CN" sz="1200" spc="75">
                <a:solidFill>
                  <a:srgbClr val="3D7BD9"/>
                </a:solidFill>
                <a:latin typeface="Microsoft YaHei"/>
                <a:ea typeface="Microsoft YaHei"/>
              </a:rPr>
              <a:t>　估计得准不准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57250" y="2657475"/>
            <a:ext cx="3038475" cy="6858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0.547 N·m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57250" y="3438525"/>
            <a:ext cx="30384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Franka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接触段的平均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关节力矩误差，真值取自带外力矩估计。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57250" y="4143375"/>
            <a:ext cx="30384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同表对照：扰动观测器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1.471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FILIC 4.395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。这是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和传感器比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的数。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4333875" y="2124075"/>
            <a:ext cx="3524250" cy="3200400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581525" y="2371725"/>
            <a:ext cx="3028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r>
              <a:rPr lang="zh-CN" sz="1200" spc="75">
                <a:solidFill>
                  <a:srgbClr val="3D7BD9"/>
                </a:solidFill>
                <a:latin typeface="Microsoft YaHei"/>
                <a:ea typeface="Microsoft YaHei"/>
              </a:rPr>
              <a:t>　空载贴不贴零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581525" y="2657475"/>
            <a:ext cx="3028950" cy="6858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050" b="1">
                <a:solidFill>
                  <a:srgbClr val="1E4FA8"/>
                </a:solidFill>
                <a:latin typeface="Microsoft YaHei"/>
                <a:ea typeface="Microsoft YaHei"/>
              </a:rPr>
              <a:t>0.018 N·m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581525" y="3438525"/>
            <a:ext cx="3028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自由空间的平均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误差，真值按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计，不是和传感器比。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581525" y="414337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同表对照：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FILIC 0.435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、扰动观测器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0.248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。它只说明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没人碰时不乱报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048625" y="2124075"/>
            <a:ext cx="3533775" cy="3200400"/>
          </a:xfrm>
          <a:prstGeom prst="roundRect">
            <a:avLst>
              <a:gd name="adj" fmla="val 1786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296275" y="2371725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r>
              <a:rPr lang="zh-CN" sz="1200" spc="75">
                <a:solidFill>
                  <a:srgbClr val="3D7BD9"/>
                </a:solidFill>
                <a:latin typeface="Microsoft YaHei"/>
                <a:ea typeface="Microsoft YaHei"/>
              </a:rPr>
              <a:t>　用起来有没有涨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296275" y="2657475"/>
            <a:ext cx="3038475" cy="6858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050" b="1">
                <a:solidFill>
                  <a:srgbClr val="D9534F"/>
                </a:solidFill>
                <a:latin typeface="Microsoft YaHei"/>
                <a:ea typeface="Microsoft YaHei"/>
              </a:rPr>
              <a:t>≥ 17%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296275" y="3438525"/>
            <a:ext cx="30384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五个任务的平均进度相对先前力感知策略的提升，原文用词是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over 17%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296275" y="4143375"/>
            <a:ext cx="30384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它不是相对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Base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的涨幅：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Base 44% → FIRST 85%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是从柱状图估读的，口径不同。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5514975"/>
            <a:ext cx="10972800" cy="619125"/>
          </a:xfrm>
          <a:prstGeom prst="roundRect">
            <a:avLst>
              <a:gd name="adj" fmla="val 923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19150" y="5667375"/>
            <a:ext cx="7886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三个数回答三个问题：估得准不准、空载贴不贴零、用起来有没有涨。任何一个都不能替另外两个背书。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Table 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Table 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、摘要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02 / 19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22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3 / 19&lt;/Text&gt;&#10;    &lt;/Box&gt;&#10;    &lt;Box style={{ padding: '96px 64px 32px 64px', flexDirection: 'column', height: 720 }}&gt;&#10;        &lt;Text style={{ fontSize: 36, fontWeight: 'bold', color: '#0E3F8C', lineHeight: 1.25 }}&gt;力觉很贵，问题从这里开始&lt;/Text&gt;&#10;        &lt;Text style={{ fontSize: 19, color: '#4A5568', marginTop: 10, lineHeight: 1.5 }}&gt;接触富操作离不开力信息，但&quot;有力&quot;和&quot;用得起&quot;是两件完全不同的事。&lt;/Text&gt;&#10;        &lt;Box style={{ flexDirection: 'row', gap: 24, marginTop: 26, flex: 1 }}&gt;&#10;            &lt;Box style={{ width: 400, background: '#F7F9FC', border: '1px solid #D6DCE5', borderRadius: 6, padding: 24, flexDirection: 'column', gap: 14 }}&gt;&#10;                &lt;Text style={{ fontSize: 22, fontWeight: 'bold', color: '#0E3F8C' }}&gt;一次配齐力觉的成本&lt;/Text&gt;&#10;                &lt;Box style={{ flexDirection: 'column', gap: 6, borderBottom: '1px solid #D6DCE5', paddingBottom: 12 }}&gt;&#10;                    &lt;Text style={{ fontSize: 26, fontWeight: 'bold', color: '#1E4FA8' }}&gt;≈ $2,500&lt;/Text&gt;&#10;                    &lt;Text style={{ fontSize: 16, color: '#4A5568' }}&gt;AgileX PiPER 整机&lt;/Text&gt;&#10;                &lt;/Box&gt;&#10;                &lt;Box style={{ flexDirection: 'column', gap: 6, borderBottom: '1px solid #D6DCE5', paddingBottom: 12 }}&gt;&#10;                    &lt;Text style={{ fontSize: 26, fontWeight: 'bold', color: '#4A5568' }}&gt;≈ $30,000&lt;/Text&gt;&#10;                    &lt;Text style={{ fontSize: 16, color: '#4A5568' }}&gt;Franka Research 3 整机&lt;/Text&gt;&#10;                &lt;/Box&gt;&#10;                &lt;Box style={{ flexDirection: 'column', gap: 6 }}&gt;&#10;                    &lt;Text style={{ fontSize: 26, fontWeight: 'bold', color: '#D9534F' }}&gt;另计&lt;/Text&gt;&#10;                    &lt;Text style={{ fontSize: 16, color: '#4A5568' }}&gt;末端六维力传感器，常常接近甚至超过一台 PiPER 的价钱&lt;/Text&gt;&#10;                &lt;/Box&gt;&#10;            &lt;/Box&gt;&#10;            &lt;Box style={{ flex: 1, flexDirection: 'column', gap: 12 }}&gt;&#10;                &lt;Text style={{ fontSize: 22, fontWeight: 'bold', color: '#0E3F8C' }}&gt;传统「无力传感器」路线的四道坎&lt;/Text&gt;&#10;                &lt;Box style={{ flexDirection: 'row', gap: 14, alignItems: 'flex-start' }}&gt;&#10;                    &lt;Box style={{ width: 34, height: 34, background: '#1E4FA8', borderRadius: 4, alignItems: 'center', justifyContent: 'center' }}&gt;&#10;                        &lt;Text style={{ fontSize: 15, fontWeight: 'bold', color: '#FFFFFF' }}&gt;01&lt;/Text&gt;&#10;                    &lt;/Box&gt;&#10;                    &lt;Box style={{ flex: 1, flexDirection: 'column', gap: 2 }}&gt;&#10;                        &lt;Text style={{ fontSize: 18, fontWeight: 'bold', color: '#1A2230' }}&gt;参数要逐台标定&lt;/Text&gt;&#10;                        &lt;Text style={{ fontSize: 16, color: '#4A5568', lineHeight: 1.5 }}&gt;质量、质心、摩擦、惯量，换一台臂就要重标一遍。&lt;/Text&gt;&#10;                    &lt;/Box&gt;&#10;                &lt;/Box&gt;&#10;                &lt;Box style={{ flexDirection: 'row', gap: 14, alignItems: 'flex-start' }}&gt;&#10;                    &lt;Box style={{ width: 34, height: 34, background: '#1E4FA8', borderRadius: 4, alignItems: 'center', justifyContent: 'center' }}&gt;&#10;                        &lt;Text style={{ fontSize: 15, fontWeight: 'bold', color: '#FFFFFF' }}&gt;02&lt;/Text&gt;&#10;                    &lt;/Box&gt;&#10;                    &lt;Box style={{ flex: 1, flexDirection: 'column', gap: 2 }}&gt;&#10;                        &lt;Text style={{ fontSize: 18, fontWeight: 'bold', color: '#1A2230' }}&gt;残差里混着未建模效应&lt;/Text&gt;&#10;                        &lt;Text style={{ fontSize: 16, color: '#4A5568', lineHeight: 1.5 }}&gt;齿隙、滞回、温漂、力矩纹波、死区、饱和，都算不出来。&lt;/Text&gt;&#10;                    &lt;/Box&gt;&#10;                &lt;/Box&gt;&#10;                &lt;Box style={{ flexDirection: 'row', gap: 14, alignItems: 'flex-start' }}&gt;&#10;                    &lt;Box style={{ width: 34, height: 34, background: '#1E4FA8', borderRadius: 4, alignItems: 'center', justifyContent: 'center' }}&gt;&#10;                        &lt;Text style={{ fontSize: 15, fontWeight: 'bold', color: '#FFFFFF' }}&gt;03&lt;/Text&gt;&#10;                    &lt;/Box&gt;&#10;                    &lt;Box style={{ flex: 1, flexDirection: 'column', gap: 2 }}&gt;&#10;                        &lt;Text style={{ fontSize: 18, fontWeight: 'bold', color: '#1A2230' }}&gt;只能判断&quot;有没有撞&quot;&lt;/Text&gt;&#10;                        &lt;Text style={{ fontSize: 16, color: '#4A5568', lineHeight: 1.5 }}&gt;异常检测给不出方向与大小，没法拿去做力反馈控制。&lt;/Text&gt;&#10;                    &lt;/Box&gt;&#10;                &lt;/Box&gt;&#10;                &lt;Box style={{ flexDirection: 'row', gap: 14, alignItems: 'flex-start' }}&gt;&#10;                    &lt;Box style={{ width: 34, height: 34, background: '#1E4FA8', borderRadius: 4, alignItems: 'center', justifyContent: 'center' }}&gt;&#10;                        &lt;Text style={{ fontSize: 15, fontWeight: 'bold', color: '#FFFFFF' }}&gt;04&lt;/Text&gt;&#10;                    &lt;/Box&gt;&#10;                    &lt;Box style={{ flex: 1, flexDirection: 'column', gap: 2 }}&gt;&#10;                        &lt;Text style={{ fontSize: 18, fontWeight: 'bold', color: '#1A2230' }}&gt;监督式方法要接触标注&lt;/Text&gt;&#10;                        &lt;Text style={{ fontSize: 16, color: '#4A5568', lineHeight: 1.5 }}&gt;而高质量的接触数据本身就很贵，还得有人工标注。&lt;/Text&gt;&#10;                    &lt;/Box&gt;&#10;                &lt;/Box&gt;&#10;            &lt;/Box&gt;&#10;        &lt;/Box&gt;&#10;        &lt;Box style={{ flexDirection: 'row', background: '#E8EFF8', borderRadius: 6, padding: '16px 22px', marginTop: 18 }}&gt;&#10;            &lt;Text style={{ fontSize: 18, color: '#0E3F8C', lineHeight: 1.5 }}&gt;FACTR 2 的选择：不建模、不标定、不加传感器——用 10 分钟自由运动数据，学一个&quot;空载本该出多少力&quot;的预测器。&lt;/Text&gt;&#10;        &lt;/Box&gt;&#10;        &lt;Box style={{ flexDirection: 'row', justifyContent: 'space-between', borderTop: '1px solid #D6DCE5', paddingTop: 10, marginTop: 14 }}&gt;&#10;            &lt;Text style={{ fontSize: 14, color: '#8B97A8' }}&gt;来源：论文第 1 节；价格为公开渠道量级，仅用于说明差距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力觉很贵，问题从这里开始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接触富操作离不开力信息，但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有力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用得起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是两件完全不同的事。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2105025"/>
            <a:ext cx="3810000" cy="3257550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8200" y="2333625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一次配齐力觉的成本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838200" y="2724150"/>
            <a:ext cx="3352800" cy="685800"/>
          </a:xfrm>
          <a:custGeom>
            <a:pathLst>
              <a:path w="352" h="72">
                <a:moveTo>
                  <a:pt x="0" y="71"/>
                </a:moveTo>
                <a:lnTo>
                  <a:pt x="352" y="71"/>
                </a:lnTo>
                <a:lnTo>
                  <a:pt x="35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" y="2724150"/>
            <a:ext cx="335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≈ $2,500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" y="308610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AgileX PiPER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整机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838200" y="3533775"/>
            <a:ext cx="3352800" cy="685800"/>
          </a:xfrm>
          <a:custGeom>
            <a:pathLst>
              <a:path w="352" h="72">
                <a:moveTo>
                  <a:pt x="0" y="71"/>
                </a:moveTo>
                <a:lnTo>
                  <a:pt x="352" y="71"/>
                </a:lnTo>
                <a:lnTo>
                  <a:pt x="352" y="72"/>
                </a:lnTo>
                <a:lnTo>
                  <a:pt x="0" y="7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38200" y="3533775"/>
            <a:ext cx="335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4A5568"/>
                </a:solidFill>
                <a:latin typeface="Microsoft YaHei"/>
                <a:ea typeface="Microsoft YaHei"/>
              </a:rPr>
              <a:t>≈ $30,000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38200" y="38957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Franka Research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整机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38200" y="4343400"/>
            <a:ext cx="335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D9534F"/>
                </a:solidFill>
                <a:latin typeface="Microsoft YaHei"/>
                <a:ea typeface="Microsoft YaHei"/>
              </a:rPr>
              <a:t>另计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38200" y="4705350"/>
            <a:ext cx="3352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末端六维力传感器，常常接近甚至超过一台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的价钱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648200" y="2105025"/>
            <a:ext cx="693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传统「无力传感器」路线的四道坎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648200" y="24765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724400" y="255270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105400" y="2476500"/>
            <a:ext cx="647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参数要逐台标定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105400" y="2705100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质量、质心、摩擦、惯量，换一台臂就要重标一遍。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648200" y="30956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724400" y="317182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105400" y="3095625"/>
            <a:ext cx="647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残差里混着未建模效应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105400" y="332422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齿隙、滞回、温漂、力矩纹波、死区、饱和，都算不出来。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648200" y="371475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724400" y="37909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105400" y="3714750"/>
            <a:ext cx="647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只能判断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有没有撞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105400" y="3943350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异常检测给不出方向与大小，没法拿去做力反馈控制。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648200" y="43338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724400" y="44100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105400" y="4333875"/>
            <a:ext cx="647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监督式方法要接触标注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105400" y="456247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而高质量的接触数据本身就很贵，还得有人工标注。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5534025"/>
            <a:ext cx="10972800" cy="619125"/>
          </a:xfrm>
          <a:prstGeom prst="roundRect">
            <a:avLst>
              <a:gd name="adj" fmla="val 923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19150" y="5686425"/>
            <a:ext cx="89249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FACTR 2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的选择：不建模、不标定、不加传感器——用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分钟自由运动数据，学一个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空载本该出多少力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的预测器。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3495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节；价格为公开渠道量级，仅用于说明差距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03 / 19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61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4 / 19&lt;/Text&gt;&#10;    &lt;/Box&gt;&#10;    &lt;Box style={{ padding: '96px 64px 32px 64px', flexDirection: 'column', height: 720 }}&gt;&#10;        &lt;Text style={{ fontSize: 36, fontWeight: 'bold', color: '#0E3F8C', lineHeight: 1.25 }}&gt;方法其实只有两句话&lt;/Text&gt;&#10;        &lt;Text style={{ fontSize: 19, color: '#4A5568', marginTop: 10, lineHeight: 1.5 }}&gt;NEXT 把外力矩估出来；FIRST 用这个力矩去改变训练数据的采样分布。两者可以分开用。&lt;/Text&gt;&#10;        &lt;Box style={{ flexDirection: 'row', gap: 32, marginTop: 30, flex: 1 }}&gt;&#10;            &lt;Box style={{ width: 464, flexDirection: 'column', gap: 18 }}&gt;&#10;                &lt;Box style={{ flexDirection: 'column', gap: 4 }}&gt;&#10;                    &lt;Text style={{ fontSize: 20, fontWeight: 'bold', color: '#1E4FA8' }}&gt;01　NEXT：估计，不建模&lt;/Text&gt;&#10;                    &lt;Text style={{ fontSize: 17, color: '#4A5568', lineHeight: 1.55 }}&gt;τ_ext = τ_m − f_θ(x)。网络只学&quot;空载时该出多少力&quot;，减去就剩外力。重力、惯性、摩擦、齿隙一次学掉。&lt;/Text&gt;&#10;                &lt;/Box&gt;&#10;                &lt;Box style={{ flexDirection: 'column', gap: 4 }}&gt;&#10;                    &lt;Text style={{ fontSize: 20, fontWeight: 'bold', color: '#1E4FA8' }}&gt;02　FIRST：用分布改采样&lt;/Text&gt;&#10;                    &lt;Text style={{ fontSize: 17, color: '#4A5568', lineHeight: 1.55 }}&gt;用 τ_ext 把示教切成自由运动 / 接触前 / 接触三段，再把接触前多喂几遍。只动采样器，不动策略结构。&lt;/Text&gt;&#10;                &lt;/Box&gt;&#10;                &lt;Box style={{ flexDirection: 'column', gap: 4 }}&gt;&#10;                    &lt;Text style={{ fontSize: 20, fontWeight: 'bold', color: '#1E4FA8' }}&gt;03　解耦：各自可替换&lt;/Text&gt;&#10;                    &lt;Text style={{ fontSize: 17, color: '#4A5568', lineHeight: 1.55 }}&gt;NEXT 只要 10 分钟无接触数据，不需要力传感器；FIRST 换掉也不影响估计器。复现时可以分段验收。&lt;/Text&gt;&#10;                &lt;/Box&gt;&#10;            &lt;/Box&gt;&#10;            &lt;Box style={{ flex: 1, flexDirection: 'column', gap: 10 }}&gt;&#10;                &lt;Image src=&quot;assets/fig01_overview.jpg&quot; style={{ width: 620, height: 226, objectFit: 'contain' }} /&gt;&#10;                &lt;Text style={{ fontSize: 15, color: '#8B97A8', lineHeight: 1.5 }}&gt;论文图 1：NEXT 从电流换算的力矩里减去&quot;空载预测&quot;，得到外部力矩；FIRST 再用它做相位切分与重采样。&lt;/Text&gt;&#10;            &lt;/Box&gt;&#10;        &lt;/Box&gt;&#10;        &lt;Box style={{ flexDirection: 'row', justifyContent: 'space-between', borderTop: '1px solid #D6DCE5', paddingTop: 10, marginTop: 16 }}&gt;&#10;            &lt;Text style={{ fontSize: 14, color: '#8B97A8' }}&gt;来源：论文图 1、第 4–5 节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方法其实只有两句话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NEXT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把外力矩估出来；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FIRST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用这个力矩去改变训练数据的采样分布。两者可以分开用。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　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NEXT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：估计，不建模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4419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τ_ext = τ_m − f_θ(x)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。网络只学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空载时该出多少力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，减去就剩外力。重力、惯性、摩擦、齿隙一次学掉。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　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FIRST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：用分布改采样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4419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τ_ext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把示教切成自由运动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接触前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接触三段，再把接触前多喂几遍。只动采样器，不动策略结构。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　解耦：各自可替换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4505325"/>
            <a:ext cx="4419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NEXT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只要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分钟无接触数据，不需要力传感器；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FIRST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换掉也不影响估计器。复现时可以分段验收。</a:t>
            </a:r>
            <a:endParaRPr/>
          </a:p>
        </p:txBody>
      </p:sp>
      <p:pic>
        <p:nvPicPr>
          <p:cNvPr id="371" name=""/>
          <p:cNvPicPr>
            <a:picLocks noChangeAspect="1"/>
          </p:cNvPicPr>
          <p:nvPr/>
        </p:nvPicPr>
        <p:blipFill>
          <a:blip r:embed="rId1"/>
          <a:srcRect l="54" t="0" r="54" b="0"/>
          <a:stretch>
            <a:fillRect/>
          </a:stretch>
        </p:blipFill>
        <p:spPr>
          <a:xfrm rot="0" flipH="0" flipV="0">
            <a:off x="5334000" y="2143125"/>
            <a:ext cx="5905500" cy="2152650"/>
          </a:xfrm>
          <a:prstGeom prst="rect">
            <a:avLst/>
          </a:prstGeom>
          <a:ln/>
        </p:spPr>
      </p:pic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334000" y="4391025"/>
            <a:ext cx="6248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论文图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NEXT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从电流换算的力矩里减去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空载预测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，得到外部力矩；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FIRST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再用它做相位切分与重采样。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4–5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04 / 19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79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5 / 19&lt;/Text&gt;&#10;    &lt;/Box&gt;&#10;    &lt;Box style={{ padding: '96px 64px 32px 64px', flexDirection: 'column', height: 720 }}&gt;&#10;        &lt;Text style={{ fontSize: 36, fontWeight: 'bold', color: '#0E3F8C', lineHeight: 1.25 }}&gt;三个公式：减法、记忆、无标签监督&lt;/Text&gt;&#10;        &lt;Text style={{ fontSize: 19, color: '#4A5568', marginTop: 10, lineHeight: 1.5 }}&gt;第二式决定网络看什么，第三式决定参数怎么定，第一式在参数定下来之后做减法。&lt;/Text&gt;&#10;        &lt;Box style={{ flexDirection: 'column', gap: 14, marginTop: 24, flex: 1 }}&gt;&#10;            &lt;Box style={{ flexDirection: 'row', gap: 20, background: '#F7F9FC', border: '1px solid #D6DCE5', borderRadius: 6, padding: '18px 22px', alignItems: 'center' }}&gt;&#10;                &lt;Box style={{ width: 96 }}&gt;&#10;                    &lt;Text style={{ fontSize: 15, color: '#3D7BD9' }}&gt;部署&lt;/Text&gt;&#10;                &lt;/Box&gt;&#10;                &lt;Box style={{ width: 360 }}&gt;&#10;                    &lt;Text style={{ fontSize: 24, fontWeight: 'bold', color: '#0E3F8C' }}&gt;τ_ext = τ_m − f_θ(x)&lt;/Text&gt;&#10;                &lt;/Box&gt;&#10;                &lt;Box style={{ flex: 1 }}&gt;&#10;                    &lt;Text style={{ fontSize: 17, color: '#1A2230', lineHeight: 1.5 }}&gt;实测总力矩减去&quot;空载本该出的力矩&quot;，剩下的是外力。网络看不到 τ_m，否则会直接抄答案。&lt;/Text&gt;&#10;                &lt;/Box&gt;&#10;            &lt;/Box&gt;&#10;            &lt;Box style={{ flexDirection: 'row', gap: 20, background: '#F7F9FC', border: '1px solid #D6DCE5', borderRadius: 6, padding: '18px 22px', alignItems: 'center' }}&gt;&#10;                &lt;Box style={{ width: 96 }}&gt;&#10;                    &lt;Text style={{ fontSize: 15, color: '#3D7BD9' }}&gt;输入&lt;/Text&gt;&#10;                &lt;/Box&gt;&#10;                &lt;Box style={{ width: 360 }}&gt;&#10;                    &lt;Text style={{ fontSize: 24, fontWeight: 'bold', color: '#0E3F8C' }}&gt;x_i = [ q, q̇, Δq_d ] i−H:i&lt;/Text&gt;&#10;                &lt;/Box&gt;&#10;                &lt;Box style={{ flex: 1 }}&gt;&#10;                    &lt;Text style={{ fontSize: 17, color: '#1A2230', lineHeight: 1.5 }}&gt;三个量各取最近 H 帧：位置、速度、指令与实际的差。H=50 在 100 Hz 下约 0.5 秒。&lt;/Text&gt;&#10;                &lt;/Box&gt;&#10;            &lt;/Box&gt;&#10;            &lt;Box style={{ flexDirection: 'row', gap: 20, background: '#F0F5FC', border: '1px solid #3D7BD9', borderRadius: 6, padding: '18px 22px', alignItems: 'center' }}&gt;&#10;                &lt;Box style={{ width: 96 }}&gt;&#10;                    &lt;Text style={{ fontSize: 15, color: '#3D7BD9' }}&gt;训练&lt;/Text&gt;&#10;                &lt;/Box&gt;&#10;                &lt;Box style={{ width: 360 }}&gt;&#10;                    &lt;Text style={{ fontSize: 24, fontWeight: 'bold', color: '#0E3F8C' }}&gt;L(θ) = 1/N Σ ‖f_θ(x_i) − τ_m,i‖²&lt;/Text&gt;&#10;                &lt;/Box&gt;&#10;                &lt;Box style={{ flex: 1 }}&gt;&#10;                    &lt;Text style={{ fontSize: 17, color: '#1A2230', lineHeight: 1.5 }}&gt;平方 L2，六关节求和后对样本平均。标签就是电流换算的 τ_m，因为采集时没人碰。&lt;/Text&gt;&#10;                &lt;/Box&gt;&#10;            &lt;/Box&gt;&#10;        &lt;/Box&gt;&#10;        &lt;Box style={{ flexDirection: 'row', background: '#E8EFF8', borderRadius: 6, padding: '14px 22px', marginTop: 16 }}&gt;&#10;            &lt;Text style={{ fontSize: 17, color: '#0E3F8C', lineHeight: 1.5 }}&gt;关键约束：x 里一旦放进 τ_m，网络的最优解就是原样输出它，损失归零但残差恒为 0。输入只能含本体感知量。&lt;/Text&gt;&#10;        &lt;/Box&gt;&#10;        &lt;Box style={{ flexDirection: 'row', justifyContent: 'space-between', borderTop: '1px solid #D6DCE5', paddingTop: 10, marginTop: 14 }}&gt;&#10;            &lt;Text style={{ fontSize: 14, color: '#8B97A8' }}&gt;来源：论文式 (2)–(4)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三个公式：减法、记忆、无标签监督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第二式决定网络看什么，第三式决定参数怎么定，第一式在参数定下来之后做减法。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09600" y="2085975"/>
            <a:ext cx="10972800" cy="933450"/>
          </a:xfrm>
          <a:prstGeom prst="roundRect">
            <a:avLst>
              <a:gd name="adj" fmla="val 6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19150" y="24669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D7BD9"/>
                </a:solidFill>
                <a:latin typeface="Microsoft YaHei"/>
                <a:ea typeface="Microsoft YaHei"/>
              </a:rPr>
              <a:t>部署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924050" y="241935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τ_ext = τ_m − f_θ(x)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543550" y="2257425"/>
            <a:ext cx="5829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实测总力矩减去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空载本该出的力矩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，剩下的是外力。网络看不到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τ_m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，否则会直接抄答案。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09600" y="3152775"/>
            <a:ext cx="10972800" cy="933450"/>
          </a:xfrm>
          <a:prstGeom prst="roundRect">
            <a:avLst>
              <a:gd name="adj" fmla="val 6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19150" y="35337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D7BD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924050" y="348615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x_i = [ q, q̇, Δq_d ] i−H:i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543550" y="3324225"/>
            <a:ext cx="5829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三个量各取最近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H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帧：位置、速度、指令与实际的差。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H=50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100 Hz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下约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0.5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秒。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09600" y="4219575"/>
            <a:ext cx="10972800" cy="933450"/>
          </a:xfrm>
          <a:prstGeom prst="roundRect">
            <a:avLst>
              <a:gd name="adj" fmla="val 6122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19150" y="46005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D7BD9"/>
                </a:solidFill>
                <a:latin typeface="Microsoft YaHei"/>
                <a:ea typeface="Microsoft YaHei"/>
              </a:rPr>
              <a:t>训练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924050" y="4410075"/>
            <a:ext cx="3429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L(θ) = 1/N Σ ‖f_θ(x_i) − τ_m,i‖²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543550" y="4391025"/>
            <a:ext cx="5829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平方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L2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，六关节求和后对样本平均。标签就是电流换算的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τ_m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，因为采集时没人碰。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5591175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19150" y="5724525"/>
            <a:ext cx="8086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关键约束：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x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里一旦放进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τ_m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，网络的最优解就是原样输出它，损失归零但残差恒为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。输入只能含本体感知量。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来源：论文式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(2)–(4)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05 / 19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3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6 / 19&lt;/Text&gt;&#10;    &lt;/Box&gt;&#10;    &lt;Box style={{ padding: '96px 64px 24px 64px', flexDirection: 'column', height: 720 }}&gt;&#10;        &lt;Text style={{ fontSize: 36, fontWeight: 'bold', color: '#0E3F8C', lineHeight: 1.25 }}&gt;部署链路：一次前向 1.76 毫秒&lt;/Text&gt;&#10;        &lt;Text style={{ fontSize: 19, color: '#4A5568', marginTop: 10, lineHeight: 1.5 }}&gt;电流换算成力矩，减去网络预测的空载力矩，剩下的就是外力矩。整条链路没有任何力传感器。&lt;/Text&gt;&#10;        &lt;Box style={{ flexDirection: 'row', gap: 28, marginTop: 18, flex: 1 }}&gt;&#10;            &lt;Box style={{ flex: 1, flexDirection: 'column', gap: 12 }}&gt;&#10;                &lt;Image src=&quot;assets/fig02_deployment.jpg&quot; style={{ width: 620, height: 178, objectFit: 'contain' }} /&gt;&#10;                &lt;Text style={{ fontSize: 15, color: '#8B97A8', lineHeight: 1.5 }}&gt;论文图 2：τ_m = K·I_m，减去 LSTM 预测的 τ_f，得到 τ_ext。&lt;/Text&gt;&#10;                &lt;Box style={{ flexDirection: 'column', gap: 8, marginTop: 6 }}&gt;&#10;                    &lt;Box style={{ flexDirection: 'row', gap: 12, borderBottom: '1px solid #E5E7EB', paddingBottom: 8 }}&gt;&#10;                        &lt;Text style={{ width: 76, fontSize: 17, fontWeight: 'bold', color: '#1E4FA8' }}&gt;网络&lt;/Text&gt;&#10;                        &lt;Text style={{ flex: 1, fontSize: 17, color: '#1A2230' }}&gt;2 层 LSTM（隐藏 128）+ 2 层 MLP（256），逐帧输入、无跨轨迹隐状态&lt;/Text&gt;&#10;                    &lt;/Box&gt;&#10;                    &lt;Box style={{ flexDirection: 'row', gap: 12, borderBottom: '1px solid #E5E7EB', paddingBottom: 8 }}&gt;&#10;                        &lt;Text style={{ width: 76, fontSize: 17, fontWeight: 'bold', color: '#1E4FA8' }}&gt;输入&lt;/Text&gt;&#10;                        &lt;Text style={{ flex: 1, fontSize: 17, color: '#1A2230' }}&gt;q、q̇、Δq_d，历史 H = 50 帧（100 Hz 下约 0.5 秒）&lt;/Text&gt;&#10;                    &lt;/Box&gt;&#10;                    &lt;Box style={{ flexDirection: 'row', gap: 12, borderBottom: '1px solid #E5E7EB', paddingBottom: 8 }}&gt;&#10;                        &lt;Text style={{ width: 76, fontSize: 17, fontWeight: 'bold', color: '#1E4FA8' }}&gt;数据与训练&lt;/Text&gt;&#10;                        &lt;Text style={{ flex: 1, fontSize: 17, color: '#1A2230' }}&gt;10 分钟自由运动约 6 万帧；RTX 3090 上训练约 1 分钟&lt;/Text&gt;&#10;                    &lt;/Box&gt;&#10;                    &lt;Box style={{ flexDirection: 'row', gap: 12 }}&gt;&#10;                        &lt;Text style={{ width: 76, fontSize: 17, fontWeight: 'bold', color: '#1E4FA8' }}&gt;推理&lt;/Text&gt;&#10;                        &lt;Text style={{ flex: 1, fontSize: 17, color: '#1A2230' }}&gt;单次前向 1.76 ms ≈ 568 Hz，实际按 100 Hz 部署，余量充足&lt;/Text&gt;&#10;                    &lt;/Box&gt;&#10;                &lt;/Box&gt;&#10;            &lt;/Box&gt;&#10;        &lt;/Box&gt;&#10;        &lt;Box style={{ flexDirection: 'row', background: '#E8EFF8', borderRadius: 6, padding: '14px 22px', marginTop: 14 }}&gt;&#10;            &lt;Text style={{ fontSize: 17, color: '#0E3F8C', lineHeight: 1.5 }}&gt;代价很低：10 分钟数据 + 1 分钟训练，就能替换掉&quot;系统辨识 + 负载标定&quot;这一整段工作。&lt;/Text&gt;&#10;        &lt;/Box&gt;&#10;        &lt;Box style={{ flexDirection: 'row', justifyContent: 'space-between', borderTop: '1px solid #D6DCE5', paddingTop: 10, marginTop: 14 }}&gt;&#10;            &lt;Text style={{ fontSize: 14, color: '#8B97A8' }}&gt;来源：论文图 2、附录 A.1 表 3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部署链路：一次前向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1.76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毫秒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电流换算成力矩，减去网络预测的空载力矩，剩下的就是外力矩。整条链路没有任何力传感器。</a:t>
            </a:r>
            <a:endParaRPr/>
          </a:p>
        </p:txBody>
      </p:sp>
      <p:pic>
        <p:nvPicPr>
          <p:cNvPr id="407" name=""/>
          <p:cNvPicPr>
            <a:picLocks noChangeAspect="1"/>
          </p:cNvPicPr>
          <p:nvPr/>
        </p:nvPicPr>
        <p:blipFill>
          <a:blip r:embed="rId1"/>
          <a:srcRect l="6" t="0" r="6" b="0"/>
          <a:stretch>
            <a:fillRect/>
          </a:stretch>
        </p:blipFill>
        <p:spPr>
          <a:xfrm rot="0" flipH="0" flipV="0">
            <a:off x="609600" y="2028825"/>
            <a:ext cx="5905500" cy="169545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3838575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论文图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：τ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_m = K·I_m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，减去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LSTM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预测的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τ_f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，得到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τ_ext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4267200"/>
            <a:ext cx="10972800" cy="295275"/>
          </a:xfrm>
          <a:custGeom>
            <a:pathLst>
              <a:path w="1152" h="31">
                <a:moveTo>
                  <a:pt x="0" y="30"/>
                </a:moveTo>
                <a:lnTo>
                  <a:pt x="1152" y="30"/>
                </a:lnTo>
                <a:lnTo>
                  <a:pt x="115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4267200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网络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447800" y="4267200"/>
            <a:ext cx="1013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LSTM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（隐藏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128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+ 2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MLP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256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），逐帧输入、无跨轨迹隐状态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09600" y="4629150"/>
            <a:ext cx="10972800" cy="295275"/>
          </a:xfrm>
          <a:custGeom>
            <a:pathLst>
              <a:path w="1152" h="31">
                <a:moveTo>
                  <a:pt x="0" y="30"/>
                </a:moveTo>
                <a:lnTo>
                  <a:pt x="1152" y="30"/>
                </a:lnTo>
                <a:lnTo>
                  <a:pt x="115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4629150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447800" y="4629150"/>
            <a:ext cx="1013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q̇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、Δ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q_d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，历史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H = 50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帧（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100 Hz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下约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0.5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4991100"/>
            <a:ext cx="10972800" cy="485775"/>
          </a:xfrm>
          <a:custGeom>
            <a:pathLst>
              <a:path w="1152" h="51">
                <a:moveTo>
                  <a:pt x="0" y="50"/>
                </a:moveTo>
                <a:lnTo>
                  <a:pt x="1152" y="50"/>
                </a:lnTo>
                <a:lnTo>
                  <a:pt x="1152" y="51"/>
                </a:lnTo>
                <a:lnTo>
                  <a:pt x="0" y="5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4991100"/>
            <a:ext cx="7239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数据与训练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447800" y="4991100"/>
            <a:ext cx="10134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分钟自由运动约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万帧；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RTX 3090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上训练约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5543550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推理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447800" y="5543550"/>
            <a:ext cx="1013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单次前向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1.76 ms ≈ 568 Hz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，实际按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100 Hz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部署，余量充足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9600" y="5876925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19150" y="6010275"/>
            <a:ext cx="6467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代价很低：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分钟数据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分钟训练，就能替换掉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系统辨识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负载标定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这一整段工作。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657225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667702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、附录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A.1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0439400" y="66770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06 / 19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28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7 / 19&lt;/Text&gt;&#10;    &lt;/Box&gt;&#10;    &lt;Box style={{ padding: '96px 64px 32px 64px', flexDirection: 'column', height: 720 }}&gt;&#10;        &lt;Text style={{ fontSize: 36, fontWeight: 'bold', color: '#0E3F8C', lineHeight: 1.25 }}&gt;FIRST：把「接触前」多喂几遍&lt;/Text&gt;&#10;        &lt;Text style={{ fontSize: 19, color: '#4A5568', marginTop: 10, lineHeight: 1.5 }}&gt;用力矩把示教切成三段，再按权重重新采样。改的是数据分布，不是损失函数。&lt;/Text&gt;&#10;        &lt;Box style={{ flexDirection: 'row', gap: 30, marginTop: 24, flex: 1 }}&gt;&#10;            &lt;Box style={{ flex: 1, flexDirection: 'column', gap: 14 }}&gt;&#10;                &lt;Box style={{ flexDirection: 'row', gap: 14, alignItems: 'flex-start' }}&gt;&#10;                    &lt;Box style={{ width: 32, height: 32, background: '#1E4FA8', borderRadius: 4, alignItems: 'center', justifyContent: 'center' }}&gt;&#10;                        &lt;Text style={{ fontSize: 14, fontWeight: 'bold', color: '#FFFFFF' }}&gt;1&lt;/Text&gt;&#10;                    &lt;/Box&gt;&#10;                    &lt;Box style={{ flex: 1, flexDirection: 'column', gap: 2 }}&gt;&#10;                        &lt;Text style={{ fontSize: 18, fontWeight: 'bold', color: '#1A2230' }}&gt;逐帧算接触分数&lt;/Text&gt;&#10;                        &lt;Text style={{ fontSize: 16, color: '#4A5568', lineHeight: 1.5 }}&gt;f_t = ‖τ_ext,t‖₁，六关节外力矩取绝对值再求和，一个标量。&lt;/Text&gt;&#10;                    &lt;/Box&gt;&#10;                &lt;/Box&gt;&#10;                &lt;Box style={{ flexDirection: 'row', gap: 14, alignItems: 'flex-start' }}&gt;&#10;                    &lt;Box style={{ width: 32, height: 32, background: '#1E4FA8', borderRadius: 4, alignItems: 'center', justifyContent: 'center' }}&gt;&#10;                        &lt;Text style={{ fontSize: 14, fontWeight: 'bold', color: '#FFFFFF' }}&gt;2&lt;/Text&gt;&#10;                    &lt;/Box&gt;&#10;                    &lt;Box style={{ flex: 1, flexDirection: 'column', gap: 2 }}&gt;&#10;                        &lt;Text style={{ fontSize: 18, fontWeight: 'bold', color: '#1A2230' }}&gt;双阈值滞回判接触&lt;/Text&gt;&#10;                        &lt;Text style={{ fontSize: 16, color: '#4A5568', lineHeight: 1.5 }}&gt;高阈值进入、低阈值退出，避免在阈值附近反复翻转。&lt;/Text&gt;&#10;                    &lt;/Box&gt;&#10;                &lt;/Box&gt;&#10;                &lt;Box style={{ flexDirection: 'row', gap: 14, alignItems: 'flex-start' }}&gt;&#10;                    &lt;Box style={{ width: 32, height: 32, background: '#1E4FA8', borderRadius: 4, alignItems: 'center', justifyContent: 'center' }}&gt;&#10;                        &lt;Text style={{ fontSize: 14, fontWeight: 'bold', color: '#FFFFFF' }}&gt;3&lt;/Text&gt;&#10;                    &lt;/Box&gt;&#10;                    &lt;Box style={{ flex: 1, flexDirection: 'column', gap: 2 }}&gt;&#10;                        &lt;Text style={{ fontSize: 18, fontWeight: 'bold', color: '#1A2230' }}&gt;打三相标签&lt;/Text&gt;&#10;                        &lt;Text style={{ fontSize: 16, color: '#4A5568', lineHeight: 1.5 }}&gt;自由运动 / 接触前（接触起点前 1 秒）/ 接触。&lt;/Text&gt;&#10;                    &lt;/Box&gt;&#10;                &lt;/Box&gt;&#10;                &lt;Box style={{ flexDirection: 'row', gap: 14, alignItems: 'flex-start' }}&gt;&#10;                    &lt;Box style={{ width: 32, height: 32, background: '#1E4FA8', borderRadius: 4, alignItems: 'center', justifyContent: 'center' }}&gt;&#10;                        &lt;Text style={{ fontSize: 14, fontWeight: 'bold', color: '#FFFFFF' }}&gt;4&lt;/Text&gt;&#10;                    &lt;/Box&gt;&#10;                    &lt;Box style={{ flex: 1, flexDirection: 'column', gap: 2 }}&gt;&#10;                        &lt;Text style={{ fontSize: 18, fontWeight: 'bold', color: '#1A2230' }}&gt;按权重重新采样&lt;/Text&gt;&#10;                        &lt;Text style={{ fontSize: 16, color: '#4A5568', lineHeight: 1.5 }}&gt;w_F : w_PC : w_C = 1 : 5 : 1；持续接触任务改 1 : 3 : 3。&lt;/Text&gt;&#10;                    &lt;/Box&gt;&#10;                &lt;/Box&gt;&#10;            &lt;/Box&gt;&#10;            &lt;Box style={{ width: 470, flexDirection: 'column', gap: 8 }}&gt;&#10;                &lt;Image src=&quot;assets/fig10_segmentation.jpg&quot; style={{ width: 470, height: 252, objectFit: 'contain' }} /&gt;&#10;                &lt;Text style={{ fontSize: 15, color: '#8B97A8', lineHeight: 1.5 }}&gt;论文图 10：用 τ_ext 切出的三相标签，横轴为时间，三段颜色对应自由运动、接触前与接触。&lt;/Text&gt;&#10;            &lt;/Box&gt;&#10;        &lt;/Box&gt;&#10;        &lt;Box style={{ flexDirection: 'row', background: '#E8EFF8', borderRadius: 6, padding: '14px 22px', marginTop: 14 }}&gt;&#10;            &lt;Text style={{ fontSize: 17, color: '#0E3F8C', lineHeight: 1.5 }}&gt;策略只多一路输入（τ_ext），训练循环里只改采样器。这也是它容易复现的原因。&lt;/Text&gt;&#10;        &lt;/Box&gt;&#10;        &lt;Box style={{ flexDirection: 'row', justifyContent: 'space-between', borderTop: '1px solid #D6DCE5', paddingTop: 10, marginTop: 12 }}&gt;&#10;            &lt;Text style={{ fontSize: 14, color: '#8B97A8' }}&gt;来源：论文第 5 节、图 10、附录 D.3 表 8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FIRST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：把「接触前」多喂几遍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用力矩把示教切成三段，再按权重重新采样。改的是数据分布，不是损失函数。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208597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23900" y="21621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47750" y="2085975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逐帧算接触分数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047750" y="2314575"/>
            <a:ext cx="57721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f_t = ‖τ_ext,t‖₁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，六关节外力矩取绝对值再求和，一个标量。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2724150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23900" y="28003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47750" y="2724150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双阈值滞回判接触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047750" y="2952750"/>
            <a:ext cx="57721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高阈值进入、低阈值退出，避免在阈值附近反复翻转。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09600" y="336232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23900" y="34385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047750" y="3362325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打三相标签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047750" y="3590925"/>
            <a:ext cx="57721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自由运动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接触前（接触起点前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秒）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接触。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4000500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23900" y="40767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47750" y="4000500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按权重重新采样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047750" y="4229100"/>
            <a:ext cx="57721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w_F : w_PC : w_C = 1 : 5 : 1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；持续接触任务改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 : 3 : 3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448" name=""/>
          <p:cNvPicPr>
            <a:picLocks noChangeAspect="1"/>
          </p:cNvPicPr>
          <p:nvPr/>
        </p:nvPicPr>
        <p:blipFill>
          <a:blip r:embed="rId1"/>
          <a:srcRect l="0" t="27" r="0" b="27"/>
          <a:stretch>
            <a:fillRect/>
          </a:stretch>
        </p:blipFill>
        <p:spPr>
          <a:xfrm rot="0" flipH="0" flipV="0">
            <a:off x="7105650" y="2085975"/>
            <a:ext cx="4476750" cy="2400300"/>
          </a:xfrm>
          <a:prstGeom prst="rect">
            <a:avLst/>
          </a:prstGeom>
          <a:ln/>
        </p:spPr>
      </p:pic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105650" y="4562475"/>
            <a:ext cx="4476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论文图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10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：用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τ_ext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切出的三相标签，横轴为时间，三段颜色对应自由运动、接触前与接触。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5610225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19150" y="5743575"/>
            <a:ext cx="5905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策略只多一路输入（τ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_ext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），训练循环里只改采样器。这也是它容易复现的原因。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节、图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、附录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D.3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8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07 / 19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58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8 / 19&lt;/Text&gt;&#10;    &lt;/Box&gt;&#10;    &lt;Box style={{ padding: '96px 64px 32px 64px', flexDirection: 'column', height: 720 }}&gt;&#10;        &lt;Text style={{ fontSize: 36, fontWeight: 'bold', color: '#0E3F8C', lineHeight: 1.25 }}&gt;两套真值，三种误差&lt;/Text&gt;&#10;        &lt;Text style={{ fontSize: 19, color: '#4A5568', marginTop: 10, lineHeight: 1.5 }}&gt;有传感器的机器人和没传感器的机器人，能报的指标根本不是同一个，不能混着引用。&lt;/Text&gt;&#10;        &lt;Box style={{ flexDirection: 'row', gap: 26, marginTop: 22, flex: 1 }}&gt;&#10;            &lt;Box style={{ width: 720 }}&gt;&#10;                &lt;Table&#10;                    style={{ width: 720, height: 430 }}&#10;                    defaultTextStyle={{ fontSize: 16, textAlign: 'center', color: '#1A2230' }}&#10;                    defaultCellStyle={{ border: { left: { width: 1, color: '#E5E7EB' }, right: { width: 1, color: '#E5E7EB' }, top: { width: 1, color: '#E5E7EB' }, bottom: { width: 1, color: '#E5E7EB' } } }}&#10;                    cells={[&#10;                        [&#10;                            { text: '运动状态', textStyle: { bold: true, color: '#FFFFFF' }, cellStyle: { background: { color: '#0E3F8C' } } },&#10;                            { text: '真值来源', textStyle: { bold: true, color: '#FFFFFF' }, cellStyle: { background: { color: '#0E3F8C' } } },&#10;                            { text: '方法', textStyle: { bold: true, color: '#FFFFFF' }, cellStyle: { background: { color: '#0E3F8C' } } },&#10;                            { text: '平均 L1 误差 (N·m)', textStyle: { bold: true, color: '#FFFFFF' }, cellStyle: { background: { color: '#0E3F8C' } } },&#10;                        ],&#10;                        [&#10;                            { text: 'Franka · 接触段', textStyle: { bold: true }, cellStyle: { background: { color: '#F7F9FC' } } },&#10;                            { text: '外力矩估计', cellStyle: { background: { color: '#F7F9FC' } } },&#10;                            { text: 'FILIC', cellStyle: { background: { color: '#F7F9FC' } } },&#10;                            { text: '4.395 ± 1.531', cellStyle: { background: { color: '#F7F9FC' } } },&#10;                        ],&#10;                        ['', '', '扰动观测器', '1.471 ± 0.761'],&#10;                        [&#10;                            { text: '', cellStyle: { background: { color: '#E8EFF8' } } },&#10;                            { text: '', cellStyle: { background: { color: '#E8EFF8' } } },&#10;                            { text: 'NEXT', textStyle: { bold: true, color: '#1E4FA8' }, cellStyle: { background: { color: '#E8EFF8' } } },&#10;                            { text: '0.547 ± 0.348', textStyle: { bold: true, color: '#1E4FA8' }, cellStyle: { background: { color: '#E8EFF8' } } },&#10;                        ],&#10;                        [&#10;                            { text: 'Franka · 自由空间', textStyle: { bold: true }, cellStyle: { background: { color: '#F7F9FC' } } },&#10;                            { text: '恒为 0', cellStyle: { background: { color: '#F7F9FC' } } },&#10;                            { text: 'FILIC', cellStyle: { background: { color: '#F7F9FC' } } },&#10;                            { text: '2.460 ± 1.358', cellStyle: { background: { color: '#F7F9FC' } } },&#10;                        ],&#10;                        ['', '', '扰动观测器', '2.429 ± 1.298'],&#10;                        ['', '', '外力传感器', '0.449 ± 0.208'],&#10;                        [&#10;                            { text: '', cellStyle: { background: { color: '#E8EFF8' } } },&#10;                            { text: '', cellStyle: { background: { color: '#E8EFF8' } } },&#10;                            { text: 'NEXT', textStyle: { bold: true, color: '#1E4FA8' }, cellStyle: { background: { color: '#E8EFF8' } } },&#10;                            { text: '0.414 ± 0.278', textStyle: { bold: true, color: '#1E4FA8' }, cellStyle: { background: { color: '#E8EFF8' } } },&#10;                        ],&#10;                        [&#10;                            { text: 'PiPER · 自由空间', textStyle: { bold: true }, cellStyle: { background: { color: '#F7F9FC' } } },&#10;                            { text: '恒为 0', cellStyle: { background: { color: '#F7F9FC' } } },&#10;                            { text: 'FILIC', cellStyle: { background: { color: '#F7F9FC' } } },&#10;                            { text: '0.435 ± 0.225', cellStyle: { background: { color: '#F7F9FC' } } },&#10;                        ],&#10;                        ['', '', '扰动观测器', '0.248 ± 0.132'],&#10;                        [&#10;                            { text: '', cellStyle: { background: { color: '#E8EFF8' } } },&#10;                            { text: '', cellStyle: { background: { color: '#E8EFF8' } } },&#10;                            { text: 'NEXT', textStyle: { bold: true, color: '#1E4FA8' }, cellStyle: { background: { color: '#E8EFF8' } } },&#10;                            { text: '0.018 ± 0.012', textStyle: { bold: true, color: '#1E4FA8' }, cellStyle: { background: { color: '#E8EFF8' } } },&#10;                        ],&#10;                    ]}&#10;                /&gt;&#10;            &lt;/Box&gt;&#10;            &lt;Box style={{ flex: 1, flexDirection: 'column', gap: 16, paddingTop: 4 }}&gt;&#10;                &lt;Text style={{ fontSize: 20, fontWeight: 'bold', color: '#0E3F8C' }}&gt;怎么读这张表&lt;/Text&gt;&#10;                &lt;Box style={{ flexDirection: 'column', gap: 4 }}&gt;&#10;                    &lt;Text style={{ fontSize: 17, fontWeight: 'bold', color: '#1E4FA8' }}&gt;接触段看绝对值&lt;/Text&gt;&#10;                    &lt;Text style={{ fontSize: 16, color: '#4A5568', lineHeight: 1.55 }}&gt;0.547 比扰动观测器低 62.8%，比 FILIC 低 87.6%。这是唯一有&quot;真外力&quot;可比的一栏。&lt;/Text&gt;&#10;                &lt;/Box&gt;&#10;                &lt;Box style={{ flexDirection: 'column', gap: 4 }}&gt;&#10;                    &lt;Text style={{ fontSize: 17, fontWeight: 'bold', color: '#1E4FA8' }}&gt;自由空间看贴零&lt;/Text&gt;&#10;                    &lt;Text style={{ fontSize: 16, color: '#4A5568', lineHeight: 1.55 }}&gt;0.414 甚至低于 Franka 自带传感器（0.449），说明网络学到的硬件特性比传感器噪声还稳。&lt;/Text&gt;&#10;                &lt;/Box&gt;&#10;                &lt;Box style={{ flexDirection: 'column', gap: 4 }}&gt;&#10;                    &lt;Text style={{ fontSize: 17, fontWeight: 'bold', color: '#D9534F' }}&gt;PiPER 那一栏要打折扣&lt;/Text&gt;&#10;                    &lt;Text style={{ fontSize: 16, color: '#4A5568', lineHeight: 1.55 }}&gt;没有力传感器就没有接触段真值。0.018 只证明&quot;没人碰时不乱报&quot;，不能当作接触精度来宣传。&lt;/Text&gt;&#10;                &lt;/Box&gt;&#10;            &lt;/Box&gt;&#10;        &lt;/Box&gt;&#10;        &lt;Box style={{ flexDirection: 'row', justifyContent: 'space-between', borderTop: '1px solid #D6DCE5', paddingTop: 10, marginTop: 8 }}&gt;&#10;            &lt;Text style={{ fontSize: 14, color: '#8B97A8' }}&gt;来源：论文 Table 1（Franka）、Table 5（PiPER）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两套真值，三种误差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有传感器的机器人和没传感器的机器人，能报的指标根本不是同一个，不能混着引用。</a:t>
            </a:r>
            <a:endParaRPr/>
          </a:p>
        </p:txBody>
      </p:sp>
      <p:graphicFrame>
        <p:nvGraphicFramePr>
          <p:cNvPr id="462" name=""/>
          <p:cNvGraphicFramePr/>
          <p:nvPr/>
        </p:nvGraphicFramePr>
        <p:xfrm rot="0" flipH="0" flipV="0">
          <a:off x="609600" y="2066925"/>
          <a:ext cx="6858000" cy="4095750"/>
        </p:xfrm>
        <a:graphic>
          <a:graphicData uri="http://schemas.openxmlformats.org/drawingml/2006/table">
            <a:tbl>
              <a:tblGrid>
                <a:gridCol w="2068558">
                  <a:extLst>
                    <a:ext uri="{9D8B030D-6E8A-4147-A177-3AD203B41FA5}">
                      <a16:colId val="1"/>
                    </a:ext>
                  </a:extLst>
                </a:gridCol>
                <a:gridCol w="1281762">
                  <a:extLst>
                    <a:ext uri="{9D8B030D-6E8A-4147-A177-3AD203B41FA5}">
                      <a16:colId val="2"/>
                    </a:ext>
                  </a:extLst>
                </a:gridCol>
                <a:gridCol w="1281762">
                  <a:extLst>
                    <a:ext uri="{9D8B030D-6E8A-4147-A177-3AD203B41FA5}">
                      <a16:colId val="3"/>
                    </a:ext>
                  </a:extLst>
                </a:gridCol>
                <a:gridCol w="2225917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运动状态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真值来源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平均 L1 误差 (N·m)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Franka · 接触段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外力矩估计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FILIC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4.395 ± 1.531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扰动观测器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1.471 ± 0.761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NEXT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0.547 ± 0.348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Franka · 自由空间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恒为 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FILIC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2.460 ± 1.358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扰动观测器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2.429 ± 1.298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外力传感器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0.449 ± 0.208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NEXT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0.414 ± 0.278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PiPER · 自由空间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恒为 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FILIC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0.435 ± 0.225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扰动观测器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0.248 ± 0.132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7234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NEXT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0.018 ± 0.012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715250" y="2105025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怎么读这张表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715250" y="248602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接触段看绝对值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715250" y="2724150"/>
            <a:ext cx="3867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0.547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比扰动观测器低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62.8%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，比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FILIC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87.6%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。这是唯一有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真外力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可比的一栏。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715250" y="3448050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自由空间看贴零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715250" y="3686175"/>
            <a:ext cx="3867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0.414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甚至低于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Franka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自带传感器（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0.449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），说明网络学到的硬件特性比传感器噪声还稳。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715250" y="441007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那一栏要打折扣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715250" y="4648200"/>
            <a:ext cx="3867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没有力传感器就没有接触段真值。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0.018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只证明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没人碰时不乱报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，不能当作接触精度来宣传。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Table 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Franka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Table 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PiPER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08 / 19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6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09 / 19&lt;/Text&gt;&#10;    &lt;/Box&gt;&#10;    &lt;Box style={{ padding: '96px 64px 32px 64px', flexDirection: 'column', height: 720 }}&gt;&#10;        &lt;Text style={{ fontSize: 36, fontWeight: 'bold', color: '#0E3F8C', lineHeight: 1.25 }}&gt;没有力传感器，也有「手感」&lt;/Text&gt;&#10;        &lt;Text style={{ fontSize: 19, color: '#4A5568', marginTop: 10, lineHeight: 1.5 }}&gt;20 名被试、5 种反馈条件、1–5 分易用性评分；PiPER 上重复了同样的对照。&lt;/Text&gt;&#10;        &lt;Box style={{ flexDirection: 'row', gap: 30, marginTop: 24, flex: 1 }}&gt;&#10;            &lt;Box style={{ width: 470, flexDirection: 'column', gap: 8 }}&gt;&#10;                &lt;Image src=&quot;assets/fig09_user_study_piper.jpg&quot; style={{ width: 470, height: 330, objectFit: 'contain' }} /&gt;&#10;                &lt;Text style={{ fontSize: 15, color: '#8B97A8', lineHeight: 1.5 }}&gt;论文图 9：PiPER 上的力反馈遥操作用户研究结果。&lt;/Text&gt;&#10;            &lt;/Box&gt;&#10;            &lt;Box style={{ flex: 1, flexDirection: 'column', gap: 12 }}&gt;&#10;                &lt;Box style={{ flexDirection: 'column', gap: 4 }}&gt;&#10;                    &lt;Text style={{ fontSize: 18, fontWeight: 'bold', color: '#1E4FA8' }}&gt;力反馈怎么加进去&lt;/Text&gt;&#10;                    &lt;Text style={{ fontSize: 16, color: '#4A5568', lineHeight: 1.55 }}&gt;τ_feedback = K_f,p · τ_ext，把估计出的关节力矩按增益反馈到主臂上。&lt;/Text&gt;&#10;                &lt;/Box&gt;&#10;                &lt;Box style={{ flexDirection: 'column', gap: 4 }}&gt;&#10;                    &lt;Text style={{ fontSize: 18, fontWeight: 'bold', color: '#1E4FA8' }}&gt;五种条件&lt;/Text&gt;&#10;                    &lt;Text style={{ fontSize: 16, color: '#4A5568', lineHeight: 1.55 }}&gt;无力反馈 / 扰动观测器 / 位置-位置 / FACTR Teleop（真传感器）/ FACTR 2（NEXT）。&lt;/Text&gt;&#10;                &lt;/Box&gt;&#10;                &lt;Box style={{ flexDirection: 'column', gap: 4 }}&gt;&#10;                    &lt;Text style={{ fontSize: 18, fontWeight: 'bold', color: '#1E4FA8' }}&gt;结论&lt;/Text&gt;&#10;                    &lt;Text style={{ fontSize: 16, color: '#4A5568', lineHeight: 1.55 }}&gt;NEXT 的易用性评分接近&quot;带真传感器&quot;的方案，明显好于无力反馈；完成同样任务所需施加的力更小。&lt;/Text&gt;&#10;                &lt;/Box&gt;&#10;                &lt;Box style={{ flexDirection: 'column', gap: 4 }}&gt;&#10;                    &lt;Text style={{ fontSize: 18, fontWeight: 'bold', color: '#1E4FA8' }}&gt;PiPER 上的意义&lt;/Text&gt;&#10;                    &lt;Text style={{ fontSize: 16, color: '#4A5568', lineHeight: 1.55 }}&gt;这台机器买不到关节力矩传感器，所以这是&quot;能不能做力反馈&quot;本身的门槛，不是精度之争。&lt;/Text&gt;&#10;                &lt;/Box&gt;&#10;            &lt;/Box&gt;&#10;        &lt;/Box&gt;&#10;        &lt;Box style={{ flexDirection: 'row', background: '#E8EFF8', borderRadius: 6, padding: '14px 22px', marginTop: 14 }}&gt;&#10;            &lt;Text style={{ fontSize: 17, color: '#0E3F8C', lineHeight: 1.5 }}&gt;收益来自信号质量，而不是传感器是否存在——这是整篇论文最想证明的一句话。&lt;/Text&gt;&#10;        &lt;/Box&gt;&#10;        &lt;Box style={{ flexDirection: 'row', justifyContent: 'space-between', borderTop: '1px solid #D6DCE5', paddingTop: 10, marginTop: 12 }}&gt;&#10;            &lt;Text style={{ fontSize: 14, color: '#8B97A8' }}&gt;来源：论文图 4、图 9、第 7 节用户研究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没有力传感器，也有「手感」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名被试、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种反馈条件、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1–5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分易用性评分；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上重复了同样的对照。</a:t>
            </a:r>
            <a:endParaRPr/>
          </a:p>
        </p:txBody>
      </p:sp>
      <p:pic>
        <p:nvPicPr>
          <p:cNvPr id="480" name=""/>
          <p:cNvPicPr>
            <a:picLocks noChangeAspect="1"/>
          </p:cNvPicPr>
          <p:nvPr/>
        </p:nvPicPr>
        <p:blipFill>
          <a:blip r:embed="rId1"/>
          <a:srcRect l="17" t="0" r="17" b="0"/>
          <a:stretch>
            <a:fillRect/>
          </a:stretch>
        </p:blipFill>
        <p:spPr>
          <a:xfrm rot="0" flipH="0" flipV="0">
            <a:off x="609600" y="2085975"/>
            <a:ext cx="4476750" cy="3143250"/>
          </a:xfrm>
          <a:prstGeom prst="rect">
            <a:avLst/>
          </a:prstGeom>
          <a:ln/>
        </p:spPr>
      </p:pic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530542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论文图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9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上的力反馈遥操作用户研究结果。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372100" y="2085975"/>
            <a:ext cx="621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力反馈怎么加进去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372100" y="2333625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τ_feedback = K_f,p · τ_ext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，把估计出的关节力矩按增益反馈到主臂上。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372100" y="2733675"/>
            <a:ext cx="621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五种条件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372100" y="2981325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无力反馈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扰动观测器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位置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位置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FACTR Teleop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（真传感器）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 FACTR 2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NEXT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372100" y="3381375"/>
            <a:ext cx="621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372100" y="3629025"/>
            <a:ext cx="6210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NEXT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的易用性评分接近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带真传感器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的方案，明显好于无力反馈；完成同样任务所需施加的力更小。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372100" y="4314825"/>
            <a:ext cx="621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上的意义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372100" y="4562475"/>
            <a:ext cx="62103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这台机器买不到关节力矩传感器，所以这是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能不能做力反馈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本身的门槛，不是精度之争。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5695950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19150" y="5829300"/>
            <a:ext cx="58578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收益来自信号质量，而不是传感器是否存在——这是整篇论文最想证明的一句话。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6372225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64770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9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节用户研究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0439400" y="64770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09 / 19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5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0 / 19&lt;/Text&gt;&#10;    &lt;/Box&gt;&#10;    &lt;Box style={{ padding: '96px 64px 32px 64px', flexDirection: 'column', height: 720 }}&gt;&#10;        &lt;Text style={{ fontSize: 36, fontWeight: 'bold', color: '#0E3F8C', lineHeight: 1.25 }}&gt;五个接触密集任务，FIRST 全面领先&lt;/Text&gt;&#10;        &lt;Text style={{ fontSize: 19, color: '#4A5568', marginTop: 10, lineHeight: 1.5 }}&gt;250 条示教、双臂 PiPER、4 路 RGB、每策略 20 次 rollout；纵轴是任务进度，不是成功率。&lt;/Text&gt;&#10;        &lt;Box style={{ flexDirection: 'column', gap: 8, marginTop: 22 }}&gt;&#10;            &lt;Image src=&quot;assets/fig06_task_progress.jpg&quot; style={{ width: 1000, height: 245, objectFit: 'contain' }} /&gt;&#10;            &lt;Text style={{ fontSize: 15, color: '#8B97A8' }}&gt;论文图 6：五个任务的任务进度对比，紫色为 FIRST。五个任务：LEGO 装配、NIST 传送带、NIST 插装、工具清理、拧瓶盖。&lt;/Text&gt;&#10;        &lt;/Box&gt;&#10;        &lt;Box style={{ flexDirection: 'row', gap: 18, marginTop: 22, flex: 1 }}&gt;&#10;            &lt;Box style={{ flex: 1, background: '#F7F9FC', border: '1px solid #D6DCE5', borderRadius: 6, padding: 18 }}&gt;&#10;                &lt;Text style={{ fontSize: 17, fontWeight: 'bold', color: '#1E4FA8', marginBottom: 6 }}&gt;长时序任务收益最大&lt;/Text&gt;&#10;                &lt;Text style={{ fontSize: 15, color: '#4A5568', lineHeight: 1.55 }}&gt;NIST 传送带这类多阶段任务，需要在自由、接触前、接触之间反复切换，FIRST 的优势最明显。&lt;/Text&gt;&#10;            &lt;/Box&gt;&#10;            &lt;Box style={{ flex: 1, background: '#F7F9FC', border: '1px solid #D6DCE5', borderRadius: 6, padding: 18 }}&gt;&#10;                &lt;Text style={{ fontSize: 17, fontWeight: 'bold', color: '#1E4FA8', marginBottom: 6 }}&gt;柱高是估读，不是表值&lt;/Text&gt;&#10;                &lt;Text style={{ fontSize: 15, color: '#4A5568', lineHeight: 1.55 }}&gt;论文没有给逐任务数字表。44% → 85% 这类说法来自柱高估读，精度只到 5 个百分点量级。&lt;/Text&gt;&#10;            &lt;/Box&gt;&#10;            &lt;Box style={{ flex: 1, background: '#F7F9FC', border: '1px solid #D6DCE5', borderRadius: 6, padding: 18 }}&gt;&#10;                &lt;Text style={{ fontSize: 17, fontWeight: 'bold', color: '#1E4FA8', marginBottom: 6 }}&gt;进度是人工划段的&lt;/Text&gt;&#10;                &lt;Text style={{ fontSize: 15, color: '#4A5568', lineHeight: 1.55 }}&gt;每个任务的进度由人工定义阶段并打分，跨任务、跨标注人都不完全可比。&lt;/Text&gt;&#10;            &lt;/Box&gt;&#10;        &lt;/Box&gt;&#10;        &lt;Box style={{ flexDirection: 'row', justifyContent: 'space-between', borderTop: '1px solid #D6DCE5', paddingTop: 10, marginTop: 8 }}&gt;&#10;            &lt;Text style={{ fontSize: 14, color: '#8B97A8' }}&gt;来源：论文图 6、第 6 节实验设置、附录 C.2 评分标准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五个接触密集任务，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FIRST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全面领先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250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条示教、双臂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PiPER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路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RGB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、每策略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次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rollout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；纵轴是任务进度，不是成功率。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1"/>
          <a:srcRect l="60" t="0" r="60" b="0"/>
          <a:stretch>
            <a:fillRect/>
          </a:stretch>
        </p:blipFill>
        <p:spPr>
          <a:xfrm rot="0" flipH="0" flipV="0">
            <a:off x="609600" y="2066925"/>
            <a:ext cx="9525000" cy="2333625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44767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论文图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6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：五个任务的任务进度对比，紫色为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FIRST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。五个任务：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LEGO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装配、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NIST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传送带、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NIST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插装、工具清理、拧瓶盖。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4857750"/>
            <a:ext cx="3543300" cy="1352550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81050" y="50292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长时序任务收益最大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81050" y="5286375"/>
            <a:ext cx="3200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NIST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传送带这类多阶段任务，需要在自由、接触前、接触之间反复切换，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FIRST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的优势最明显。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324350" y="4857750"/>
            <a:ext cx="3543300" cy="1352550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95800" y="50292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柱高是估读，不是表值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495800" y="5286375"/>
            <a:ext cx="3200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论文没有给逐任务数字表。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44% → 85%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这类说法来自柱高估读，精度只到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个百分点量级。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039100" y="4857750"/>
            <a:ext cx="3543300" cy="1352550"/>
          </a:xfrm>
          <a:prstGeom prst="roundRect">
            <a:avLst>
              <a:gd name="adj" fmla="val 42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210550" y="50292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进度是人工划段的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210550" y="5286375"/>
            <a:ext cx="3200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每个任务的进度由人工定义阶段并打分，跨任务、跨标注人都不完全可比。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3228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节实验设置、附录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C.2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评分标准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10 / 19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6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1 / 19&lt;/Text&gt;&#10;    &lt;/Box&gt;&#10;    &lt;Box style={{ padding: '96px 64px 32px 64px', flexDirection: 'column', height: 720 }}&gt;&#10;        &lt;Text style={{ fontSize: 36, fontWeight: 'bold', color: '#0E3F8C', lineHeight: 1.25 }}&gt;该加权的是接触前，不是接触&lt;/Text&gt;&#10;        &lt;Text style={{ fontSize: 19, color: '#4A5568', marginTop: 10, lineHeight: 1.5 }}&gt;同一个策略、同一批数据，只改「给哪一段加权」，五个任务的结果就分开了。&lt;/Text&gt;&#10;        &lt;Box style={{ flexDirection: 'row', gap: 26, marginTop: 20, flex: 1 }}&gt;&#10;            &lt;Box style={{ width: 690 }}&gt;&#10;                &lt;Table&#10;                    style={{ width: 690, height: 330 }}&#10;                    defaultTextStyle={{ fontSize: 16, textAlign: 'center', color: '#1A2230' }}&#10;                    defaultCellStyle={{ border: { left: { width: 1, color: '#E5E7EB' }, right: { width: 1, color: '#E5E7EB' }, top: { width: 1, color: '#E5E7EB' }, bottom: { width: 1, color: '#E5E7EB' } } }}&#10;                    cells={[&#10;                        [&#10;                            { text: '任务（任务进度）', textStyle: { bold: true, color: '#FFFFFF' }, cellStyle: { background: { color: '#0E3F8C' } } },&#10;                            { text: '只加接触 C', textStyle: { bold: true, color: '#FFFFFF' }, cellStyle: { background: { color: '#0E3F8C' } } },&#10;                            { text: '只加接触前 PC', textStyle: { bold: true, color: '#FFFFFF' }, cellStyle: { background: { color: '#0E3F8C' } } },&#10;                            { text: '两段都加 PC+C', textStyle: { bold: true, color: '#FFFFFF' }, cellStyle: { background: { color: '#0E3F8C' } } },&#10;                        ],&#10;                        ['LEGO 装配', '0.697', { text: '0.913', textStyle: { bold: true, color: '#1E4FA8' } }, '0.875'],&#10;                        ['NIST 传送带', '0.494', { text: '0.767', textStyle: { bold: true, color: '#1E4FA8' } }, '0.649'],&#10;                        ['NIST 插装', '0.800', { text: '0.933', textStyle: { bold: true, color: '#1E4FA8' } }, '0.933'],&#10;                        ['工具清理', '0.650', { text: '0.805', textStyle: { bold: true, color: '#1E4FA8' } }, '0.775'],&#10;                        ['拧瓶盖', '0.707', '0.673', { text: '0.825', textStyle: { bold: true, color: '#D9534F' } }],&#10;                        [&#10;                            { text: '平均', textStyle: { bold: true }, cellStyle: { background: { color: '#E8EFF8' } } },&#10;                            { text: '0.670', textStyle: { bold: true }, cellStyle: { background: { color: '#E8EFF8' } } },&#10;                            { text: '0.818', textStyle: { bold: true, color: '#1E4FA8' }, cellStyle: { background: { color: '#E8EFF8' } } },&#10;                            { text: '0.811', textStyle: { bold: true }, cellStyle: { background: { color: '#E8EFF8' } } },&#10;                        ],&#10;                    ]}&#10;                /&gt;&#10;                &lt;Text style={{ fontSize: 14, color: '#8B97A8', marginTop: 8 }}&gt;论文表 2；C = contact，PC = pre-contact。五个任务的平均值只差 0.7 个百分点。&lt;/Text&gt;&#10;            &lt;/Box&gt;&#10;            &lt;Box style={{ flex: 1, flexDirection: 'column', gap: 14 }}&gt;&#10;                &lt;Box style={{ flexDirection: 'column', gap: 3 }}&gt;&#10;                    &lt;Text style={{ fontSize: 17, fontWeight: 'bold', color: '#D9534F' }}&gt;只加接触，等于没加&lt;/Text&gt;&#10;                    &lt;Text style={{ fontSize: 15, color: '#4A5568', lineHeight: 1.5 }}&gt;0.670。接触已经发生，姿态错了就只能在错的位置上微调。&lt;/Text&gt;&#10;                &lt;/Box&gt;&#10;                &lt;Box style={{ flexDirection: 'column', gap: 3 }}&gt;&#10;                    &lt;Text style={{ fontSize: 17, fontWeight: 'bold', color: '#1E4FA8' }}&gt;只加接触前，4/5 任务最优&lt;/Text&gt;&#10;                    &lt;Text style={{ fontSize: 15, color: '#4A5568', lineHeight: 1.5 }}&gt;0.818。接触前决定&quot;到没到位、对没对准&quot;，这一步错了后面救不回来。&lt;/Text&gt;&#10;                &lt;/Box&gt;&#10;                &lt;Box style={{ flexDirection: 'column', gap: 3 }}&gt;&#10;                    &lt;Text style={{ fontSize: 17, fontWeight: 'bold', color: '#D9534F' }}&gt;例外：拧瓶盖&lt;/Text&gt;&#10;                    &lt;Text style={{ fontSize: 15, color: '#4A5568', lineHeight: 1.5 }}&gt;PC 反而只有 0.673，两段都加到 0.825。它靠持续接触把螺纹拧下去，接触段本身信息量最大。&lt;/Text&gt;&#10;                &lt;/Box&gt;&#10;                &lt;Box style={{ flexDirection: 'column', gap: 3 }}&gt;&#10;                    &lt;Text style={{ fontSize: 17, fontWeight: 'bold', color: '#1E4FA8' }}&gt;所以比例是分任务定的&lt;/Text&gt;&#10;                    &lt;Text style={{ fontSize: 15, color: '#4A5568', lineHeight: 1.5 }}&gt;四个任务 1:5:1，拧瓶盖 1:3:3；倍率 m≈5（附录 D.4 扫描，再大就饱和）。&lt;/Text&gt;&#10;                &lt;/Box&gt;&#10;            &lt;/Box&gt;&#10;        &lt;/Box&gt;&#10;        &lt;Box style={{ flexDirection: 'row', justifyContent: 'space-between', borderTop: '1px solid #D6DCE5', paddingTop: 10, marginTop: 8 }}&gt;&#10;            &lt;Text style={{ fontSize: 14, color: '#8B97A8' }}&gt;来源：论文表 2、表 8、附录 D.3–D.4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该加权的是接触前，不是接触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同一个策略、同一批数据，只改「给哪一段加权」，五个任务的结果就分开了。</a:t>
            </a:r>
            <a:endParaRPr/>
          </a:p>
        </p:txBody>
      </p:sp>
      <p:graphicFrame>
        <p:nvGraphicFramePr>
          <p:cNvPr id="50" name=""/>
          <p:cNvGraphicFramePr/>
          <p:nvPr/>
        </p:nvGraphicFramePr>
        <p:xfrm rot="0" flipH="0" flipV="0">
          <a:off x="609600" y="2047875"/>
          <a:ext cx="6572250" cy="3143250"/>
        </p:xfrm>
        <a:graphic>
          <a:graphicData uri="http://schemas.openxmlformats.org/drawingml/2006/table">
            <a:tbl>
              <a:tblGrid>
                <a:gridCol w="1934834">
                  <a:extLst>
                    <a:ext uri="{9D8B030D-6E8A-4147-A177-3AD203B41FA5}">
                      <a16:colId val="1"/>
                    </a:ext>
                  </a:extLst>
                </a:gridCol>
                <a:gridCol w="1259892">
                  <a:extLst>
                    <a:ext uri="{9D8B030D-6E8A-4147-A177-3AD203B41FA5}">
                      <a16:colId val="2"/>
                    </a:ext>
                  </a:extLst>
                </a:gridCol>
                <a:gridCol w="1639547">
                  <a:extLst>
                    <a:ext uri="{9D8B030D-6E8A-4147-A177-3AD203B41FA5}">
                      <a16:colId val="3"/>
                    </a:ext>
                  </a:extLst>
                </a:gridCol>
                <a:gridCol w="173797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任务（任务进度）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只加接触 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只加接触前 PC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两段都加 PC+C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LEGO 装配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0.913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NIST 传送带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0.494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0.767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NIST 插装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0.933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0.933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工具清理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0.805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拧瓶盖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0.673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0.825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490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平均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0.670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0.818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5267325"/>
            <a:ext cx="657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论文表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C = contact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PC = pre-contact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。五个任务的平均值只差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0.7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个百分点。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0" y="2047875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只加接触，等于没加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429500" y="227647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0.670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。接触已经发生，姿态错了就只能在错的位置上微调。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29500" y="266700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只加接触前，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4/5 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任务最优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429500" y="2895600"/>
            <a:ext cx="4152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0.818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。接触前决定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到没到位、对没对准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，这一步错了后面救不回来。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429500" y="354330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例外：拧瓶盖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429500" y="3771900"/>
            <a:ext cx="4152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PC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反而只有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0.673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，两段都加到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0.825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。它靠持续接触把螺纹拧下去，接触段本身信息量最大。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29500" y="441960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所以比例是分任务定的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29500" y="4648200"/>
            <a:ext cx="4152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四个任务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1:5:1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，拧瓶盖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1:3:3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；倍率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m≈5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（附录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D.4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扫描，再大就饱和）。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2219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8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、附录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D.3–D.4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11 / 19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2 / 19&lt;/Text&gt;&#10;    &lt;/Box&gt;&#10;    &lt;Box style={{ padding: '96px 64px 32px 64px', flexDirection: 'column', height: 720 }}&gt;&#10;        &lt;Text style={{ fontSize: 36, fontWeight: 'bold', color: '#0E3F8C', lineHeight: 1.25 }}&gt;两个「为什么」：为什么改采样，为什么不用电流&lt;/Text&gt;&#10;        &lt;Text style={{ fontSize: 19, color: '#4A5568', marginTop: 10, lineHeight: 1.5 }}&gt;两条独立对照，都在回答&quot;能不能用更简单的方式拿到同样的收益&quot;——答案都是不能。&lt;/Text&gt;&#10;        &lt;Box style={{ flexDirection: 'row', gap: 26, marginTop: 20, flex: 1 }}&gt;&#10;            &lt;Box style={{ flex: 1, flexDirection: 'column', gap: 6 }}&gt;&#10;                &lt;Text style={{ fontSize: 19, fontWeight: 'bold', color: '#0E3F8C' }}&gt;改采样，优于改损失&lt;/Text&gt;&#10;                &lt;Text style={{ fontSize: 15, color: '#4A5568' }}&gt;LEGO 装配 · ACT · 任务进度&lt;/Text&gt;&#10;                &lt;Box style={{ flexDirection: 'row', alignItems: 'center', gap: 10, marginTop: 8 }}&gt;&#10;                    &lt;Text style={{ width: 150, fontSize: 15, color: '#4A5568' }}&gt;不处理&lt;/Text&gt;&#10;                    &lt;Box style={{ width: 174, height: 20, background: '#B4B2A9', borderRadius: 2 }} /&gt;&#10;                    &lt;Text style={{ fontSize: 15, fontWeight: 'bold', color: '#1A2230' }}&gt;0.453&lt;/Text&gt;&#10;                &lt;/Box&gt;&#10;                &lt;Box style={{ flexDirection: 'row', alignItems: 'center', gap: 10 }}&gt;&#10;                    &lt;Text style={{ width: 150, fontSize: 15, color: '#4A5568' }}&gt;改损失 · PC&lt;/Text&gt;&#10;                    &lt;Box style={{ width: 132, height: 20, background: '#D9534F', borderRadius: 2 }} /&gt;&#10;                    &lt;Text style={{ fontSize: 15, fontWeight: 'bold', color: '#D9534F' }}&gt;0.345&lt;/Text&gt;&#10;                &lt;/Box&gt;&#10;                &lt;Box style={{ flexDirection: 'row', alignItems: 'center', gap: 10 }}&gt;&#10;                    &lt;Text style={{ width: 150, fontSize: 15, color: '#4A5568' }}&gt;改损失 · PC+C&lt;/Text&gt;&#10;                    &lt;Box style={{ width: 184, height: 20, background: '#D9534F', borderRadius: 2, opacity: 0.6 }} /&gt;&#10;                    &lt;Text style={{ fontSize: 15, fontWeight: 'bold', color: '#1A2230' }}&gt;0.478&lt;/Text&gt;&#10;                &lt;/Box&gt;&#10;                &lt;Box style={{ flexDirection: 'row', alignItems: 'center', gap: 10 }}&gt;&#10;                    &lt;Text style={{ width: 150, fontSize: 15, color: '#4A5568' }}&gt;重采样 · PC&lt;/Text&gt;&#10;                    &lt;Box style={{ width: 220, height: 20, background: '#1E4FA8', borderRadius: 2 }} /&gt;&#10;                    &lt;Text style={{ fontSize: 15, fontWeight: 'bold', color: '#1E4FA8' }}&gt;0.573&lt;/Text&gt;&#10;                &lt;/Box&gt;&#10;                &lt;Box style={{ flexDirection: 'row', alignItems: 'center', gap: 10 }}&gt;&#10;                    &lt;Text style={{ width: 150, fontSize: 15, color: '#4A5568' }}&gt;重采样 · PC+C&lt;/Text&gt;&#10;                    &lt;Box style={{ width: 192, height: 20, background: '#1E4FA8', borderRadius: 2, opacity: 0.6 }} /&gt;&#10;                    &lt;Text style={{ fontSize: 15, fontWeight: 'bold', color: '#1A2230' }}&gt;0.501&lt;/Text&gt;&#10;                &lt;/Box&gt;&#10;                &lt;Text style={{ fontSize: 15, color: '#4A5568', lineHeight: 1.5, marginTop: 8 }}&gt;把权重压到损失上，少数接触样本会主导梯度，优化变不稳，甚至比不处理还差。&lt;/Text&gt;&#10;            &lt;/Box&gt;&#10;            &lt;Box style={{ flex: 1, flexDirection: 'column', gap: 6 }}&gt;&#10;                &lt;Text style={{ fontSize: 19, fontWeight: 'bold', color: '#0E3F8C' }}&gt;学到的力矩，优于原始电流&lt;/Text&gt;&#10;                &lt;Text style={{ fontSize: 15, color: '#4A5568' }}&gt;ACT · 任务进度 · NIST 插装 / 拧瓶盖&lt;/Text&gt;&#10;                &lt;Text style={{ fontSize: 15, fontWeight: 'bold', color: '#1E4FA8', marginTop: 8 }}&gt;NIST 插装&lt;/Text&gt;&#10;                &lt;Box style={{ flexDirection: 'row', alignItems: 'center', gap: 10 }}&gt;&#10;                    &lt;Text style={{ width: 118, fontSize: 15, color: '#4A5568' }}&gt;无外力输入&lt;/Text&gt;&#10;                    &lt;Box style={{ width: 85, height: 18, background: '#B4B2A9', borderRadius: 2 }} /&gt;&#10;                    &lt;Text style={{ fontSize: 15, fontWeight: 'bold', color: '#1A2230' }}&gt;0.220&lt;/Text&gt;&#10;                &lt;/Box&gt;&#10;                &lt;Box style={{ flexDirection: 'row', alignItems: 'center', gap: 10 }}&gt;&#10;                    &lt;Text style={{ width: 118, fontSize: 15, color: '#4A5568' }}&gt;+ 原始电流&lt;/Text&gt;&#10;                    &lt;Box style={{ width: 167, height: 18, background: '#FFC107', borderRadius: 2 }} /&gt;&#10;                    &lt;Text style={{ fontSize: 15, fontWeight: 'bold', color: '#1A2230' }}&gt;0.431&lt;/Text&gt;&#10;                &lt;/Box&gt;&#10;                &lt;Box style={{ flexDirection: 'row', alignItems: 'center', gap: 10 }}&gt;&#10;                    &lt;Text style={{ width: 118, fontSize: 15, color: '#4A5568' }}&gt;+ τ_ext&lt;/Text&gt;&#10;                    &lt;Box style={{ width: 220, height: 18, background: '#1E4FA8', borderRadius: 2 }} /&gt;&#10;                    &lt;Text style={{ fontSize: 15, fontWeight: 'bold', color: '#1E4FA8' }}&gt;0.567&lt;/Text&gt;&#10;                &lt;/Box&gt;&#10;                &lt;Text style={{ fontSize: 15, fontWeight: 'bold', color: '#1E4FA8', marginTop: 6 }}&gt;拧瓶盖&lt;/Text&gt;&#10;                &lt;Box style={{ flexDirection: 'row', alignItems: 'center', gap: 10 }}&gt;&#10;                    &lt;Text style={{ width: 118, fontSize: 15, color: '#4A5568' }}&gt;无外力输入&lt;/Text&gt;&#10;                    &lt;Box style={{ width: 171, height: 18, background: '#B4B2A9', borderRadius: 2 }} /&gt;&#10;                    &lt;Text style={{ fontSize: 15, fontWeight: 'bold', color: '#1A2230' }}&gt;0.440&lt;/Text&gt;&#10;                &lt;/Box&gt;&#10;                &lt;Box style={{ flexDirection: 'row', alignItems: 'center', gap: 10 }}&gt;&#10;                    &lt;Text style={{ width: 118, fontSize: 15, color: '#4A5568' }}&gt;+ 原始电流&lt;/Text&gt;&#10;                    &lt;Box style={{ width: 171, height: 18, background: '#FFC107', borderRadius: 2 }} /&gt;&#10;                    &lt;Text style={{ fontSize: 15, fontWeight: 'bold', color: '#1A2230' }}&gt;0.440&lt;/Text&gt;&#10;                &lt;/Box&gt;&#10;                &lt;Box style={{ flexDirection: 'row', alignItems: 'center', gap: 10 }}&gt;&#10;                    &lt;Text style={{ width: 118, fontSize: 15, color: '#4A5568' }}&gt;+ τ_ext&lt;/Text&gt;&#10;                    &lt;Box style={{ width: 204, height: 18, background: '#1E4FA8', borderRadius: 2 }} /&gt;&#10;                    &lt;Text style={{ fontSize: 15, fontWeight: 'bold', color: '#1E4FA8' }}&gt;0.525&lt;/Text&gt;&#10;                &lt;/Box&gt;&#10;                &lt;Text style={{ fontSize: 15, color: '#4A5568', lineHeight: 1.5, marginTop: 6 }}&gt;电流里混着重力与摩擦，τ_ext 把空载分量减掉，接触信号才干净。&lt;/Text&gt;&#10;            &lt;/Box&gt;&#10;        &lt;/Box&gt;&#10;        &lt;Box style={{ flexDirection: 'row', justifyContent: 'space-between', borderTop: '1px solid #D6DCE5', paddingTop: 10, marginTop: 8 }}&gt;&#10;            &lt;Text style={{ fontSize: 14, color: '#8B97A8' }}&gt;来源：论文表 11（左）、表 10（右）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两个「为什么」：为什么改采样，为什么不用电流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两条独立对照，都在回答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能不能用更简单的方式拿到同样的收益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"——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答案都是不能。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536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改采样，优于改损失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536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LEGO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装配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ACT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任务进度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不处理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2133600" y="2628900"/>
            <a:ext cx="1657350" cy="190500"/>
          </a:xfrm>
          <a:prstGeom prst="roundRect">
            <a:avLst>
              <a:gd name="adj" fmla="val 10000"/>
            </a:avLst>
          </a:prstGeom>
          <a:solidFill>
            <a:srgbClr val="B4B2A9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886200" y="263842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0.453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改损失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PC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2133600" y="2876550"/>
            <a:ext cx="1257300" cy="19050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486150" y="28860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0.345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31337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改损失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PC+C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981450" y="313372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0.478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33813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重采样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PC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2133600" y="3371850"/>
            <a:ext cx="2095500" cy="1905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24350" y="33813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0.573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36290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重采样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PC+C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057650" y="362902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0.501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5362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把权重压到损失上，少数接触样本会主导梯度，优化变不稳，甚至比不处理还差。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219825" y="2047875"/>
            <a:ext cx="536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学到的力矩，优于原始电流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219825" y="2324100"/>
            <a:ext cx="536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ACT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任务进度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NIST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插装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拧瓶盖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219825" y="2628900"/>
            <a:ext cx="536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NIST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插装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219825" y="28575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无外力输入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439025" y="2857500"/>
            <a:ext cx="809625" cy="171450"/>
          </a:xfrm>
          <a:prstGeom prst="roundRect">
            <a:avLst>
              <a:gd name="adj" fmla="val 11111"/>
            </a:avLst>
          </a:prstGeom>
          <a:solidFill>
            <a:srgbClr val="B4B2A9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43900" y="285750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0.220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219825" y="30861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原始电流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439025" y="3086100"/>
            <a:ext cx="1590675" cy="171450"/>
          </a:xfrm>
          <a:prstGeom prst="roundRect">
            <a:avLst>
              <a:gd name="adj" fmla="val 11111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124950" y="308610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0.431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219825" y="33147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+ τ_ext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439025" y="3314700"/>
            <a:ext cx="2095500" cy="17145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629775" y="331470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0.567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219825" y="3600450"/>
            <a:ext cx="536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拧瓶盖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219825" y="382905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无外力输入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439025" y="3829050"/>
            <a:ext cx="1628775" cy="171450"/>
          </a:xfrm>
          <a:prstGeom prst="roundRect">
            <a:avLst>
              <a:gd name="adj" fmla="val 11111"/>
            </a:avLst>
          </a:prstGeom>
          <a:solidFill>
            <a:srgbClr val="B4B2A9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163050" y="38290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0.440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219825" y="405765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原始电流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439025" y="4057650"/>
            <a:ext cx="1628775" cy="171450"/>
          </a:xfrm>
          <a:prstGeom prst="roundRect">
            <a:avLst>
              <a:gd name="adj" fmla="val 11111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163050" y="40576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0.440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219825" y="428625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+ τ_ext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439025" y="4286250"/>
            <a:ext cx="1943100" cy="17145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477375" y="42862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0.525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219825" y="4572000"/>
            <a:ext cx="5362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电流里混着重力与摩擦，τ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_ext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把空载分量减掉，接触信号才干净。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（左）、表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（右）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12 / 19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2133600" y="3124200"/>
            <a:ext cx="1752600" cy="190500"/>
          </a:xfrm>
          <a:prstGeom prst="roundRect">
            <a:avLst>
              <a:gd name="adj" fmla="val 10000"/>
            </a:avLst>
          </a:prstGeom>
          <a:solidFill>
            <a:srgbClr val="D9534F">
              <a:alpha val="60000"/>
            </a:srgbClr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2133600" y="3619500"/>
            <a:ext cx="1828800" cy="190500"/>
          </a:xfrm>
          <a:prstGeom prst="roundRect">
            <a:avLst>
              <a:gd name="adj" fmla="val 10000"/>
            </a:avLst>
          </a:prstGeom>
          <a:solidFill>
            <a:srgbClr val="1E4FA8">
              <a:alpha val="60000"/>
            </a:srgbClr>
          </a:solidFill>
          <a:ln/>
        </p:spPr>
        <p:txBody>
          <a:bodyPr/>
          <a:p/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3 / 19&lt;/Text&gt;&#10;    &lt;/Box&gt;&#10;    &lt;Box style={{ padding: '96px 64px 32px 64px', flexDirection: 'column', height: 720 }}&gt;&#10;        &lt;Text style={{ fontSize: 36, fontWeight: 'bold', color: '#0E3F8C', lineHeight: 1.25 }}&gt;五条可迁移的洞见，五条作者承认的边界&lt;/Text&gt;&#10;        &lt;Text style={{ fontSize: 19, color: '#4A5568', marginTop: 10, lineHeight: 1.5 }}&gt;左边是能带走的方法论，右边是别拿去过度承诺的地方。&lt;/Text&gt;&#10;        &lt;Box style={{ flexDirection: 'row', gap: 24, marginTop: 22, flex: 1 }}&gt;&#10;            &lt;Box style={{ flex: 1, flexDirection: 'column', gap: 10 }}&gt;&#10;                &lt;Text style={{ fontSize: 20, fontWeight: 'bold', color: '#1E4FA8' }}&gt;可以带走的五条洞见&lt;/Text&gt;&#10;                &lt;Box style={{ flexDirection: 'row', gap: 10, alignItems: 'flex-start' }}&gt;&#10;                    &lt;Text style={{ fontSize: 15, fontWeight: 'bold', color: '#3D7BD9', width: 24 }}&gt;01&lt;/Text&gt;&#10;                    &lt;Text style={{ flex: 1, fontSize: 16, color: '#1A2230', lineHeight: 1.5 }}&gt;残差法的瓶颈是未建模效应，而这部分可以整块交给网络，不必逐项建模。&lt;/Text&gt;&#10;                &lt;/Box&gt;&#10;                &lt;Box style={{ flexDirection: 'row', gap: 10, alignItems: 'flex-start' }}&gt;&#10;                    &lt;Text style={{ fontSize: 15, fontWeight: 'bold', color: '#3D7BD9', width: 24 }}&gt;02&lt;/Text&gt;&#10;                    &lt;Text style={{ flex: 1, fontSize: 16, color: '#1A2230', lineHeight: 1.5 }}&gt;历史窗口比单帧重要：消融里 LSTM 明显优于 MLP，历史长度 50 步最好。&lt;/Text&gt;&#10;                &lt;/Box&gt;&#10;                &lt;Box style={{ flexDirection: 'row', gap: 10, alignItems: 'flex-start' }}&gt;&#10;                    &lt;Text style={{ fontSize: 15, fontWeight: 'bold', color: '#3D7BD9', width: 24 }}&gt;03&lt;/Text&gt;&#10;                    &lt;Text style={{ flex: 1, fontSize: 16, color: '#1A2230', lineHeight: 1.5 }}&gt;「估计」与「使用」解耦：先验收力矩，再谈策略，出错时能定位在哪一层。&lt;/Text&gt;&#10;                &lt;/Box&gt;&#10;                &lt;Box style={{ flexDirection: 'row', gap: 10, alignItems: 'flex-start' }}&gt;&#10;                    &lt;Text style={{ fontSize: 15, fontWeight: 'bold', color: '#3D7BD9', width: 24 }}&gt;04&lt;/Text&gt;&#10;                    &lt;Text style={{ flex: 1, fontSize: 16, color: '#1A2230', lineHeight: 1.5 }}&gt;同样的强调，改采样分布比改损失权重更稳，后者容易让少数样本主导梯度。&lt;/Text&gt;&#10;                &lt;/Box&gt;&#10;                &lt;Box style={{ flexDirection: 'row', gap: 10, alignItems: 'flex-start' }}&gt;&#10;                    &lt;Text style={{ fontSize: 15, fontWeight: 'bold', color: '#3D7BD9', width: 24 }}&gt;05&lt;/Text&gt;&#10;                    &lt;Text style={{ flex: 1, fontSize: 16, color: '#1A2230', lineHeight: 1.5 }}&gt;数据成本可以压到极低：10 分钟自由运动 + 1 分钟训练，不依赖力传感器。&lt;/Text&gt;&#10;                &lt;/Box&gt;&#10;            &lt;/Box&gt;&#10;            &lt;Box style={{ width: 1, background: '#D6DCE5' }} /&gt;&#10;            &lt;Box style={{ flex: 1, flexDirection: 'column', gap: 10 }}&gt;&#10;                &lt;Text style={{ fontSize: 20, fontWeight: 'bold', color: '#D9534F' }}&gt;作者承认的五条边界&lt;/Text&gt;&#10;                &lt;Box style={{ flexDirection: 'row', gap: 10, alignItems: 'flex-start' }}&gt;&#10;                    &lt;Text style={{ fontSize: 15, fontWeight: 'bold', color: '#D9534F', width: 24 }}&gt;01&lt;/Text&gt;&#10;                    &lt;Text style={{ flex: 1, fontSize: 16, color: '#1A2230', lineHeight: 1.5 }}&gt;绝对尺度依赖力矩常数 K：K 不准，估计整体缩放，需外部力传感器标定一次。&lt;/Text&gt;&#10;                &lt;/Box&gt;&#10;                &lt;Box style={{ flexDirection: 'row', gap: 10, alignItems: 'flex-start' }}&gt;&#10;                    &lt;Text style={{ fontSize: 15, fontWeight: 'bold', color: '#D9534F', width: 24 }}&gt;02&lt;/Text&gt;&#10;                    &lt;Text style={{ flex: 1, fontSize: 16, color: '#1A2230', lineHeight: 1.5 }}&gt;机型专属：换一台机械臂要重新采数据、重新训练，不能直接迁移权重。&lt;/Text&gt;&#10;                &lt;/Box&gt;&#10;                &lt;Box style={{ flexDirection: 'row', gap: 10, alignItems: 'flex-start' }}&gt;&#10;                    &lt;Text style={{ fontSize: 15, fontWeight: 'bold', color: '#D9534F', width: 24 }}&gt;03&lt;/Text&gt;&#10;                    &lt;Text style={{ flex: 1, fontSize: 16, color: '#1A2230', lineHeight: 1.5 }}&gt;接触检测靠双阈值，必须按机型与噪声水平重新标定，不能照抄数字。&lt;/Text&gt;&#10;                &lt;/Box&gt;&#10;                &lt;Box style={{ flexDirection: 'row', gap: 10, alignItems: 'flex-start' }}&gt;&#10;                    &lt;Text style={{ fontSize: 15, fontWeight: 'bold', color: '#D9534F', width: 24 }}&gt;04&lt;/Text&gt;&#10;                    &lt;Text style={{ flex: 1, fontSize: 16, color: '#1A2230', lineHeight: 1.5 }}&gt;输出是关节空间力矩，不是末端六维力；做阻抗控制还要雅可比映射。&lt;/Text&gt;&#10;                &lt;/Box&gt;&#10;                &lt;Box style={{ flexDirection: 'row', gap: 10, alignItems: 'flex-start' }}&gt;&#10;                    &lt;Text style={{ fontSize: 15, fontWeight: 'bold', color: '#D9534F', width: 24 }}&gt;05&lt;/Text&gt;&#10;                    &lt;Text style={{ flex: 1, fontSize: 16, color: '#1A2230', lineHeight: 1.5 }}&gt;任务进度靠人工划分阶段，跨任务、跨标注人不完全可比。&lt;/Text&gt;&#10;                &lt;/Box&gt;&#10;            &lt;/Box&gt;&#10;        &lt;/Box&gt;&#10;        &lt;Box style={{ flexDirection: 'row', justifyContent: 'space-between', borderTop: '1px solid #D6DCE5', paddingTop: 10, marginTop: 8 }}&gt;&#10;            &lt;Text style={{ fontSize: 14, color: '#8B97A8' }}&gt;来源：论文第 8 节、附录 A.2 与 D.1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五条可迁移的洞见，五条作者承认的边界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左边是能带走的方法论，右边是别拿去过度承诺的地方。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525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可以带走的五条洞见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33450" y="239077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残差法的瓶颈是未建模效应，而这部分可以整块交给网络，不必逐项建模。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30384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33450" y="303847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历史窗口比单帧重要：消融里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LSTM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明显优于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MLP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，历史长度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步最好。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36861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33450" y="368617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「估计」与「使用」解耦：先验收力矩，再谈策略，出错时能定位在哪一层。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43338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33450" y="433387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同样的强调，改采样分布比改损失权重更稳，后者容易让少数样本主导梯度。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49815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33450" y="4981575"/>
            <a:ext cx="4933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数据成本可以压到极低：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分钟自由运动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分钟训练，不依赖力传感器。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0" y="2066925"/>
            <a:ext cx="9525" cy="41433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34125" y="2066925"/>
            <a:ext cx="5248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作者承认的五条边界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334125" y="23907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657975" y="2390775"/>
            <a:ext cx="49244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绝对尺度依赖力矩常数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K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不准，估计整体缩放，需外部力传感器标定一次。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334125" y="30384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657975" y="3038475"/>
            <a:ext cx="4924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机型专属：换一台机械臂要重新采数据、重新训练，不能直接迁移权重。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334125" y="3409950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657975" y="3409950"/>
            <a:ext cx="4924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接触检测靠双阈值，必须按机型与噪声水平重新标定，不能照抄数字。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334125" y="378142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657975" y="3781425"/>
            <a:ext cx="4924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输出是关节空间力矩，不是末端六维力；做阻抗控制还要雅可比映射。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334125" y="4152900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57975" y="4152900"/>
            <a:ext cx="4924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任务进度靠人工划分阶段，跨任务、跨标注人不完全可比。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215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来源：论文第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节、附录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A.2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D.1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13 / 19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 style={{ width: 1280, height: 720, background: '#0E3F8C', padding: '0px' }}&gt;&#10;    &lt;Box style={{ position: 'absolute', right: 40, top: 120, width: 380, height: 380, border: '2px solid #1E4FA8', borderRadius: 190, opacity: 0.5 }} /&gt;&#10;    &lt;Box style={{ position: 'absolute', right: 110, top: 200, width: 240, height: 240, border: '1px solid #3D7BD9', borderRadius: 120, opacity: 0.6 }} /&gt;&#10;    &lt;Box style={{ padding: '96px 80px', flexDirection: 'column', height: 720, justifyContent: 'center' }}&gt;&#10;        &lt;Text style={{ fontSize: 18, color: '#9DB8E8', letterSpacing: 4 }}&gt;P A R T　0 2&lt;/Text&gt;&#10;        &lt;Text style={{ fontSize: 172, fontWeight: 'bold', color: '#FFFFFF', lineHeight: 1.0, marginTop: 6 }}&gt;06&lt;/Text&gt;&#10;        &lt;Text style={{ fontSize: 44, fontWeight: 'bold', color: '#FFFFFF', marginTop: 10 }}&gt;在你的 PiPER 上跑起来&lt;/Text&gt;&#10;        &lt;Text style={{ fontSize: 20, color: '#C9D8F0', marginTop: 18, lineHeight: 1.6 }}&gt;六个阶段，最小闭环约 3 天；CAN 1 Mbps，电流原生 50 Hz，没有关节力矩传感器。&lt;/Text&gt;&#10;        &lt;Box style={{ flexDirection: 'row', gap: 12, marginTop: 26 }}&gt;&#10;            &lt;Box style={{ padding: '8px 16px', background: '#1E4FA8', borderRadius: 4 }}&gt;&#10;                &lt;Text style={{ fontSize: 16, color: '#FFFFFF' }}&gt;6 个阶段&lt;/Text&gt;&#10;            &lt;/Box&gt;&#10;            &lt;Box style={{ padding: '8px 16px', background: '#1E4FA8', borderRadius: 4 }}&gt;&#10;                &lt;Text style={{ fontSize: 16, color: '#FFFFFF' }}&gt;最小闭环约 3 天&lt;/Text&gt;&#10;            &lt;/Box&gt;&#10;            &lt;Box style={{ padding: '8px 16px', background: '#1E4FA8', borderRadius: 4 }}&gt;&#10;                &lt;Text style={{ fontSize: 16, color: '#FFFFFF' }}&gt;50 Hz · H = 25&lt;/Text&gt;&#10;            &lt;/Box&gt;&#10;        &lt;/Box&gt;&#10;    &lt;/Box&gt;&#10;    &lt;Box style={{ position: 'absolute', left: 0, bottom: 0, width: 1280, height: 56, padding: '0 80px', flexDirection: 'row', alignItems: 'center', justifyContent: 'space-between' }}&gt;&#10;        &lt;Text style={{ fontSize: 14, color: '#9DB8E8' }}&gt;FACTR 2 · 论文解析与 PiPER 复现&lt;/Text&gt;&#10;        &lt;Text style={{ fontSize: 14, color: '#9DB8E8' }}&gt;14 / 1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9DB8E8"/>
                </a:solidFill>
                <a:latin typeface="Microsoft YaHei"/>
                <a:ea typeface="Microsoft YaHei"/>
              </a:rPr>
              <a:t>P A R T</a:t>
            </a:r>
            <a:r>
              <a:rPr lang="zh-CN" sz="1350" spc="300">
                <a:solidFill>
                  <a:srgbClr val="9DB8E8"/>
                </a:solidFill>
                <a:latin typeface="Microsoft YaHei"/>
                <a:ea typeface="Microsoft YaHei"/>
              </a:rPr>
              <a:t>　</a:t>
            </a:r>
            <a:r>
              <a:rPr lang="en-US" sz="1350" spc="300">
                <a:solidFill>
                  <a:srgbClr val="9DB8E8"/>
                </a:solidFill>
                <a:latin typeface="Microsoft YaHei"/>
                <a:ea typeface="Microsoft YaHei"/>
              </a:rPr>
              <a:t>0 2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10668000" cy="1971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9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000" y="3781425"/>
            <a:ext cx="10668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在你的</a:t>
            </a: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上跑起来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106680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六个阶段，最小闭环约</a:t>
            </a:r>
            <a:r>
              <a:rPr lang="en-US" sz="1500">
                <a:solidFill>
                  <a:srgbClr val="C9D8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天；</a:t>
            </a:r>
            <a:r>
              <a:rPr lang="en-US" sz="1500">
                <a:solidFill>
                  <a:srgbClr val="C9D8F0"/>
                </a:solidFill>
                <a:latin typeface="Microsoft YaHei"/>
                <a:ea typeface="Microsoft YaHei"/>
              </a:rPr>
              <a:t>CAN 1 Mbps</a:t>
            </a: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，电流原生</a:t>
            </a:r>
            <a:r>
              <a:rPr lang="en-US" sz="1500">
                <a:solidFill>
                  <a:srgbClr val="C9D8F0"/>
                </a:solidFill>
                <a:latin typeface="Microsoft YaHei"/>
                <a:ea typeface="Microsoft YaHei"/>
              </a:rPr>
              <a:t xml:space="preserve"> 50 Hz</a:t>
            </a: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，没有关节力矩传感器。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62000" y="5076825"/>
            <a:ext cx="904875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14400" y="5153025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个阶段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1781175" y="5076825"/>
            <a:ext cx="1400175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933575" y="515302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最小闭环约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295650" y="5076825"/>
            <a:ext cx="1352550" cy="34290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448050" y="515302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50 Hz · H = 25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191500" y="1143000"/>
            <a:ext cx="3619500" cy="3619500"/>
          </a:xfrm>
          <a:prstGeom prst="roundRect">
            <a:avLst>
              <a:gd name="adj" fmla="val 50000"/>
            </a:avLst>
          </a:prstGeom>
          <a:ln w="25400">
            <a:solidFill>
              <a:srgbClr val="1E4FA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8858250" y="1905000"/>
            <a:ext cx="2286000" cy="2286000"/>
          </a:xfrm>
          <a:prstGeom prst="roundRect">
            <a:avLst>
              <a:gd name="adj" fmla="val 50000"/>
            </a:avLst>
          </a:prstGeom>
          <a:ln w="12700">
            <a:solidFill>
              <a:srgbClr val="3D7BD9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62000" y="6515100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8E8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050">
                <a:solidFill>
                  <a:srgbClr val="9DB8E8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050">
                <a:solidFill>
                  <a:srgbClr val="9DB8E8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050">
                <a:solidFill>
                  <a:srgbClr val="9DB8E8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9728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8E8"/>
                </a:solidFill>
                <a:latin typeface="Microsoft YaHei"/>
                <a:ea typeface="Microsoft YaHei"/>
              </a:rPr>
              <a:t>14 / 19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6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5 / 19&lt;/Text&gt;&#10;    &lt;/Box&gt;&#10;    &lt;Box style={{ padding: '96px 64px 32px 64px', flexDirection: 'column', height: 720 }}&gt;&#10;        &lt;Text style={{ fontSize: 36, fontWeight: 'bold', color: '#0E3F8C', lineHeight: 1.25 }}&gt;六个阶段，前三段就能出结论&lt;/Text&gt;&#10;        &lt;Text style={{ fontSize: 19, color: '#4A5568', marginTop: 10, lineHeight: 1.5 }}&gt;P0 到 P3 是&quot;这台机器到底行不行&quot;的最小闭环，约 3 天；P4、P5 才涉及策略。&lt;/Text&gt;&#10;        &lt;Box style={{ flexDirection: 'row', gap: 14, marginTop: 30, flex: 1 }}&gt;&#10;            &lt;Box style={{ flex: 1, background: '#F7F9FC', border: '1px solid #D6DCE5', borderRadius: 6, padding: 16, flexDirection: 'column', gap: 8 }}&gt;&#10;                &lt;Text style={{ fontSize: 15, fontWeight: 'bold', color: '#3D7BD9' }}&gt;P0&lt;/Text&gt;&#10;                &lt;Text style={{ fontSize: 18, fontWeight: 'bold', color: '#1A2230', lineHeight: 1.35 }}&gt;信号链自检&lt;/Text&gt;&#10;                &lt;Text style={{ fontSize: 15, color: '#1E4FA8' }}&gt;0.5 天&lt;/Text&gt;&#10;                &lt;Text style={{ fontSize: 14, color: '#4A5568', lineHeight: 1.5 }}&gt;CAN 拉起来，六个 ID 都有数据，产出采集脚本。&lt;/Text&gt;&#10;            &lt;/Box&gt;&#10;            &lt;Box style={{ flex: 1, background: '#F7F9FC', border: '1px solid #D6DCE5', borderRadius: 6, padding: 16, flexDirection: 'column', gap: 8 }}&gt;&#10;                &lt;Text style={{ fontSize: 15, fontWeight: 'bold', color: '#3D7BD9' }}&gt;P1&lt;/Text&gt;&#10;                &lt;Text style={{ fontSize: 18, fontWeight: 'bold', color: '#1A2230', lineHeight: 1.35 }}&gt;采集 10 分钟&lt;/Text&gt;&#10;                &lt;Text style={{ fontSize: 15, color: '#1E4FA8' }}&gt;1 天&lt;/Text&gt;&#10;                &lt;Text style={{ fontSize: 14, color: '#4A5568', lineHeight: 1.5 }}&gt;三类轨迹覆盖工作空间，全程无接触。&lt;/Text&gt;&#10;            &lt;/Box&gt;&#10;            &lt;Box style={{ flex: 1, background: '#F7F9FC', border: '1px solid #D6DCE5', borderRadius: 6, padding: 16, flexDirection: 'column', gap: 8 }}&gt;&#10;                &lt;Text style={{ fontSize: 15, fontWeight: 'bold', color: '#3D7BD9' }}&gt;P2&lt;/Text&gt;&#10;                &lt;Text style={{ fontSize: 18, fontWeight: 'bold', color: '#1A2230', lineHeight: 1.35 }}&gt;训练 NEXT&lt;/Text&gt;&#10;                &lt;Text style={{ fontSize: 15, color: '#1E4FA8' }}&gt;0.5 天&lt;/Text&gt;&#10;                &lt;Text style={{ fontSize: 14, color: '#4A5568', lineHeight: 1.5 }}&gt;LSTM + MLP，分钟级训练，产出 τ_f 模型。&lt;/Text&gt;&#10;            &lt;/Box&gt;&#10;            &lt;Box style={{ flex: 1, background: '#E8EFF8', border: '1px solid #3D7BD9', borderRadius: 6, padding: 16, flexDirection: 'column', gap: 8 }}&gt;&#10;                &lt;Text style={{ fontSize: 15, fontWeight: 'bold', color: '#1E4FA8' }}&gt;P3&lt;/Text&gt;&#10;                &lt;Text style={{ fontSize: 18, fontWeight: 'bold', color: '#1A2230', lineHeight: 1.35 }}&gt;自由空间验收&lt;/Text&gt;&#10;                &lt;Text style={{ fontSize: 15, color: '#1E4FA8' }}&gt;0.5 天&lt;/Text&gt;&#10;                &lt;Text style={{ fontSize: 14, color: '#4A5568', lineHeight: 1.5 }}&gt;空载残差 ≤ 0.05 N·m，六个关节都贴零。&lt;/Text&gt;&#10;            &lt;/Box&gt;&#10;            &lt;Box style={{ flex: 1, background: '#F7F9FC', border: '1px solid #D6DCE5', borderRadius: 6, padding: 16, flexDirection: 'column', gap: 8 }}&gt;&#10;                &lt;Text style={{ fontSize: 15, fontWeight: 'bold', color: '#3D7BD9' }}&gt;P4&lt;/Text&gt;&#10;                &lt;Text style={{ fontSize: 18, fontWeight: 'bold', color: '#1A2230', lineHeight: 1.35 }}&gt;相位标注&lt;/Text&gt;&#10;                &lt;Text style={{ fontSize: 15, color: '#1E4FA8' }}&gt;1 天&lt;/Text&gt;&#10;                &lt;Text style={{ fontSize: 14, color: '#4A5568', lineHeight: 1.5 }}&gt;双阈值切三段，按 1:5:1 加权，产出标签。&lt;/Text&gt;&#10;            &lt;/Box&gt;&#10;            &lt;Box style={{ flex: 1, background: '#F7F9FC', border: '1px solid #D6DCE5', borderRadius: 6, padding: 16, flexDirection: 'column', gap: 8 }}&gt;&#10;                &lt;Text style={{ fontSize: 15, fontWeight: 'bold', color: '#3D7BD9' }}&gt;P5&lt;/Text&gt;&#10;                &lt;Text style={{ fontSize: 18, fontWeight: 'bold', color: '#1A2230', lineHeight: 1.35 }}&gt;策略对照&lt;/Text&gt;&#10;                &lt;Text style={{ fontSize: 15, color: '#1E4FA8' }}&gt;2–4 天&lt;/Text&gt;&#10;                &lt;Text style={{ fontSize: 14, color: '#4A5568', lineHeight: 1.5 }}&gt;Base / +Torque / FIRST 三组，同批 demo。&lt;/Text&gt;&#10;            &lt;/Box&gt;&#10;        &lt;/Box&gt;&#10;        &lt;Box style={{ flexDirection: 'row', background: '#E8EFF8', borderRadius: 6, padding: '14px 22px', marginTop: 18 }}&gt;&#10;            &lt;Text style={{ fontSize: 17, color: '#0E3F8C', lineHeight: 1.5 }}&gt;每一段都有独立的验收门。P3 不过就先别做 P4——信号不对，后面的对照组全都没有意义。&lt;/Text&gt;&#10;        &lt;/Box&gt;&#10;        &lt;Box style={{ flexDirection: 'row', justifyContent: 'space-between', borderTop: '1px solid #D6DCE5', paddingTop: 10, marginTop: 12 }}&gt;&#10;            &lt;Text style={{ fontSize: 14, color: '#8B97A8' }}&gt;来源：《PiPER · FACTR 2 复现操作指南》阶段 0–6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六个阶段，前三段就能出结论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P0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到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是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这台机器到底行不行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的最小闭环，约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天；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P4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P5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才涉及策略。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2143125"/>
            <a:ext cx="1714500" cy="329565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62000" y="22955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P0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62000" y="2543175"/>
            <a:ext cx="14097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信号链自检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62000" y="29051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62000" y="3152775"/>
            <a:ext cx="1409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CAN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拉起来，六个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都有数据，产出采集脚本。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2457450" y="2143125"/>
            <a:ext cx="1724025" cy="3295650"/>
          </a:xfrm>
          <a:prstGeom prst="roundRect">
            <a:avLst>
              <a:gd name="adj" fmla="val 331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609850" y="22955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609850" y="2543175"/>
            <a:ext cx="1419225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采集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2609850" y="29051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2609850" y="3152775"/>
            <a:ext cx="14192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三类轨迹覆盖工作空间，全程无接触。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314825" y="2143125"/>
            <a:ext cx="1714500" cy="329565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467225" y="22955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467225" y="2543175"/>
            <a:ext cx="14097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训练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NEXT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467225" y="29051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467225" y="3152775"/>
            <a:ext cx="1409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LSTM + MLP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，分钟级训练，产出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τ_f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模型。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162675" y="2143125"/>
            <a:ext cx="1714500" cy="3295650"/>
          </a:xfrm>
          <a:prstGeom prst="roundRect">
            <a:avLst>
              <a:gd name="adj" fmla="val 3333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315075" y="22955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P3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315075" y="2543175"/>
            <a:ext cx="14097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自由空间验收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315075" y="29051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315075" y="3152775"/>
            <a:ext cx="1409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空载残差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≤ 0.05 N·m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，六个关节都贴零。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8010525" y="2143125"/>
            <a:ext cx="1724025" cy="3295650"/>
          </a:xfrm>
          <a:prstGeom prst="roundRect">
            <a:avLst>
              <a:gd name="adj" fmla="val 331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62925" y="22955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P4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162925" y="2543175"/>
            <a:ext cx="1419225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相位标注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162925" y="29051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62925" y="3152775"/>
            <a:ext cx="14192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双阈值切三段，按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1:5:1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加权，产出标签。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9867900" y="2143125"/>
            <a:ext cx="1714500" cy="329565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020300" y="22955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Microsoft YaHei"/>
                <a:ea typeface="Microsoft YaHei"/>
              </a:rPr>
              <a:t>P5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020300" y="2543175"/>
            <a:ext cx="14097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策略对照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020300" y="29051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2–4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020300" y="3152775"/>
            <a:ext cx="1409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Base / +Torque / FIRST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三组，同批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demo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5610225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9150" y="5743575"/>
            <a:ext cx="6667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每一段都有独立的验收门。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P3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不过就先别做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P4——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信号不对，后面的对照组全都没有意义。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来源：《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PiPER · FACTR 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复现操作指南》阶段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0–6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15 / 19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08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6 / 19&lt;/Text&gt;&#10;    &lt;/Box&gt;&#10;    &lt;Box style={{ padding: '96px 64px 32px 64px', flexDirection: 'column', height: 720 }}&gt;&#10;        &lt;Text style={{ fontSize: 36, fontWeight: 'bold', color: '#0E3F8C', lineHeight: 1.25 }}&gt;先看清楚这台机器能吐出什么&lt;/Text&gt;&#10;        &lt;Text style={{ fontSize: 19, color: '#4A5568', marginTop: 10, lineHeight: 1.5 }}&gt;CAN 1 Mbps，六个关节各自是独立节点；能拿到的只有位置、速度、电流，没有力矩。&lt;/Text&gt;&#10;        &lt;Box style={{ flexDirection: 'row', gap: 26, marginTop: 22, flex: 1 }}&gt;&#10;            &lt;Box style={{ width: 700, flexDirection: 'column', gap: 10 }}&gt;&#10;                &lt;Table&#10;                    style={{ width: 700, height: 300 }}&#10;                    defaultTextStyle={{ fontSize: 15, textAlign: 'center', color: '#1A2230' }}&#10;                    defaultCellStyle={{ border: { left: { width: 1, color: '#E5E7EB' }, right: { width: 1, color: '#E5E7EB' }, top: { width: 1, color: '#E5E7EB' }, bottom: { width: 1, color: '#E5E7EB' } } }}&#10;                    cells={[&#10;                        [&#10;                            { text: '报文', textStyle: { bold: true, color: '#FFFFFF' }, cellStyle: { background: { color: '#0E3F8C' } } },&#10;                            { text: '周期', textStyle: { bold: true, color: '#FFFFFF' }, cellStyle: { background: { color: '#0E3F8C' } } },&#10;                            { text: '内容', textStyle: { bold: true, color: '#FFFFFF' }, cellStyle: { background: { color: '#0E3F8C' } } },&#10;                            { text: '在这套方法里的用途', textStyle: { bold: true, color: '#FFFFFF' }, cellStyle: { background: { color: '#0E3F8C' } } },&#10;                        ],&#10;                        [&#10;                            { text: '0x251–0x256', textStyle: { bold: true, color: '#1E4FA8' } },&#10;                            '20 ms（50 Hz）',&#10;                            '转速 · 电流 · 位置',&#10;                            '构造 x 与 τ_m',&#10;                        ],&#10;                        [&#10;                            { text: '0x2A1–0x2A8', textStyle: { bold: true, color: '#1E4FA8' } },&#10;                            '约 5 ms（200 Hz）',&#10;                            '关节角与状态',&#10;                            '交叉校验',&#10;                        ],&#10;                        [&#10;                            { text: '0x261–0x266', textStyle: { bold: true, color: '#8B97A8' } },&#10;                            '低速档 40 Hz',&#10;                            '母线电流',&#10;                            '本机型恒为 0，不可用',&#10;                        ],&#10;                    ]}&#10;                /&gt;&#10;                &lt;Text style={{ fontSize: 14, color: '#8B97A8' }}&gt;字节序为 Motorola（MSB 在前）；电流字段协议标 unsigned，符号需实测确认。&lt;/Text&gt;&#10;            &lt;/Box&gt;&#10;            &lt;Box style={{ flex: 1, flexDirection: 'column', gap: 12 }}&gt;&#10;                &lt;Text style={{ fontSize: 19, fontWeight: 'bold', color: '#D9534F' }}&gt;三个会静默出错的坑&lt;/Text&gt;&#10;                &lt;Box style={{ flexDirection: 'column', gap: 3 }}&gt;&#10;                    &lt;Text style={{ fontSize: 16, fontWeight: 'bold', color: '#1A2230' }}&gt;调用频率 ≠ 数据频率&lt;/Text&gt;&#10;                    &lt;Text style={{ fontSize: 15, color: '#4A5568', lineHeight: 1.5 }}&gt;以 200 Hz 轮询只说明你问得勤，不说明数据是新的。&lt;/Text&gt;&#10;                &lt;/Box&gt;&#10;                &lt;Box style={{ flexDirection: 'column', gap: 3 }}&gt;&#10;                    &lt;Text style={{ fontSize: 16, fontWeight: 'bold', color: '#1A2230' }}&gt;电流符号未定&lt;/Text&gt;&#10;                    &lt;Text style={{ fontSize: 15, color: '#4A5568', lineHeight: 1.5 }}&gt;协议写 unsigned，注释与实现不一致，要用正反方向运动实测。&lt;/Text&gt;&#10;                &lt;/Box&gt;&#10;                &lt;Box style={{ flexDirection: 'column', gap: 3 }}&gt;&#10;                    &lt;Text style={{ fontSize: 16, fontWeight: 'bold', color: '#1A2230' }}&gt;母线电流不是关节电流&lt;/Text&gt;&#10;                    &lt;Text style={{ fontSize: 15, color: '#4A5568', lineHeight: 1.5 }}&gt;拿它当 τ_m 会得到一条全零曲线，最常见的&quot;读不出来&quot;误判。&lt;/Text&gt;&#10;                &lt;/Box&gt;&#10;                &lt;Box style={{ background: '#E8EFF8', borderRadius: 6, padding: '12px 16px', marginTop: 4 }}&gt;&#10;                    &lt;Text style={{ fontSize: 15, color: '#0E3F8C', lineHeight: 1.5 }}&gt;首帧是默认值（全 0），必须按&quot;该 ID 是否收到过报文&quot;丢弃，不能按序号丢一帧。&lt;/Text&gt;&#10;                &lt;/Box&gt;&#10;            &lt;/Box&gt;&#10;        &lt;/Box&gt;&#10;        &lt;Box style={{ flexDirection: 'row', justifyContent: 'space-between', borderTop: '1px solid #D6DCE5', paddingTop: 10, marginTop: 10 }}&gt;&#10;            &lt;Text style={{ fontSize: 14, color: '#8B97A8' }}&gt;来源：PiPER CAN 协议手册 v1.5、复现指南阶段 1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先看清楚这台机器能吐出什么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CAN 1 Mbps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，六个关节各自是独立节点；能拿到的只有位置、速度、电流，没有力矩。</a:t>
            </a:r>
            <a:endParaRPr/>
          </a:p>
        </p:txBody>
      </p:sp>
      <p:graphicFrame>
        <p:nvGraphicFramePr>
          <p:cNvPr id="212" name=""/>
          <p:cNvGraphicFramePr/>
          <p:nvPr/>
        </p:nvGraphicFramePr>
        <p:xfrm rot="0" flipH="0" flipV="0">
          <a:off x="609600" y="2066925"/>
          <a:ext cx="6667500" cy="2857500"/>
        </p:xfrm>
        <a:graphic>
          <a:graphicData uri="http://schemas.openxmlformats.org/drawingml/2006/table">
            <a:tbl>
              <a:tblGrid>
                <a:gridCol w="1401606">
                  <a:extLst>
                    <a:ext uri="{9D8B030D-6E8A-4147-A177-3AD203B41FA5}">
                      <a16:colId val="1"/>
                    </a:ext>
                  </a:extLst>
                </a:gridCol>
                <a:gridCol w="1771749">
                  <a:extLst>
                    <a:ext uri="{9D8B030D-6E8A-4147-A177-3AD203B41FA5}">
                      <a16:colId val="2"/>
                    </a:ext>
                  </a:extLst>
                </a:gridCol>
                <a:gridCol w="1537325">
                  <a:extLst>
                    <a:ext uri="{9D8B030D-6E8A-4147-A177-3AD203B41FA5}">
                      <a16:colId val="3"/>
                    </a:ext>
                  </a:extLst>
                </a:gridCol>
                <a:gridCol w="195682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143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报文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在这套方法里的用途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143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0x251–0x256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 ms（50 Hz）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转速 · 电流 · 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构造 x 与 τ_m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143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0x2A1–0x2A8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5 ms（200 Hz）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关节角与状态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交叉校验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143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0x261–0x266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低速档 40 Hz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母线电流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本机型恒为 0，不可用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5019675"/>
            <a:ext cx="666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字节序为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Motorola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MSB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在前）；电流字段协议标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unsigned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，符号需实测确认。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24750" y="206692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三个会静默出错的坑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524750" y="2400300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调用频率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数据频率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24750" y="2619375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200 Hz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轮询只说明你问得勤，不说明数据是新的。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524750" y="2990850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电流符号未定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524750" y="3209925"/>
            <a:ext cx="4057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协议写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unsigned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，注释与实现不一致，要用正反方向运动实测。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524750" y="383857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母线电流不是关节电流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524750" y="405765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拿它当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τ_m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会得到一条全零曲线，最常见的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读不出来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误判。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524750" y="4467225"/>
            <a:ext cx="4057650" cy="742950"/>
          </a:xfrm>
          <a:prstGeom prst="roundRect">
            <a:avLst>
              <a:gd name="adj" fmla="val 769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677150" y="4581525"/>
            <a:ext cx="3752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首帧是默认值（全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），必须按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该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是否收到过报文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丢弃，不能按序号丢一帧。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PiPER CAN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协议手册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v1.5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、复现指南阶段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16 / 19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7 / 19&lt;/Text&gt;&#10;    &lt;/Box&gt;&#10;    &lt;Box style={{ padding: '96px 64px 32px 64px', flexDirection: 'column', height: 720 }}&gt;&#10;        &lt;Text style={{ fontSize: 36, fontWeight: 'bold', color: '#0E3F8C', lineHeight: 1.25 }}&gt;把论文参数换成 50 Hz 的&lt;/Text&gt;&#10;        &lt;Text style={{ fontSize: 19, color: '#4A5568', marginTop: 10, lineHeight: 1.5 }}&gt;论文是 100 Hz、H = 50；PiPER 电流原生 50 Hz，H 取 25 才是同一个 0.5 秒的窗口。&lt;/Text&gt;&#10;        &lt;Box style={{ flexDirection: 'row', gap: 26, marginTop: 24, flex: 1 }}&gt;&#10;            &lt;Box style={{ flex: 1, flexDirection: 'column', gap: 10 }}&gt;&#10;                &lt;Text style={{ fontSize: 20, fontWeight: 'bold', color: '#0E3F8C' }}&gt;参数卡&lt;/Text&gt;&#10;                &lt;Box style={{ flexDirection: 'row', borderBottom: '1px solid #E5E7EB', paddingBottom: 8 }}&gt;&#10;                    &lt;Text style={{ width: 130, fontSize: 16, color: '#4A5568' }}&gt;采样率&lt;/Text&gt;&#10;                    &lt;Text style={{ flex: 1, fontSize: 16, color: '#1A2230' }}&gt;50 Hz（整条管线对齐电流原生频率）&lt;/Text&gt;&#10;                &lt;/Box&gt;&#10;                &lt;Box style={{ flexDirection: 'row', borderBottom: '1px solid #E5E7EB', paddingBottom: 8 }}&gt;&#10;                    &lt;Text style={{ width: 130, fontSize: 16, color: '#4A5568' }}&gt;历史窗口&lt;/Text&gt;&#10;                    &lt;Text style={{ flex: 1, fontSize: 16, color: '#1A2230' }}&gt;H = 25 帧（0.5 秒），不是照抄 50&lt;/Text&gt;&#10;                &lt;/Box&gt;&#10;                &lt;Box style={{ flexDirection: 'row', borderBottom: '1px solid #E5E7EB', paddingBottom: 8 }}&gt;&#10;                    &lt;Text style={{ width: 130, fontSize: 16, color: '#4A5568' }}&gt;网络&lt;/Text&gt;&#10;                    &lt;Text style={{ flex: 1, fontSize: 16, color: '#1A2230' }}&gt;LSTM 128 × 2 + MLP 256 × 2&lt;/Text&gt;&#10;                &lt;/Box&gt;&#10;                &lt;Box style={{ flexDirection: 'row', borderBottom: '1px solid #E5E7EB', paddingBottom: 8 }}&gt;&#10;                    &lt;Text style={{ width: 130, fontSize: 16, color: '#4A5568' }}&gt;数据量&lt;/Text&gt;&#10;                    &lt;Text style={{ flex: 1, fontSize: 16, color: '#1A2230' }}&gt;10 分钟 ≈ 3 万帧（100 Hz 时约 6 万）&lt;/Text&gt;&#10;                &lt;/Box&gt;&#10;                &lt;Box style={{ flexDirection: 'row', borderBottom: '1px solid #E5E7EB', paddingBottom: 8 }}&gt;&#10;                    &lt;Text style={{ width: 130, fontSize: 16, color: '#4A5568' }}&gt;损失&lt;/Text&gt;&#10;                    &lt;Text style={{ flex: 1, fontSize: 16, color: '#1A2230' }}&gt;平方 L2，六关节求和后对样本平均&lt;/Text&gt;&#10;                &lt;/Box&gt;&#10;                &lt;Box style={{ flexDirection: 'row' }}&gt;&#10;                    &lt;Text style={{ width: 130, fontSize: 16, color: '#4A5568' }}&gt;切分&lt;/Text&gt;&#10;                    &lt;Text style={{ flex: 1, fontSize: 16, color: '#1A2230' }}&gt;按轨迹切，不按帧随机切（相邻窗口重叠 24/25）&lt;/Text&gt;&#10;                &lt;/Box&gt;&#10;            &lt;/Box&gt;&#10;            &lt;Box style={{ width: 470, flexDirection: 'column', gap: 12 }}&gt;&#10;                &lt;Text style={{ fontSize: 20, fontWeight: 'bold', color: '#0E3F8C' }}&gt;P3 的 Go / No-Go&lt;/Text&gt;&#10;                &lt;Box style={{ background: '#E8EFF8', borderRadius: 6, padding: 14, flexDirection: 'column', gap: 6 }}&gt;&#10;                    &lt;Text style={{ fontSize: 24, fontWeight: 'bold', color: '#1E4FA8' }}&gt;L1 ≤ 0.05 N·m&lt;/Text&gt;&#10;                    &lt;Text style={{ fontSize: 15, color: '#4A5568' }}&gt;自由空间留出集；论文 PiPER 上是 0.018&lt;/Text&gt;&#10;                &lt;/Box&gt;&#10;                &lt;Text style={{ fontSize: 16, color: '#1A2230', lineHeight: 1.55 }}&gt;另外三条同时满足才算过：&lt;/Text&gt;&#10;                &lt;Text style={{ fontSize: 15, color: '#4A5568', lineHeight: 1.55 }}&gt;· 六个关节在任意静态姿态都贴近零，而不只是某一个姿态&lt;/Text&gt;&#10;                &lt;Text style={{ fontSize: 15, color: '#4A5568', lineHeight: 1.55 }}&gt;· 单次推理 &amp;lt; 10 ms（模型本身约 1.76 ms）&lt;/Text&gt;&#10;                &lt;Text style={{ fontSize: 15, color: '#4A5568', lineHeight: 1.55 }}&gt;· 静置时 τ_ext 稳定在 0 附近，没有缓慢漂移&lt;/Text&gt;&#10;            &lt;/Box&gt;&#10;        &lt;/Box&gt;&#10;        &lt;Box style={{ flexDirection: 'row', background: '#E8EFF8', borderRadius: 6, padding: '14px 22px', marginTop: 16 }}&gt;&#10;            &lt;Text style={{ fontSize: 17, color: '#0E3F8C', lineHeight: 1.5 }}&gt;没有接触段真值，就只能验&quot;贴零&quot;。想在 PiPER 上报接触精度，必须自建标定台（已知质量块 / 弹簧拉力计）。&lt;/Text&gt;&#10;        &lt;/Box&gt;&#10;        &lt;Box style={{ flexDirection: 'row', justifyContent: 'space-between', borderTop: '1px solid #D6DCE5', paddingTop: 10, marginTop: 12 }}&gt;&#10;            &lt;Text style={{ fontSize: 14, color: '#8B97A8' }}&gt;来源：论文表 3、表 5；复现指南阶段 3–4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把论文参数换成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50 Hz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的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论文是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Hz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H = 50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PiPER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电流原生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50 Hz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H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才是同一个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秒的窗口。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624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参数卡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2409825"/>
            <a:ext cx="6248400" cy="285750"/>
          </a:xfrm>
          <a:custGeom>
            <a:pathLst>
              <a:path w="656" h="30">
                <a:moveTo>
                  <a:pt x="0" y="29"/>
                </a:moveTo>
                <a:lnTo>
                  <a:pt x="656" y="29"/>
                </a:lnTo>
                <a:lnTo>
                  <a:pt x="656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采样率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847850" y="24098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50 Hz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（整条管线对齐电流原生频率）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2781300"/>
            <a:ext cx="6248400" cy="285750"/>
          </a:xfrm>
          <a:custGeom>
            <a:pathLst>
              <a:path w="656" h="30">
                <a:moveTo>
                  <a:pt x="0" y="29"/>
                </a:moveTo>
                <a:lnTo>
                  <a:pt x="656" y="29"/>
                </a:lnTo>
                <a:lnTo>
                  <a:pt x="656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历史窗口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847850" y="278130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H = 25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帧（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0.5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秒），不是照抄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3152775"/>
            <a:ext cx="6248400" cy="285750"/>
          </a:xfrm>
          <a:custGeom>
            <a:pathLst>
              <a:path w="656" h="30">
                <a:moveTo>
                  <a:pt x="0" y="29"/>
                </a:moveTo>
                <a:lnTo>
                  <a:pt x="656" y="29"/>
                </a:lnTo>
                <a:lnTo>
                  <a:pt x="656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31527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网络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847850" y="31527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LSTM 128 × 2 + MLP 256 × 2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3524250"/>
            <a:ext cx="6248400" cy="285750"/>
          </a:xfrm>
          <a:custGeom>
            <a:pathLst>
              <a:path w="656" h="30">
                <a:moveTo>
                  <a:pt x="0" y="29"/>
                </a:moveTo>
                <a:lnTo>
                  <a:pt x="656" y="29"/>
                </a:lnTo>
                <a:lnTo>
                  <a:pt x="656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数据量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847850" y="352425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分钟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≈ 3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万帧（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100 Hz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时约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万）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3895725"/>
            <a:ext cx="6248400" cy="285750"/>
          </a:xfrm>
          <a:custGeom>
            <a:pathLst>
              <a:path w="656" h="30">
                <a:moveTo>
                  <a:pt x="0" y="29"/>
                </a:moveTo>
                <a:lnTo>
                  <a:pt x="656" y="29"/>
                </a:lnTo>
                <a:lnTo>
                  <a:pt x="656" y="30"/>
                </a:lnTo>
                <a:lnTo>
                  <a:pt x="0" y="3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38957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损失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847850" y="38957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平方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L2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，六关节求和后对样本平均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42672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切分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847850" y="426720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按轨迹切，不按帧随机切（相邻窗口重叠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24/25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105650" y="208597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P3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的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Go / No-Go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105650" y="2428875"/>
            <a:ext cx="4476750" cy="771525"/>
          </a:xfrm>
          <a:prstGeom prst="roundRect">
            <a:avLst>
              <a:gd name="adj" fmla="val 740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239000" y="2562225"/>
            <a:ext cx="4210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L1 ≤ 0.05 N·m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239000" y="2895600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自由空间留出集；论文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上是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0.018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105650" y="3314700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另外三条同时满足才算过：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105650" y="3714750"/>
            <a:ext cx="4476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六个关节在任意静态姿态都贴近零，而不只是某一个姿态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105650" y="4095750"/>
            <a:ext cx="4476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单次推理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&lt; 10 ms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（模型本身约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1.76 ms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105650" y="4476750"/>
            <a:ext cx="4476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静置时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τ_ext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稳定在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附近，没有缓慢漂移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5610225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19150" y="5743575"/>
            <a:ext cx="79629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没有接触段真值，就只能验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贴零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。想在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上报接触精度，必须自建标定台（已知质量块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弹簧拉力计）。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62865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250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来源：论文表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；复现指南阶段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3–4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439400" y="63912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17 / 19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67" name="" descr="&lt;Slide style={{ width: 1280, height: 720, background: '#FFFFFF', padding: '0px' }}&gt;&#10;    &lt;Box style={{ position: 'absolute', left: 0, top: 0, width: 1280, height: 72, background: '#1E4FA8', padding: '0 64px', flexDirection: 'row', alignItems: 'center', justifyContent: 'space-between' }}&gt;&#10;        &lt;Text style={{ fontSize: 15, color: '#C9D8F0', letterSpacing: 1 }}&gt;FACTR 2 · 论文解析与 PiPER 复现&lt;/Text&gt;&#10;        &lt;Text style={{ fontSize: 15, color: '#FFFFFF' }}&gt;18 / 19&lt;/Text&gt;&#10;    &lt;/Box&gt;&#10;    &lt;Box style={{ padding: '96px 64px 32px 64px', flexDirection: 'column', height: 720 }}&gt;&#10;        &lt;Text style={{ fontSize: 36, fontWeight: 'bold', color: '#0E3F8C', lineHeight: 1.25 }}&gt;五个最容易踩的坑&lt;/Text&gt;&#10;        &lt;Text style={{ fontSize: 19, color: '#4A5568', marginTop: 10, lineHeight: 1.5 }}&gt;这些错误不会让程序崩溃，只会让最后的数字难看——然后你会从最后一个环节开始修。&lt;/Text&gt;&#10;        &lt;Box style={{ marginTop: 20 }}&gt;&#10;            &lt;Table&#10;                style={{ width: 1152, height: 380 }}&#10;                defaultTextStyle={{ fontSize: 16, textAlign: 'left', color: '#1A2230' }}&#10;                defaultCellStyle={{ border: { left: { width: 1, color: '#E5E7EB' }, right: { width: 1, color: '#E5E7EB' }, top: { width: 1, color: '#E5E7EB' }, bottom: { width: 1, color: '#E5E7EB' } } }}&#10;                cells={[&#10;                    [&#10;                        { text: '坑', textStyle: { bold: true, color: '#FFFFFF' }, cellStyle: { background: { color: '#0E3F8C' } } },&#10;                        { text: '现象', textStyle: { bold: true, color: '#FFFFFF' }, cellStyle: { background: { color: '#0E3F8C' } } },&#10;                        { text: '对策', textStyle: { bold: true, color: '#FFFFFF' }, cellStyle: { background: { color: '#0E3F8C' } } },&#10;                    ],&#10;                    [&#10;                        { text: '01　力矩常数 K 未标定', textStyle: { bold: true } },&#10;                        '外力矩整体缩放，接触阈值全部失效',&#10;                        '已知质量块做整体尺度标定；不要用 MIT 的 T_ref 当基准',&#10;                    ],&#10;                    [&#10;                        { text: '02　自由空间混入接触', textStyle: { bold: true } },&#10;                        '训练标签被污染，残差出现系统性偏置',&#10;                        '采集前清空桌面；抽检自由段残差曲线是否贴零',&#10;                    ],&#10;                    [&#10;                        { text: '03　阈值照抄论文', textStyle: { bold: true } },&#10;                        '误报与漏报同时出现，相位切分错乱',&#10;                        '按本机噪声 P99 重标 T_low，T_high 取 2 倍',&#10;                    ],&#10;                    [&#10;                        { text: '04　把关节力矩当末端力', textStyle: { bold: true } },&#10;                        '阻抗控制的方向与量纲都会错',&#10;                        '用雅可比映射到末端，或只做关节力矩级控制',&#10;                    ],&#10;                    [&#10;                        { text: '05　任务进度靠人工划段', textStyle: { bold: true } },&#10;                        '跨任务、跨标注人不可比',&#10;                        '固定阶段定义与评分表，先对齐口径再比较',&#10;                    ],&#10;                ]}&#10;            /&gt;&#10;        &lt;/Box&gt;&#10;        &lt;Box style={{ flexDirection: 'row', background: '#E8EFF8', borderRadius: 6, padding: '14px 22px', marginTop: 18 }}&gt;&#10;            &lt;Text style={{ fontSize: 17, color: '#0E3F8C', lineHeight: 1.5 }}&gt;前三个坑决定信号能不能用，后两个决定结论能不能信。&lt;/Text&gt;&#10;        &lt;/Box&gt;&#10;        &lt;Box style={{ flexDirection: 'row', justifyContent: 'space-between', borderTop: '1px solid #D6DCE5', paddingTop: 10, marginTop: 12 }}&gt;&#10;            &lt;Text style={{ fontSize: 14, color: '#8B97A8' }}&gt;来源：复现指南阶段 2–6、故障速查表&lt;/Text&gt;&#10;            &lt;Text style={{ fontSize: 14, color: '#8B97A8' }}&gt;FACTR 2 · 2026.10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五个最容易踩的坑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这些错误不会让程序崩溃，只会让最后的数字难看——然后你会从最后一个环节开始修。</a:t>
            </a:r>
            <a:endParaRPr/>
          </a:p>
        </p:txBody>
      </p:sp>
      <p:graphicFrame>
        <p:nvGraphicFramePr>
          <p:cNvPr id="271" name=""/>
          <p:cNvGraphicFramePr/>
          <p:nvPr/>
        </p:nvGraphicFramePr>
        <p:xfrm rot="0" flipH="0" flipV="0">
          <a:off x="609600" y="2047875"/>
          <a:ext cx="10972800" cy="3619500"/>
        </p:xfrm>
        <a:graphic>
          <a:graphicData uri="http://schemas.openxmlformats.org/drawingml/2006/table">
            <a:tbl>
              <a:tblGrid>
                <a:gridCol w="2346011">
                  <a:extLst>
                    <a:ext uri="{9D8B030D-6E8A-4147-A177-3AD203B41FA5}">
                      <a16:colId val="1"/>
                    </a:ext>
                  </a:extLst>
                </a:gridCol>
                <a:gridCol w="3484371">
                  <a:extLst>
                    <a:ext uri="{9D8B030D-6E8A-4147-A177-3AD203B41FA5}">
                      <a16:colId val="2"/>
                    </a:ext>
                  </a:extLst>
                </a:gridCol>
                <a:gridCol w="514241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01　力矩常数 K 未标定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外力矩整体缩放，接触阈值全部失效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已知质量块做整体尺度标定；不要用 MIT 的 T_ref 当基准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02　自由空间混入接触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训练标签被污染，残差出现系统性偏置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采集前清空桌面；抽检自由段残差曲线是否贴零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03　阈值照抄论文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误报与漏报同时出现，相位切分错乱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按本机噪声 P99 重标 T_low，T_high 取 2 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04　把关节力矩当末端力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阻抗控制的方向与量纲都会错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用雅可比映射到末端，或只做关节力矩级控制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03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05　任务进度靠人工划段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跨任务、跨标注人不可比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固定阶段定义与评分表，先对齐口径再比较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72" name=""/>
          <p:cNvSpPr/>
          <p:nvPr/>
        </p:nvSpPr>
        <p:spPr>
          <a:xfrm rot="0" flipH="0" flipV="0">
            <a:off x="609600" y="5838825"/>
            <a:ext cx="10972800" cy="561975"/>
          </a:xfrm>
          <a:prstGeom prst="roundRect">
            <a:avLst>
              <a:gd name="adj" fmla="val 1016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19150" y="5972175"/>
            <a:ext cx="4048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前三个坑决定信号能不能用，后两个决定结论能不能信。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6515100"/>
            <a:ext cx="10972800" cy="276225"/>
          </a:xfrm>
          <a:custGeom>
            <a:pathLst>
              <a:path w="1152" h="2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6619875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来源：复现指南阶段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2–6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、故障速查表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439400" y="66198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FACTR 2 · 2026.10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FACTR 2 ·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论文解析与</a:t>
            </a:r>
            <a:r>
              <a:rPr lang="en-US" sz="1125" spc="75">
                <a:solidFill>
                  <a:srgbClr val="C9D8F0"/>
                </a:solidFill>
                <a:latin typeface="Microsoft YaHei"/>
                <a:ea typeface="Microsoft YaHei"/>
              </a:rPr>
              <a:t xml:space="preserve"> PiPER </a:t>
            </a:r>
            <a:r>
              <a:rPr lang="zh-CN" sz="1125" spc="75">
                <a:solidFill>
                  <a:srgbClr val="C9D8F0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096625" y="2571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18 / 19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80" name="" descr="&lt;Slide style={{ width: 1280, height: 720, background: '#0E3F8C', padding: '0px' }}&gt;&#10;    &lt;Box style={{ position: 'absolute', left: 0, top: 0, width: 10, height: 720, background: '#3D7BD9' }} /&gt;&#10;    &lt;Box style={{ padding: '104px 80px', flexDirection: 'column', height: 720, justifyContent: 'space-between' }}&gt;&#10;        &lt;Box style={{ flexDirection: 'column', gap: 22 }}&gt;&#10;            &lt;Text style={{ fontSize: 18, color: '#9DB8E8', letterSpacing: 4 }}&gt;F A C T R　2&lt;/Text&gt;&#10;            &lt;Text style={{ fontSize: 52, fontWeight: 'bold', color: '#FFFFFF', lineHeight: 1.3 }}&gt;力的感知，从「买传感器」&lt;br /&gt;变成「跑一次训练」&lt;/Text&gt;&#10;            &lt;Text style={{ fontSize: 22, color: '#C9D8F0', lineHeight: 1.6 }}&gt;PiPER + 10 分钟自由运动数据 + 1 分钟训练 + 一块 3090。&lt;/Text&gt;&#10;        &lt;/Box&gt;&#10;        &lt;Box style={{ flexDirection: 'row', gap: 40, borderTop: '1px solid #1E4FA8', paddingTop: 24 }}&gt;&#10;            &lt;Box style={{ flexDirection: 'column', gap: 4 }}&gt;&#10;                &lt;Text style={{ fontSize: 14, color: '#9DB8E8' }}&gt;论文&lt;/Text&gt;&#10;                &lt;Text style={{ fontSize: 17, color: '#FFFFFF' }}&gt;arXiv:2606.12406v2&lt;/Text&gt;&#10;            &lt;/Box&gt;&#10;            &lt;Box style={{ flexDirection: 'column', gap: 4 }}&gt;&#10;                &lt;Text style={{ fontSize: 14, color: '#9DB8E8' }}&gt;项目页&lt;/Text&gt;&#10;                &lt;Text style={{ fontSize: 17, color: '#FFFFFF' }}&gt;jasonjzliu.com/factr2&lt;/Text&gt;&#10;            &lt;/Box&gt;&#10;            &lt;Box style={{ flexDirection: 'column', gap: 4 }}&gt;&#10;                &lt;Text style={{ fontSize: 14, color: '#9DB8E8' }}&gt;配套文档&lt;/Text&gt;&#10;                &lt;Text style={{ fontSize: 17, color: '#FFFFFF' }}&gt;论文解析报告 · 复现说明报告 · 复现指南&lt;/Text&gt;&#10;            &lt;/Box&gt;&#10;            &lt;Box style={{ flexDirection: 'column', gap: 4 }}&gt;&#10;                &lt;Text style={{ fontSize: 14, color: '#9DB8E8' }}&gt;页码&lt;/Text&gt;&#10;                &lt;Text style={{ fontSize: 17, color: '#FFFFFF' }}&gt;19 / 19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99060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9DB8E8"/>
                </a:solidFill>
                <a:latin typeface="Microsoft YaHei"/>
                <a:ea typeface="Microsoft YaHei"/>
              </a:rPr>
              <a:t>F A C T R</a:t>
            </a:r>
            <a:r>
              <a:rPr lang="zh-CN" sz="1350" spc="300">
                <a:solidFill>
                  <a:srgbClr val="9DB8E8"/>
                </a:solidFill>
                <a:latin typeface="Microsoft YaHei"/>
                <a:ea typeface="Microsoft YaHei"/>
              </a:rPr>
              <a:t>　</a:t>
            </a:r>
            <a:r>
              <a:rPr lang="en-US" sz="1350" spc="300">
                <a:solidFill>
                  <a:srgbClr val="9DB8E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10668000" cy="1552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力的感知，从「买传感器」</a:t>
            </a:r>
            <a:endParaRPr/>
          </a:p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变成「跑一次训练」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62000" y="3171825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C9D8F0"/>
                </a:solidFill>
                <a:latin typeface="Microsoft YaHei"/>
                <a:ea typeface="Microsoft YaHei"/>
              </a:rPr>
              <a:t xml:space="preserve">PiPER + 10 </a:t>
            </a: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分钟自由运动数据</a:t>
            </a:r>
            <a:r>
              <a:rPr lang="en-US" sz="1650">
                <a:solidFill>
                  <a:srgbClr val="C9D8F0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分钟训练</a:t>
            </a:r>
            <a:r>
              <a:rPr lang="en-US" sz="1650">
                <a:solidFill>
                  <a:srgbClr val="C9D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一块</a:t>
            </a:r>
            <a:r>
              <a:rPr lang="en-US" sz="1650">
                <a:solidFill>
                  <a:srgbClr val="C9D8F0"/>
                </a:solidFill>
                <a:latin typeface="Microsoft YaHei"/>
                <a:ea typeface="Microsoft YaHei"/>
              </a:rPr>
              <a:t xml:space="preserve"> 3090</a:t>
            </a:r>
            <a:r>
              <a:rPr lang="zh-CN" sz="1650">
                <a:solidFill>
                  <a:srgbClr val="C9D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762000" y="5229225"/>
            <a:ext cx="10668000" cy="647700"/>
          </a:xfrm>
          <a:custGeom>
            <a:pathLst>
              <a:path w="1120" h="68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62000" y="546735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DB8E8"/>
                </a:solidFill>
                <a:latin typeface="Microsoft YaHei"/>
                <a:ea typeface="Microsoft YaHei"/>
              </a:rPr>
              <a:t>论文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62000" y="5667375"/>
            <a:ext cx="1504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arXiv:2606.12406v2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2647950" y="54673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DB8E8"/>
                </a:solidFill>
                <a:latin typeface="Microsoft YaHei"/>
                <a:ea typeface="Microsoft YaHei"/>
              </a:rPr>
              <a:t>项目页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647950" y="5667375"/>
            <a:ext cx="1609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jasonjzliu.com/factr2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638675" y="5467350"/>
            <a:ext cx="2867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DB8E8"/>
                </a:solidFill>
                <a:latin typeface="Microsoft YaHei"/>
                <a:ea typeface="Microsoft YaHei"/>
              </a:rPr>
              <a:t>配套文档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638675" y="5667375"/>
            <a:ext cx="2867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论文解析报告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复现说明报告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复现指南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886700" y="54673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DB8E8"/>
                </a:solidFill>
                <a:latin typeface="Microsoft YaHei"/>
                <a:ea typeface="Microsoft YaHei"/>
              </a:rPr>
              <a:t>页码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886700" y="566737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19 / 19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0" y="0"/>
            <a:ext cx="95250" cy="685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2026-10-20T10:31:01Z</dcterms:created>
  <dcterms:modified xsi:type="dcterms:W3CDTF">2026-10-20T10:31:01Z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{"AIGC":{"Label":"1","ContentProducer":"00119111010856365494821B355","ProduceID":"01a1571d188c7817a33d8dded3964bf2","ReservedCode1":"","ContentPropagator":"00119111010856365494821B355","PropagateID":"01a1571d188c7817a33d8dded3964bf2","ReservedCode2":""}}</vt:lpwstr>
  </property>
</Properties>
</file>